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71055" y="-4206240"/>
            <a:ext cx="10515600" cy="10515600"/>
          </a:xfrm>
          <a:prstGeom prst="ellipse">
            <a:avLst/>
          </a:prstGeom>
          <a:solidFill>
            <a:srgbClr val="C9F2D8">
              <a:alpha val="5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03C75A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03C75A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0896" y="0"/>
            <a:ext cx="32004" cy="6858000"/>
          </a:xfrm>
          <a:prstGeom prst="rect">
            <a:avLst/>
          </a:prstGeom>
          <a:solidFill>
            <a:srgbClr val="03C75A">
              <a:alpha val="5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20624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9200" dirty="0"/>
          </a:p>
        </p:txBody>
      </p:sp>
      <p:sp>
        <p:nvSpPr>
          <p:cNvPr id="7" name="Text 5"/>
          <p:cNvSpPr/>
          <p:nvPr/>
        </p:nvSpPr>
        <p:spPr>
          <a:xfrm>
            <a:off x="603504" y="19385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문제를 풀어 서비스를 만드는 기획자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03504" y="25786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EV 충전 시장 VOC 28,890건을 멀티채널로 수집·분석하고,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인사이트를 라오스 KOKKOK EV 서비스 기획으로 연결한 엔드투엔드 프로젝트.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48828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핀테크 서비스 기획 4회차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" y="5138928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156655" y="5724144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코코넛사일로  Coconut Silo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19295" y="6071616"/>
            <a:ext cx="720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마수한 (Data Engineer &amp; PM)  ·  김재희 (Data Analyst &amp; PM)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5669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 · 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1248" y="7863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목차 — 거시 시장에서 솔루션까지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6656" y="1901952"/>
            <a:ext cx="457200" cy="457200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16736" y="18379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16736" y="21671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 · PEST · TAM-SAM-SOM · 경쟁 구도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441448"/>
            <a:ext cx="1105783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78608"/>
            <a:ext cx="457200" cy="45720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16736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16736" y="28437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· 데이터로 검증한 핵심 가설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118104"/>
            <a:ext cx="1105783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255264"/>
            <a:ext cx="457200" cy="45720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16736" y="3191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수집·분석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Analysis · VOC 38,600+건 · 감성 · 포지셔닝 · 페르소나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794760"/>
            <a:ext cx="1105783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931920"/>
            <a:ext cx="457200" cy="45720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16736" y="3867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기획·설계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16736" y="4197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Planning · PRD · 여정맵 · OCPP · 요금정책 · 사업성 · 전략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471416"/>
            <a:ext cx="1105783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608576"/>
            <a:ext cx="457200" cy="45720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316736" y="4544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 &amp; 회고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316736" y="48737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Retrospective · KPI · 로드맵·Ask · 리스크 · 회고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5148072"/>
            <a:ext cx="1105783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" y="5285232"/>
            <a:ext cx="457200" cy="457200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16736" y="5221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산출물 · 용어 사전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316736" y="55504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산출물(OCPP·ERD·시퀀스·시나리오·스토리보드·프로토타입) · 용어 사전 — 발표 생략·열람용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코코넛사일로 · KOKKOK EV 서비스 기획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44607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344607" y="25054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344607" y="31821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344607" y="3858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p.21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344607" y="45354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p.34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344607" y="5212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p.38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 — 코코넛사일로 KOKKOK EV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155448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1554480"/>
            <a:ext cx="128016" cy="448056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푼 문제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" y="224028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Move는 라오스에서 운영 중인 모빌리티 앱입니다.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전기차 전환이 빨라지는 라오스에서 기존 모빌리티 앱에 ‘쇼핑’과 ‘EV 충전’ 기능을 더해 슈퍼앱으로 발전시키려 했지만, 어떤 EV 충전 앱을 만들어야 하는지에 대한 근거가 없었습니다.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2688" y="3584448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시장의 목소리(VOC)를 직접 수집·분석해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‘무엇이 불편한가’를 데이터로 증명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하고, 이를 PRD·플로우·요금정책이라는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산출물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연결했습니다.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32688" y="4800600"/>
            <a:ext cx="50292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마수한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Data Engineer &amp; PM — 인프라·파이프라인·전처리·PRD·화면설계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김재희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Data Analyst &amp; PM — 데이터 정제·SQL 분석·Tableau·유저 시나리오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56248" y="1554480"/>
            <a:ext cx="2451964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1828800"/>
            <a:ext cx="201168" cy="201168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4" name="Text 22"/>
          <p:cNvSpPr/>
          <p:nvPr/>
        </p:nvSpPr>
        <p:spPr>
          <a:xfrm>
            <a:off x="7123176" y="1755648"/>
            <a:ext cx="1811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시장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30568" y="2267712"/>
            <a:ext cx="19490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 · 베트남</a:t>
            </a:r>
            <a:endParaRPr lang="en-US" sz="1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태국 비교군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172804" y="1554480"/>
            <a:ext cx="2451964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28836" y="1828800"/>
            <a:ext cx="201168" cy="201168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8" name="Text 26"/>
          <p:cNvSpPr/>
          <p:nvPr/>
        </p:nvSpPr>
        <p:spPr>
          <a:xfrm>
            <a:off x="9739732" y="1755648"/>
            <a:ext cx="1811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분석 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47124" y="2267712"/>
            <a:ext cx="19490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SM · LOCA EV</a:t>
            </a:r>
            <a:endParaRPr lang="en-US" sz="1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PTT · PEA · EleXA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6556248" y="3877056"/>
            <a:ext cx="2451964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4151376"/>
            <a:ext cx="201168" cy="201168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32" name="Text 30"/>
          <p:cNvSpPr/>
          <p:nvPr/>
        </p:nvSpPr>
        <p:spPr>
          <a:xfrm>
            <a:off x="7123176" y="4078224"/>
            <a:ext cx="1811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30568" y="4590288"/>
            <a:ext cx="19490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Cloud (SG)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9172804" y="3877056"/>
            <a:ext cx="2451964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28836" y="4151376"/>
            <a:ext cx="201168" cy="201168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36" name="Text 34"/>
          <p:cNvSpPr/>
          <p:nvPr/>
        </p:nvSpPr>
        <p:spPr>
          <a:xfrm>
            <a:off x="9739732" y="4078224"/>
            <a:ext cx="1811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레이어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447124" y="4590288"/>
            <a:ext cx="19490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앱(SW) + 충전기(HW)</a:t>
            </a:r>
            <a:endParaRPr lang="en-US" sz="1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 레이어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A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04895" y="-6400800"/>
            <a:ext cx="16459200" cy="16459200"/>
          </a:xfrm>
          <a:prstGeom prst="ellipse">
            <a:avLst/>
          </a:prstGeom>
          <a:solidFill>
            <a:srgbClr val="03C75A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48095" y="-4114800"/>
            <a:ext cx="10972800" cy="10972800"/>
          </a:xfrm>
          <a:prstGeom prst="ellipse">
            <a:avLst/>
          </a:prstGeom>
          <a:solidFill>
            <a:srgbClr val="2DD46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82735" y="-1280160"/>
            <a:ext cx="5943600" cy="5943600"/>
          </a:xfrm>
          <a:prstGeom prst="ellipse">
            <a:avLst/>
          </a:prstGeom>
          <a:solidFill>
            <a:srgbClr val="C9F2D8">
              <a:alpha val="4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4206240"/>
            <a:ext cx="114144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612648" y="250545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DFFB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01   ·   MARKET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907792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612648" y="4224528"/>
            <a:ext cx="9144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4407408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거시 환경 · 시장 규모 · 경쟁 구도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7766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" name="Text 3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· MACRO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거시 환경 분석 (PEST) — 라오스 EV, 지금이 진입 적기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91640"/>
            <a:ext cx="2579294" cy="4069080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691640"/>
            <a:ext cx="2579294" cy="786384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" y="186537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98448" y="1819656"/>
            <a:ext cx="17563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98448" y="2130552"/>
            <a:ext cx="1756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정치·정책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" y="2734056"/>
            <a:ext cx="100584" cy="10058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2642616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내연기관차 수입 잠정 중단 (2026.6~12월)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" y="3447288"/>
            <a:ext cx="100584" cy="10058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3355848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소비세 면제·0% 수입관세·등록세 30%↓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" y="4160520"/>
            <a:ext cx="100584" cy="10058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" y="4069080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목표 2030년 EV 30%·충전소 500개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6384" y="4873752"/>
            <a:ext cx="100584" cy="10058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" y="4782312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MOIC·MEM 주도(.gov.la 공표) → 강한 친EV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93110" y="1691640"/>
            <a:ext cx="2579294" cy="4069080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93110" y="1691640"/>
            <a:ext cx="2579294" cy="786384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32" name="Shape 30"/>
          <p:cNvSpPr/>
          <p:nvPr/>
        </p:nvSpPr>
        <p:spPr>
          <a:xfrm>
            <a:off x="3594278" y="186537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594278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124630" y="1819656"/>
            <a:ext cx="17563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124630" y="2130552"/>
            <a:ext cx="1756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경제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12566" y="2734056"/>
            <a:ext cx="100584" cy="100584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37" name="Text 35"/>
          <p:cNvSpPr/>
          <p:nvPr/>
        </p:nvSpPr>
        <p:spPr>
          <a:xfrm>
            <a:off x="3813734" y="2642616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휘발유 23,834₭/L vs 충전 4,000₭/kWh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12566" y="3447288"/>
            <a:ext cx="100584" cy="100584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39" name="Text 37"/>
          <p:cNvSpPr/>
          <p:nvPr/>
        </p:nvSpPr>
        <p:spPr>
          <a:xfrm>
            <a:off x="3813734" y="3355848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전기 ~647₭/kWh·전력 잉여 → 충전 마진 우위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12566" y="4160520"/>
            <a:ext cx="100584" cy="100584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41" name="Text 39"/>
          <p:cNvSpPr/>
          <p:nvPr/>
        </p:nvSpPr>
        <p:spPr>
          <a:xfrm>
            <a:off x="3813734" y="4069080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가구 월소비 중위 122.6만₭ → 가격 민감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12566" y="4873752"/>
            <a:ext cx="100584" cy="100584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43" name="Text 41"/>
          <p:cNvSpPr/>
          <p:nvPr/>
        </p:nvSpPr>
        <p:spPr>
          <a:xfrm>
            <a:off x="3813734" y="4782312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연료위기(디젤 급등) = 전환 가속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9292" y="1691640"/>
            <a:ext cx="2579294" cy="4069080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9292" y="1691640"/>
            <a:ext cx="2579294" cy="786384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46" name="Shape 44"/>
          <p:cNvSpPr/>
          <p:nvPr/>
        </p:nvSpPr>
        <p:spPr>
          <a:xfrm>
            <a:off x="6420460" y="186537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420460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950812" y="1819656"/>
            <a:ext cx="17563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6950812" y="2130552"/>
            <a:ext cx="1756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38748" y="2734056"/>
            <a:ext cx="100584" cy="10058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1" name="Text 49"/>
          <p:cNvSpPr/>
          <p:nvPr/>
        </p:nvSpPr>
        <p:spPr>
          <a:xfrm>
            <a:off x="6639916" y="2642616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 ~85% · 인터넷 66%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38748" y="3447288"/>
            <a:ext cx="100584" cy="10058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3" name="Text 51"/>
          <p:cNvSpPr/>
          <p:nvPr/>
        </p:nvSpPr>
        <p:spPr>
          <a:xfrm>
            <a:off x="6639916" y="3355848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빈곤율 15%↓ · 15~39세 43.2% 젊은 층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38748" y="4160520"/>
            <a:ext cx="100584" cy="10058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5" name="Text 53"/>
          <p:cNvSpPr/>
          <p:nvPr/>
        </p:nvSpPr>
        <p:spPr>
          <a:xfrm>
            <a:off x="6639916" y="4069080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여행자 Negative 65.8%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38748" y="4873752"/>
            <a:ext cx="100584" cy="10058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7" name="Text 55"/>
          <p:cNvSpPr/>
          <p:nvPr/>
        </p:nvSpPr>
        <p:spPr>
          <a:xfrm>
            <a:off x="6639916" y="4782312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언어·결제 장벽 = 개선 기회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045473" y="1691640"/>
            <a:ext cx="2579294" cy="4069080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45473" y="1691640"/>
            <a:ext cx="2579294" cy="786384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60" name="Shape 58"/>
          <p:cNvSpPr/>
          <p:nvPr/>
        </p:nvSpPr>
        <p:spPr>
          <a:xfrm>
            <a:off x="9246641" y="186537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9246641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9776993" y="1819656"/>
            <a:ext cx="17563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450" dirty="0"/>
          </a:p>
        </p:txBody>
      </p:sp>
      <p:sp>
        <p:nvSpPr>
          <p:cNvPr id="63" name="Text 61"/>
          <p:cNvSpPr/>
          <p:nvPr/>
        </p:nvSpPr>
        <p:spPr>
          <a:xfrm>
            <a:off x="9776993" y="2130552"/>
            <a:ext cx="1756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264929" y="2734056"/>
            <a:ext cx="100584" cy="100584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65" name="Text 63"/>
          <p:cNvSpPr/>
          <p:nvPr/>
        </p:nvSpPr>
        <p:spPr>
          <a:xfrm>
            <a:off x="9466097" y="2642616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전기 보급률 96.5% · 전력 잉여(수출&gt;&gt;수입)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264929" y="3447288"/>
            <a:ext cx="100584" cy="100584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67" name="Text 65"/>
          <p:cNvSpPr/>
          <p:nvPr/>
        </p:nvSpPr>
        <p:spPr>
          <a:xfrm>
            <a:off x="9466097" y="3355848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충전소 41개뿐 → 인프라 공백=기회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264929" y="4160520"/>
            <a:ext cx="100584" cy="100584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69" name="Text 67"/>
          <p:cNvSpPr/>
          <p:nvPr/>
        </p:nvSpPr>
        <p:spPr>
          <a:xfrm>
            <a:off x="9466097" y="4069080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1.6J 표준 · 슈퍼앱 통합 성숙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264929" y="4873752"/>
            <a:ext cx="100584" cy="100584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71" name="Text 69"/>
          <p:cNvSpPr/>
          <p:nvPr/>
        </p:nvSpPr>
        <p:spPr>
          <a:xfrm>
            <a:off x="9466097" y="4782312"/>
            <a:ext cx="1975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충전소 40 → 100개소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7766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" name="Text 3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· MACRO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규모 (TAM–SAM–SOM) — 검증된 공식 자료만으로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1645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ASEAN-6 → 라오스로 좁혀 본 실현 가능 시장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2148840"/>
            <a:ext cx="5760720" cy="1078992"/>
          </a:xfrm>
          <a:prstGeom prst="roundRect">
            <a:avLst>
              <a:gd name="adj" fmla="val 5085"/>
            </a:avLst>
          </a:prstGeom>
          <a:solidFill>
            <a:srgbClr val="02A14B"/>
          </a:solidFill>
          <a:ln/>
          <a:effectLst>
            <a:outerShdw sx="100000" sy="100000" kx="0" ky="0" algn="bl" rotWithShape="0" blurRad="114300" dist="38100" dir="8100000">
              <a:srgbClr val="0E2A2E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227685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</a:t>
            </a:r>
            <a:pPr algn="ctr" indent="0" marL="0">
              <a:buNone/>
            </a:pPr>
            <a:r>
              <a:rPr lang="en-US" sz="12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ASEAN-6 EV 생태계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26974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$100B~$120B (2035, EY-Parthenon)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15822" y="3429000"/>
            <a:ext cx="4262933" cy="1078992"/>
          </a:xfrm>
          <a:prstGeom prst="roundRect">
            <a:avLst>
              <a:gd name="adj" fmla="val 5085"/>
            </a:avLst>
          </a:prstGeom>
          <a:solidFill>
            <a:srgbClr val="03C75A"/>
          </a:solidFill>
          <a:ln/>
          <a:effectLst>
            <a:outerShdw sx="100000" sy="100000" kx="0" ky="0" algn="bl" rotWithShape="0" blurRad="114300" dist="38100" dir="8100000">
              <a:srgbClr val="0E2A2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98702" y="3557016"/>
            <a:ext cx="38971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</a:t>
            </a:r>
            <a:pPr algn="ctr" indent="0" marL="0">
              <a:buNone/>
            </a:pPr>
            <a:r>
              <a:rPr lang="en-US" sz="12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EV 충전 서비스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702" y="3977640"/>
            <a:ext cx="38971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신차 점유율 9% · 판매 +50% (IEA 2025)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07108" y="4709160"/>
            <a:ext cx="2880360" cy="1078992"/>
          </a:xfrm>
          <a:prstGeom prst="roundRect">
            <a:avLst>
              <a:gd name="adj" fmla="val 5085"/>
            </a:avLst>
          </a:prstGeom>
          <a:solidFill>
            <a:srgbClr val="03C75A"/>
          </a:solidFill>
          <a:ln/>
          <a:effectLst>
            <a:outerShdw sx="100000" sy="100000" kx="0" ky="0" algn="bl" rotWithShape="0" blurRad="114300" dist="38100" dir="8100000">
              <a:srgbClr val="0E2A2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89988" y="483717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 </a:t>
            </a:r>
            <a:pPr algn="ctr" indent="0" marL="0">
              <a:buNone/>
            </a:pPr>
            <a:r>
              <a:rPr lang="en-US" sz="12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 충전 · 슈퍼앱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89988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 EV 40% 커버 (3년, LOCA 벤치마크)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47688" y="1691640"/>
            <a:ext cx="4977079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47688" y="1691640"/>
            <a:ext cx="128016" cy="416052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8" name="Text 26"/>
          <p:cNvSpPr/>
          <p:nvPr/>
        </p:nvSpPr>
        <p:spPr>
          <a:xfrm>
            <a:off x="7013448" y="1892808"/>
            <a:ext cx="4336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지금인가 — 진입 논거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13448" y="2395728"/>
            <a:ext cx="146304" cy="14630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30" name="Text 28"/>
          <p:cNvSpPr/>
          <p:nvPr/>
        </p:nvSpPr>
        <p:spPr>
          <a:xfrm>
            <a:off x="7287768" y="2304288"/>
            <a:ext cx="40626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골든타임 — 충전소(40→100개소)와 EV(+111% YoY)가 동시에 늘어나는 12~18개월.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13448" y="3218688"/>
            <a:ext cx="146304" cy="14630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32" name="Text 30"/>
          <p:cNvSpPr/>
          <p:nvPr/>
        </p:nvSpPr>
        <p:spPr>
          <a:xfrm>
            <a:off x="7287768" y="3127248"/>
            <a:ext cx="40626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모델 검증 — 40개소 운영·1년 내 투자금 회수로 라오스 충전 사업성 입증.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013448" y="4041648"/>
            <a:ext cx="146304" cy="14630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34" name="Text 32"/>
          <p:cNvSpPr/>
          <p:nvPr/>
        </p:nvSpPr>
        <p:spPr>
          <a:xfrm>
            <a:off x="7287768" y="3950208"/>
            <a:ext cx="40626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비엔티안·사반나켓 양대 거점 — 가구 18.8/18.6만 집중, SOM 1차 타깃.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13448" y="4864608"/>
            <a:ext cx="146304" cy="14630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36" name="Text 34"/>
          <p:cNvSpPr/>
          <p:nvPr/>
        </p:nvSpPr>
        <p:spPr>
          <a:xfrm>
            <a:off x="7287768" y="4773168"/>
            <a:ext cx="40626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Grab×BYD·GAC 7만 대 ASEAN 진출 = EV 라이드헤일링 시장이 실재한다는 증거.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13448" y="5349240"/>
            <a:ext cx="43369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데이터 신뢰도 원칙: 시장조사업체 추정치는 검증 실패로 전량 제외. IEA·EY-Parthenon·기업 공식 발표만 인용.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7766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" name="Text 3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· COMPETITORS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대상 기업 — 데이터를 수집한 9개 서비스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27632"/>
            <a:ext cx="11057839" cy="420624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162763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/ 서비스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08376" y="16276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62856" y="162763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0256" y="162763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데이터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0456" y="1627632"/>
            <a:ext cx="33311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분석에서의 역할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2048256"/>
            <a:ext cx="11057839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2048256"/>
            <a:ext cx="64008" cy="39319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2048256"/>
            <a:ext cx="211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EV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90088" y="2048256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44568" y="2048256"/>
            <a:ext cx="1892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충전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01968" y="2048256"/>
            <a:ext cx="1435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앱리뷰 7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02168" y="2048256"/>
            <a:ext cx="334944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현지 충전 벤치마크 (경영진 지정)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2441448"/>
            <a:ext cx="11057839" cy="393192"/>
          </a:xfrm>
          <a:prstGeom prst="rect">
            <a:avLst/>
          </a:prstGeom>
          <a:solidFill>
            <a:srgbClr val="EAF1E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2441448"/>
            <a:ext cx="64008" cy="39319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2441448"/>
            <a:ext cx="211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Taxi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90088" y="2441448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44568" y="2441448"/>
            <a:ext cx="1892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라이드헤일링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01968" y="2441448"/>
            <a:ext cx="1435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슈퍼앱 447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02168" y="2441448"/>
            <a:ext cx="334944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 모빌리티 1위 (사업모델)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2834640"/>
            <a:ext cx="11057839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2834640"/>
            <a:ext cx="64008" cy="39319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2834640"/>
            <a:ext cx="211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Move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990088" y="2834640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44568" y="2834640"/>
            <a:ext cx="1892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라이드헤일링·자사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01968" y="2834640"/>
            <a:ext cx="1435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슈퍼앱 378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02168" y="2834640"/>
            <a:ext cx="334944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서비스 기반 (확장 출발점)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" y="3227832"/>
            <a:ext cx="11057839" cy="393192"/>
          </a:xfrm>
          <a:prstGeom prst="rect">
            <a:avLst/>
          </a:prstGeom>
          <a:solidFill>
            <a:srgbClr val="EAF1E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" y="3227832"/>
            <a:ext cx="64008" cy="39319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45" name="Text 43"/>
          <p:cNvSpPr/>
          <p:nvPr/>
        </p:nvSpPr>
        <p:spPr>
          <a:xfrm>
            <a:off x="713232" y="3227832"/>
            <a:ext cx="211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PTT blueplus+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990088" y="3227832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태국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44568" y="3227832"/>
            <a:ext cx="1892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충전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01968" y="3227832"/>
            <a:ext cx="1435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1,518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202168" y="3227832"/>
            <a:ext cx="334944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UX 벤치마크 (최고 3.11점)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6928" y="3621024"/>
            <a:ext cx="11057839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" y="3621024"/>
            <a:ext cx="64008" cy="39319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2" name="Text 50"/>
          <p:cNvSpPr/>
          <p:nvPr/>
        </p:nvSpPr>
        <p:spPr>
          <a:xfrm>
            <a:off x="713232" y="3621024"/>
            <a:ext cx="211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 VOLTA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990088" y="3621024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태국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44568" y="3621024"/>
            <a:ext cx="1892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충전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01968" y="3621024"/>
            <a:ext cx="1435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499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202168" y="3621024"/>
            <a:ext cx="334944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비교군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6928" y="4014216"/>
            <a:ext cx="11057839" cy="393192"/>
          </a:xfrm>
          <a:prstGeom prst="rect">
            <a:avLst/>
          </a:prstGeom>
          <a:solidFill>
            <a:srgbClr val="EAF1E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6928" y="4014216"/>
            <a:ext cx="64008" cy="39319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9" name="Text 57"/>
          <p:cNvSpPr/>
          <p:nvPr/>
        </p:nvSpPr>
        <p:spPr>
          <a:xfrm>
            <a:off x="713232" y="4014216"/>
            <a:ext cx="211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EleXA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990088" y="4014216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태국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44568" y="4014216"/>
            <a:ext cx="1892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충전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601968" y="4014216"/>
            <a:ext cx="1435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263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202168" y="4014216"/>
            <a:ext cx="334944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비교군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66928" y="4407408"/>
            <a:ext cx="11057839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6928" y="4407408"/>
            <a:ext cx="64008" cy="393192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66" name="Text 64"/>
          <p:cNvSpPr/>
          <p:nvPr/>
        </p:nvSpPr>
        <p:spPr>
          <a:xfrm>
            <a:off x="713232" y="4407408"/>
            <a:ext cx="211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SM (Xanh SM)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2990088" y="4407408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544568" y="4407408"/>
            <a:ext cx="1892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라이드헤일링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601968" y="4407408"/>
            <a:ext cx="1435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26,603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8202168" y="4407408"/>
            <a:ext cx="334944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본체 · 역내 위협(라오스 진입)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66928" y="4800600"/>
            <a:ext cx="11057839" cy="393192"/>
          </a:xfrm>
          <a:prstGeom prst="rect">
            <a:avLst/>
          </a:prstGeom>
          <a:solidFill>
            <a:srgbClr val="EAF1E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66928" y="4800600"/>
            <a:ext cx="64008" cy="393192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73" name="Text 71"/>
          <p:cNvSpPr/>
          <p:nvPr/>
        </p:nvSpPr>
        <p:spPr>
          <a:xfrm>
            <a:off x="713232" y="4800600"/>
            <a:ext cx="211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2990088" y="4800600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역내 8국 (라오스 X)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544568" y="4800600"/>
            <a:ext cx="1892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라이드헤일링 슈퍼앱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601968" y="4800600"/>
            <a:ext cx="1435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슈퍼앱 1,479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8202168" y="4800600"/>
            <a:ext cx="334944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역내 슈퍼앱 벤치마크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66928" y="5193792"/>
            <a:ext cx="11057839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6928" y="5193792"/>
            <a:ext cx="64008" cy="393192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80" name="Text 78"/>
          <p:cNvSpPr/>
          <p:nvPr/>
        </p:nvSpPr>
        <p:spPr>
          <a:xfrm>
            <a:off x="713232" y="5193792"/>
            <a:ext cx="2112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Gojek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2990088" y="5193792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인니 등 역내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544568" y="5193792"/>
            <a:ext cx="1892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라이드헤일링 슈퍼앱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601968" y="5193792"/>
            <a:ext cx="1435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슈퍼앱 1,066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8202168" y="5193792"/>
            <a:ext cx="334944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슈퍼앱 비교군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566928" y="57332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설계 —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 현지 3(타깃 시장) · 태국 충전 3(UX 벤치마크) · 베트남/역내 슈퍼앱 3(EV 모빌리티·위협).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UX는 태국에서, 사업모델·현지 경쟁은 라오스에서, 슈퍼앱 동학은 역내에서 학습.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7766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" name="Text 3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· COMPETITORS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분석 ① — 동남아 EV 충전 앱 (직접 경쟁)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64208"/>
            <a:ext cx="11057839" cy="4572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166420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95728" y="166420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767328" y="166420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별점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81728" y="166420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79008" y="16642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리뷰수(인지도)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42048" y="1664208"/>
            <a:ext cx="43095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강점 · 약점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2121408"/>
            <a:ext cx="11057839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2121408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EV</a:t>
            </a:r>
            <a:pPr indent="0" marL="0">
              <a:buNone/>
            </a:pPr>
            <a:r>
              <a:rPr lang="en-US" sz="9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●라오스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304288" y="2121408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75888" y="2121408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90288" y="2121408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87568" y="2121408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7건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260336" y="2121408"/>
            <a:ext cx="429127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현지 1위 · LOCA 택시 연동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리뷰 거의 없음 (현지 문화)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2798064"/>
            <a:ext cx="11057839" cy="676656"/>
          </a:xfrm>
          <a:prstGeom prst="rect">
            <a:avLst/>
          </a:prstGeom>
          <a:solidFill>
            <a:srgbClr val="FDF3E2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2798064"/>
            <a:ext cx="73152" cy="67665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" y="2798064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PTT blueplus+</a:t>
            </a:r>
            <a:pPr indent="0" marL="0">
              <a:buNone/>
            </a:pPr>
            <a:r>
              <a:rPr lang="en-US" sz="9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★벤치마크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304288" y="2798064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태국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75888" y="2798064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90288" y="2798064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47.6%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87568" y="2798064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1,518건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260336" y="2798064"/>
            <a:ext cx="429127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앱+카드 이중결제 · 주유소 연계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태국 외 미확장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3474720"/>
            <a:ext cx="11057839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" y="3474720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SM</a:t>
            </a:r>
            <a:pPr indent="0" marL="0">
              <a:buNone/>
            </a:pPr>
            <a:r>
              <a:rPr lang="en-US" sz="9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●라오스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304288" y="347472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라오스·베트남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75888" y="3474720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2.56⭐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90288" y="347472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53.5%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687568" y="3474720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26,603건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260336" y="3474720"/>
            <a:ext cx="429127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리뷰 수 1위 · 인지도 최고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UX·결제 오류 빈발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" y="4151376"/>
            <a:ext cx="11057839" cy="676656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" y="4151376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 VOLTA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304288" y="415137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태국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675888" y="4151376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2.28⭐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90288" y="4151376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67.9%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687568" y="4151376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499건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260336" y="4151376"/>
            <a:ext cx="429127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태국 정부(PEA) 운영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동남아 최하위 평점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6928" y="4828032"/>
            <a:ext cx="11057839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" y="4828032"/>
            <a:ext cx="157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EleXA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2304288" y="482803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태국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675888" y="4828032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2.41⭐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590288" y="4828032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62.4%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687568" y="4828032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263건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7260336" y="4828032"/>
            <a:ext cx="429127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EGAT 국영 전기공사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앱오류 · UI 심각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66928" y="5614416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6928" y="5614416"/>
            <a:ext cx="128016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950976" y="5614416"/>
            <a:ext cx="103263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시사점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평균 2점대 레드오션 — PTT(3.11⭐)가 유일한 벤치마크. 라오스 직접 경쟁은 LOCA EV·Green SM뿐.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데이터 보강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점유율 정량(%)은 검증 자료 부재 → 리뷰수를 인지도 대용으로 사용. 공식 단가 수집: PTT 4.5~7.5฿·PEA 5.3~8.8฿·EleX 7.5฿·V-Green 3,858₫·LOCA 4,300₭/kWh.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7766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" name="Text 3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· COMPETITORS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분석 ② — 모빌리티 슈퍼앱 (간접 경쟁)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64208"/>
            <a:ext cx="11057839" cy="4572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1664208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24328" y="1664208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93008" y="166420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98848" y="166420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04688" y="1664208"/>
            <a:ext cx="88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리뷰수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56248" y="166420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언급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62088" y="1664208"/>
            <a:ext cx="39895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시사점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2121408"/>
            <a:ext cx="11057839" cy="658368"/>
          </a:xfrm>
          <a:prstGeom prst="rect">
            <a:avLst/>
          </a:prstGeom>
          <a:solidFill>
            <a:srgbClr val="E7F5F2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2121408"/>
            <a:ext cx="73152" cy="65836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2121408"/>
            <a:ext cx="1801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Taxi</a:t>
            </a:r>
            <a:pPr indent="0" marL="0">
              <a:buNone/>
            </a:pPr>
            <a:r>
              <a:rPr lang="en-US" sz="9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★벤치마크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32888" y="212140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3.43⭐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01568" y="212140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07408" y="212140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40.9%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13248" y="212140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447건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64808" y="212140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0376" y="2121408"/>
            <a:ext cx="39712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EV가 이미 핵심 서비스 (언급 16.1%)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2779776"/>
            <a:ext cx="11057839" cy="658368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2779776"/>
            <a:ext cx="1801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532888" y="2779776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3.11⭐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401568" y="277977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45.0%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07408" y="277977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36.8%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13248" y="2779776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1,479건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64808" y="277977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75건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80376" y="2779776"/>
            <a:ext cx="39712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BYD·GAC 7만 대 EV 진출 (라오스 미포함)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3438144"/>
            <a:ext cx="110578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3438144"/>
            <a:ext cx="1801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Gojek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532888" y="3438144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3.20⭐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401568" y="343814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51.0%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07408" y="343814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31.7%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13248" y="3438144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1,066건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64808" y="343814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30건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580376" y="3438144"/>
            <a:ext cx="39712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공식 전략 미확인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66928" y="4096512"/>
            <a:ext cx="11057839" cy="658368"/>
          </a:xfrm>
          <a:prstGeom prst="rect">
            <a:avLst/>
          </a:prstGeom>
          <a:solidFill>
            <a:srgbClr val="FDF3E2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" y="4096512"/>
            <a:ext cx="73152" cy="65836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1" name="Text 49"/>
          <p:cNvSpPr/>
          <p:nvPr/>
        </p:nvSpPr>
        <p:spPr>
          <a:xfrm>
            <a:off x="694944" y="4096512"/>
            <a:ext cx="1801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Move</a:t>
            </a:r>
            <a:pPr indent="0" marL="0">
              <a:buNone/>
            </a:pPr>
            <a:r>
              <a:rPr lang="en-US" sz="9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◆우리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2532888" y="4096512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2.41⭐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3401568" y="409651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44.7%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407408" y="409651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13248" y="4096512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378건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464808" y="409651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7건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580376" y="4096512"/>
            <a:ext cx="39712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최저 · 배차 실패 44.9%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6928" y="4882896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6928" y="4882896"/>
            <a:ext cx="128016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950976" y="5065776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170432" y="4992624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모델 검증 —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택시앱 → EV 추가 → 라오스 1위·1년 내 투자금 회수 (LOCA Taxi EV 언급 16.1%)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50976" y="544982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1170432" y="537667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 위협 ↔ 기회 —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BYD·GAC 7만 대 ASEAN 진출 — 단 라오스는 미포함 = 선점 기회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950976" y="583387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1170432" y="576072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Move 과제 —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통합 전 드라이버 공급(배차 실패 44.9%)·기본기 개선이 선행 과제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7766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" name="Text 3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· COMPETITORS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분석 ③ — 라오스 현지 뉴스 점유율로 찾은 진짜 경쟁자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27632"/>
            <a:ext cx="7498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17" name="Image 0" descr="/Users/masuhan/workspace/data-analysis-portfolio/presentation/assets/19_laos_share_of_voice_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49808"/>
            <a:ext cx="7315200" cy="3790489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93608" y="1627632"/>
            <a:ext cx="3331159" cy="429768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93608" y="1627632"/>
            <a:ext cx="128016" cy="429768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0" name="Text 17"/>
          <p:cNvSpPr/>
          <p:nvPr/>
        </p:nvSpPr>
        <p:spPr>
          <a:xfrm>
            <a:off x="8677656" y="1792224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메시지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677656" y="2084832"/>
            <a:ext cx="2563063" cy="1517904"/>
          </a:xfrm>
          <a:prstGeom prst="roundRect">
            <a:avLst>
              <a:gd name="adj" fmla="val 3614"/>
            </a:avLst>
          </a:prstGeom>
          <a:solidFill>
            <a:srgbClr val="C9F2D8"/>
          </a:solidFill>
          <a:ln/>
        </p:spPr>
      </p:sp>
      <p:sp>
        <p:nvSpPr>
          <p:cNvPr id="22" name="Text 19"/>
          <p:cNvSpPr/>
          <p:nvPr/>
        </p:nvSpPr>
        <p:spPr>
          <a:xfrm>
            <a:off x="8860536" y="2139696"/>
            <a:ext cx="2197303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임원진 벤치마크 LOCA는 데이터로 검증됐다.</a:t>
            </a:r>
            <a:endParaRPr lang="en-US" sz="1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단, VinFast·Xanh SM이 뉴스 점유율 1위로 진입 중 — 놓쳤던 경쟁자다.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677656" y="3694176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677656" y="4059936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5" name="Text 22"/>
          <p:cNvSpPr/>
          <p:nvPr/>
        </p:nvSpPr>
        <p:spPr>
          <a:xfrm>
            <a:off x="8915400" y="3977640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 EV·모빌리티 뉴스 393건 — VinFast·Xanh SM 21 &gt; LOCA 17 &gt; KOKKOK Move 3 · Grab 0.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677656" y="4617720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7" name="Text 24"/>
          <p:cNvSpPr/>
          <p:nvPr/>
        </p:nvSpPr>
        <p:spPr>
          <a:xfrm>
            <a:off x="8915400" y="4535424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Xanh SM=베트남발 EV 라이드헤일링(AVILA·VF3/VF5) → 2번째 벤치마크 축.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77656" y="5175504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9" name="Text 26"/>
          <p:cNvSpPr/>
          <p:nvPr/>
        </p:nvSpPr>
        <p:spPr>
          <a:xfrm>
            <a:off x="8915400" y="5093208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Grab은 동남아 8개국 중 라오스만 미진출(소시장·LOCA 선점) → Xanh SM이 공백 우회 공략 = LOCA·Xanh SM·KOKKOK 3파전.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7766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" name="Text 3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LESSON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진입 교훈 — Grab은 왜 라오스를 비웠나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91640"/>
            <a:ext cx="539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1856232"/>
            <a:ext cx="484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Grab의 동남아 EV 공세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2295144"/>
            <a:ext cx="484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동남아 8개국 운영 (싱가포르·인니·필리핀·말련·태국·베트남·미얀마·캄보디아)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BYD 5만 대 + GAC 2만 대 =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7만 대 EV 플릿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파트너십(2025)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대상 6개국 —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라오스는 모두 제외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1691640"/>
            <a:ext cx="539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7328" y="1856232"/>
            <a:ext cx="484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라오스만 비었나 (추정)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07328" y="2295144"/>
            <a:ext cx="484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소규모 시장 (인구 ~765만) → 진입 대비 수익성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LOCA의 현지 선점 (택시+결제+충전 수직통합)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디지털결제·스마트폰 보급 economics
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Grab 공식 사유는 미발표 — 추정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343400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4343400"/>
            <a:ext cx="146304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" y="4489704"/>
            <a:ext cx="102348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 — 역내 1위 Grab도 라오스는 진입하지 않았다 = 글로벌 자본이 비워둔 틈.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현지 슈퍼앱(LOCA·KOKKOK)이 선점할 니치다.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단, Xanh SM(Vingroup)이 바로 그 틈을 EV 라이드헤일링으로 노린다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‘작아서 안전’이 아니라 ‘먼저 잡아야 하는’ 시장. 골든타임 12~18개월의 또 다른 근거.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A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04895" y="-6400800"/>
            <a:ext cx="16459200" cy="16459200"/>
          </a:xfrm>
          <a:prstGeom prst="ellipse">
            <a:avLst/>
          </a:prstGeom>
          <a:solidFill>
            <a:srgbClr val="03C75A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48095" y="-4114800"/>
            <a:ext cx="10972800" cy="10972800"/>
          </a:xfrm>
          <a:prstGeom prst="ellipse">
            <a:avLst/>
          </a:prstGeom>
          <a:solidFill>
            <a:srgbClr val="2DD46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82735" y="-1280160"/>
            <a:ext cx="5943600" cy="5943600"/>
          </a:xfrm>
          <a:prstGeom prst="ellipse">
            <a:avLst/>
          </a:prstGeom>
          <a:solidFill>
            <a:srgbClr val="C9F2D8">
              <a:alpha val="4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4206240"/>
            <a:ext cx="114144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612648" y="250545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DFFB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02   ·   PROBLEM 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907792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612648" y="4224528"/>
            <a:ext cx="9144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4407408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검증한다 — 무엇을 풀 것인가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229807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6" name="Text 4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EV 충전인가 — 골든타임의 라오스 시장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49058" y="1687068"/>
            <a:ext cx="1600200" cy="160020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1149058" y="1687068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4,437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5488" y="3419856"/>
            <a:ext cx="2947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 EV 누적 수입  </a:t>
            </a:r>
            <a:pPr algn="ctr" indent="0" marL="0">
              <a:buNone/>
            </a:pPr>
            <a:r>
              <a:rPr lang="en-US" sz="10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+111%↑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1388" y="1645920"/>
            <a:ext cx="276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EV 충전소 (개소)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14268" y="2029968"/>
            <a:ext cx="886328" cy="310896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1" name="Text 19"/>
          <p:cNvSpPr/>
          <p:nvPr/>
        </p:nvSpPr>
        <p:spPr>
          <a:xfrm>
            <a:off x="3587420" y="2029968"/>
            <a:ext cx="2215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2024  40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14268" y="2487168"/>
            <a:ext cx="2215820" cy="31089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3" name="Text 21"/>
          <p:cNvSpPr/>
          <p:nvPr/>
        </p:nvSpPr>
        <p:spPr>
          <a:xfrm>
            <a:off x="3587420" y="2487168"/>
            <a:ext cx="2215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2026  100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1388" y="2944368"/>
            <a:ext cx="2764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2.5배 ↑</a:t>
            </a:r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2026 목표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5848" y="2029968"/>
            <a:ext cx="27644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2.56점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187288" y="2944368"/>
            <a:ext cx="2581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충전앱 평균 별점 (Neg 53.5%)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860307" y="2029968"/>
            <a:ext cx="27644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12~18개월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951747" y="2944368"/>
            <a:ext cx="2581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시장 진입 골든타임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3703320"/>
            <a:ext cx="11057839" cy="2103120"/>
          </a:xfrm>
          <a:prstGeom prst="roundRect">
            <a:avLst>
              <a:gd name="adj" fmla="val 3478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3703320"/>
            <a:ext cx="146304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78408" y="3913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가설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8408" y="4279392"/>
            <a:ext cx="1023487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“EV는 빠르게 들어오는데 충전 경험은 별점 2.56점.
</a:t>
            </a:r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충전앱 불만(앱 불안정 27.6%)은 </a:t>
            </a:r>
            <a:pPr indent="0" marL="0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위협이 아니라 기회</a:t>
            </a:r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3점대 서비스만 만들어도 동남아 2위권 진입이 가능하다.”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A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04895" y="-6400800"/>
            <a:ext cx="16459200" cy="16459200"/>
          </a:xfrm>
          <a:prstGeom prst="ellipse">
            <a:avLst/>
          </a:prstGeom>
          <a:solidFill>
            <a:srgbClr val="03C75A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48095" y="-4114800"/>
            <a:ext cx="10972800" cy="10972800"/>
          </a:xfrm>
          <a:prstGeom prst="ellipse">
            <a:avLst/>
          </a:prstGeom>
          <a:solidFill>
            <a:srgbClr val="2DD46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82735" y="-1280160"/>
            <a:ext cx="5943600" cy="5943600"/>
          </a:xfrm>
          <a:prstGeom prst="ellipse">
            <a:avLst/>
          </a:prstGeom>
          <a:solidFill>
            <a:srgbClr val="C9F2D8">
              <a:alpha val="4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4206240"/>
            <a:ext cx="114144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612648" y="250545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DFFB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03   ·   DATA COLLECTION &amp;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907792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수집·분석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612648" y="4224528"/>
            <a:ext cx="9144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4407408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멀티채널 VOC 38,600+건의 정량 분석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81951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· DRD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요구사항 정의(DRD) — 수집 전에 무엇을·왜·얼마나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91640"/>
            <a:ext cx="7040880" cy="420624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16916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질문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58184" y="169164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 데이터 (테이블)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2112264"/>
            <a:ext cx="7040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211226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앱의 #1 불만은?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39896" y="211226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앱 리뷰 + 감성·키워드  ·  app_reviews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2660904"/>
            <a:ext cx="7040880" cy="548640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266090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SW(앱) vs HW(충전기) 문제?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39896" y="266090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충전기·OCPP 뉴스  ·  news_articles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209544"/>
            <a:ext cx="7040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320954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슈퍼앱의 EV 통합 전략은?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39896" y="320954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슈퍼앱 리뷰  ·  superapp_reviews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3758184"/>
            <a:ext cx="7040880" cy="548640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375818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 시장·정책·경쟁은?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39896" y="375818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시장·정책 뉴스 + SoV  ·  news_articles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4306824"/>
            <a:ext cx="7040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306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실사용 맥락·여정은?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39896" y="430682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유튜브 자막·댓글  ·  youtube_*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4855464"/>
            <a:ext cx="7040880" cy="548640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485546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거시·요금 정량 근거는?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39896" y="485546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통계·단가/IR  ·  reference_stats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900416" y="1691640"/>
            <a:ext cx="3724351" cy="3712464"/>
          </a:xfrm>
          <a:prstGeom prst="roundRect">
            <a:avLst>
              <a:gd name="adj" fmla="val 197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00416" y="1691640"/>
            <a:ext cx="128016" cy="3712464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9" name="Text 37"/>
          <p:cNvSpPr/>
          <p:nvPr/>
        </p:nvSpPr>
        <p:spPr>
          <a:xfrm>
            <a:off x="8211312" y="1874520"/>
            <a:ext cx="31757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기준 — 품질·신뢰도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8211312" y="2487168"/>
            <a:ext cx="137160" cy="13716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41" name="Text 39"/>
          <p:cNvSpPr/>
          <p:nvPr/>
        </p:nvSpPr>
        <p:spPr>
          <a:xfrm>
            <a:off x="8467344" y="2404872"/>
            <a:ext cx="28831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표본
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단위(앱)당 부정 리뷰 ≥ 약 300건 — 미달 시 비교군 대체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211312" y="3255264"/>
            <a:ext cx="137160" cy="13716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43" name="Text 41"/>
          <p:cNvSpPr/>
          <p:nvPr/>
        </p:nvSpPr>
        <p:spPr>
          <a:xfrm>
            <a:off x="8467344" y="3172968"/>
            <a:ext cx="28831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 신뢰도
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&gt; igo &gt; secondary · 시장조사업체 추정치 배제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11312" y="4023360"/>
            <a:ext cx="137160" cy="13716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45" name="Text 43"/>
          <p:cNvSpPr/>
          <p:nvPr/>
        </p:nvSpPr>
        <p:spPr>
          <a:xfrm>
            <a:off x="8467344" y="3941064"/>
            <a:ext cx="28831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엔티티·식별자
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ID로 동일성·중복 사전 식별 (Green SM = V-Green)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211312" y="4791456"/>
            <a:ext cx="137160" cy="13716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47" name="Text 45"/>
          <p:cNvSpPr/>
          <p:nvPr/>
        </p:nvSpPr>
        <p:spPr>
          <a:xfrm>
            <a:off x="8467344" y="4709160"/>
            <a:ext cx="28831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 완전성
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 → 감성 → 키워드 (충전 도메인은 2계층)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66928" y="5568696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6928" y="5568696"/>
            <a:ext cx="146304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978408" y="5568696"/>
            <a:ext cx="1023487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먼저 정의했나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요구사항을 선(先)정의해 LOCA 리뷰 7건·Green SM=V-Green 동일 앱·VOC↔뉴스 목적 분리 리스크를 수집 전에 식별.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(탐색 중 생긴 슈퍼앱·HW 가설은 사후 추가 — 정상적 탐색 특성)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81951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아키텍처 — 멀티채널 수집에서 기획까지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4000" y="1627632"/>
            <a:ext cx="2670048" cy="40690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000" y="1627632"/>
            <a:ext cx="2670048" cy="5669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8" name="Text 16"/>
          <p:cNvSpPr/>
          <p:nvPr/>
        </p:nvSpPr>
        <p:spPr>
          <a:xfrm>
            <a:off x="545440" y="162763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SOURCE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5168" y="2377440"/>
            <a:ext cx="23042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앱스토어 리뷰 (Google Play)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유튜브 영상·댓글·자막(STT)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블로그 / 뉴스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News RSS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충전기 하드웨어 뉴스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87472" y="338785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325216" y="1627632"/>
            <a:ext cx="2670048" cy="40690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25216" y="1627632"/>
            <a:ext cx="2670048" cy="566928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23" name="Text 21"/>
          <p:cNvSpPr/>
          <p:nvPr/>
        </p:nvSpPr>
        <p:spPr>
          <a:xfrm>
            <a:off x="3416656" y="162763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STORE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526384" y="2377440"/>
            <a:ext cx="23042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/ Supabase Cloud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테이블 7개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 + 참조통계 2개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Pooler (Singapore)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9개 테이블 · FK 설계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58688" y="338785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96432" y="1627632"/>
            <a:ext cx="2670048" cy="40690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6432" y="1627632"/>
            <a:ext cx="2670048" cy="5669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8" name="Text 26"/>
          <p:cNvSpPr/>
          <p:nvPr/>
        </p:nvSpPr>
        <p:spPr>
          <a:xfrm>
            <a:off x="6287872" y="162763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 PROCESS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397600" y="2377440"/>
            <a:ext cx="23042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 감지 (langdetect)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 분석 (XLM-RoBERTa)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 없이 100개 언어 직접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카테고리 분류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선택적 번역 (필요 시만)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829904" y="338785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9067648" y="1627632"/>
            <a:ext cx="2670048" cy="40690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67648" y="1627632"/>
            <a:ext cx="2670048" cy="566928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33" name="Text 31"/>
          <p:cNvSpPr/>
          <p:nvPr/>
        </p:nvSpPr>
        <p:spPr>
          <a:xfrm>
            <a:off x="9159088" y="162763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분석·기획 OUTPUT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268816" y="2377440"/>
            <a:ext cx="23042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감성·불만 카테고리 정량화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포지셔닝 맵 · 경쟁 분석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11개 기능 명세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시장조사 · 요금정책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· Tableau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" y="577900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원칙  </a:t>
            </a:r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VOC(‘무엇이 불편한가’)와 Market Intel(‘시장이 어떻게 움직이는가’)은 목적이 달라 테이블부터 분리 설계했습니다.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81951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현황 — 38,600+ 건의 멀티채널 데이터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27632"/>
            <a:ext cx="59436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179222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데이터 테이블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41248" y="2377440"/>
            <a:ext cx="91440" cy="34747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9" name="Text 17"/>
          <p:cNvSpPr/>
          <p:nvPr/>
        </p:nvSpPr>
        <p:spPr>
          <a:xfrm>
            <a:off x="1042416" y="23134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app_reviews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2313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28,890건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93208" y="23134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핵심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" y="2825496"/>
            <a:ext cx="5577840" cy="548640"/>
          </a:xfrm>
          <a:prstGeom prst="rect">
            <a:avLst/>
          </a:prstGeom>
          <a:solidFill>
            <a:srgbClr val="F0F5F4"/>
          </a:solidFill>
          <a:ln/>
        </p:spPr>
      </p:sp>
      <p:sp>
        <p:nvSpPr>
          <p:cNvPr id="23" name="Shape 21"/>
          <p:cNvSpPr/>
          <p:nvPr/>
        </p:nvSpPr>
        <p:spPr>
          <a:xfrm>
            <a:off x="841248" y="2926080"/>
            <a:ext cx="91440" cy="34747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4" name="Text 22"/>
          <p:cNvSpPr/>
          <p:nvPr/>
        </p:nvSpPr>
        <p:spPr>
          <a:xfrm>
            <a:off x="1042416" y="2862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superapp_reviews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01568" y="28620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3,370건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93208" y="2862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슈퍼앱 경쟁분석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1248" y="3474720"/>
            <a:ext cx="91440" cy="34747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8" name="Text 26"/>
          <p:cNvSpPr/>
          <p:nvPr/>
        </p:nvSpPr>
        <p:spPr>
          <a:xfrm>
            <a:off x="1042416" y="34107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youtube_stt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01568" y="34107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2,625세그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93208" y="34107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실사용 맥락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49808" y="3922776"/>
            <a:ext cx="5577840" cy="548640"/>
          </a:xfrm>
          <a:prstGeom prst="rect">
            <a:avLst/>
          </a:prstGeom>
          <a:solidFill>
            <a:srgbClr val="F0F5F4"/>
          </a:solidFill>
          <a:ln/>
        </p:spPr>
      </p:sp>
      <p:sp>
        <p:nvSpPr>
          <p:cNvPr id="32" name="Shape 30"/>
          <p:cNvSpPr/>
          <p:nvPr/>
        </p:nvSpPr>
        <p:spPr>
          <a:xfrm>
            <a:off x="841248" y="4023360"/>
            <a:ext cx="91440" cy="34747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3" name="Text 31"/>
          <p:cNvSpPr/>
          <p:nvPr/>
        </p:nvSpPr>
        <p:spPr>
          <a:xfrm>
            <a:off x="1042416" y="39593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news_articles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01568" y="39593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2,483건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93208" y="39593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시장·HW 인텔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41248" y="4572000"/>
            <a:ext cx="91440" cy="34747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7" name="Text 35"/>
          <p:cNvSpPr/>
          <p:nvPr/>
        </p:nvSpPr>
        <p:spPr>
          <a:xfrm>
            <a:off x="1042416" y="4507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youtube_comments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01568" y="45079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527건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93208" y="450799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반응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49808" y="5020056"/>
            <a:ext cx="5577840" cy="548640"/>
          </a:xfrm>
          <a:prstGeom prst="rect">
            <a:avLst/>
          </a:prstGeom>
          <a:solidFill>
            <a:srgbClr val="F0F5F4"/>
          </a:solidFill>
          <a:ln/>
        </p:spPr>
      </p:sp>
      <p:sp>
        <p:nvSpPr>
          <p:cNvPr id="41" name="Shape 39"/>
          <p:cNvSpPr/>
          <p:nvPr/>
        </p:nvSpPr>
        <p:spPr>
          <a:xfrm>
            <a:off x="841248" y="5120640"/>
            <a:ext cx="91440" cy="347472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42" name="Text 40"/>
          <p:cNvSpPr/>
          <p:nvPr/>
        </p:nvSpPr>
        <p:spPr>
          <a:xfrm>
            <a:off x="1042416" y="5056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blog_posts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401568" y="50566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42건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093208" y="50566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한국인 시각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784848" y="1627632"/>
            <a:ext cx="4839919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84848" y="1627632"/>
            <a:ext cx="128016" cy="420624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47" name="Text 45"/>
          <p:cNvSpPr/>
          <p:nvPr/>
        </p:nvSpPr>
        <p:spPr>
          <a:xfrm>
            <a:off x="7150608" y="1810512"/>
            <a:ext cx="4199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단계에서 부딪힌 현실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150608" y="23408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498080" y="2322576"/>
            <a:ext cx="38340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EV 리뷰 단 7건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라오스는 리뷰 문화 부재 → 태국 선도 3개 앱을 비교군으로 추가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7150608" y="32095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498080" y="3191256"/>
            <a:ext cx="38340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SM = V-Green 동일 앱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ID(com.gsm.customer) 일치 확인 → country='MUL' 통합 처리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7150608" y="40782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498080" y="4059936"/>
            <a:ext cx="38340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2,000건 제한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언어·국가 5개 조합으로 분할 수집 → Green SM만 26,603건 확보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7150608" y="49469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498080" y="4928616"/>
            <a:ext cx="38340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뉴스·하드웨어 추가 설계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충전앱 ‘앱 불안정’ 원인 가설 검증 위해 HW 뉴스 1,327건 추가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81951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전처리 — 번역 없이 100개 언어를 직접 분석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27632"/>
            <a:ext cx="59436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179222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의사결정 — 번역 전략 전면 수정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6968" y="21762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28,890건 처리 시간 비교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968" y="2542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변경 전</a:t>
            </a:r>
            <a:pPr indent="0" marL="0">
              <a:buNone/>
            </a:pPr>
            <a:r>
              <a:rPr lang="en-US" sz="1200" dirty="0">
                <a:solidFill>
                  <a:srgbClr val="8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전체 영어 번역 후 분석 (googletrans)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6968" y="2907792"/>
            <a:ext cx="3474720" cy="384048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" y="29077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12시간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3346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600건 처리 후 강제 종료 — 사실상 불가능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6968" y="3840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변경 후</a:t>
            </a:r>
            <a:pPr indent="0" marL="0">
              <a:buNone/>
            </a:pPr>
            <a:r>
              <a:rPr lang="en-US" sz="1200" dirty="0">
                <a:solidFill>
                  <a:srgbClr val="2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XLM-RoBERTa 다국어 직접 분석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6968" y="4206240"/>
            <a:ext cx="579120" cy="38404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5" name="Text 23"/>
          <p:cNvSpPr/>
          <p:nvPr/>
        </p:nvSpPr>
        <p:spPr>
          <a:xfrm>
            <a:off x="1594104" y="4206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2시간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6968" y="4645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전량 28,890건 처리 · 번역 없이 정확도 향상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82896" y="2953512"/>
            <a:ext cx="1280160" cy="1207008"/>
          </a:xfrm>
          <a:prstGeom prst="roundRect">
            <a:avLst>
              <a:gd name="adj" fmla="val 7576"/>
            </a:avLst>
          </a:prstGeom>
          <a:solidFill>
            <a:srgbClr val="03C75A"/>
          </a:solidFill>
          <a:ln/>
        </p:spPr>
      </p:sp>
      <p:sp>
        <p:nvSpPr>
          <p:cNvPr id="28" name="Text 26"/>
          <p:cNvSpPr/>
          <p:nvPr/>
        </p:nvSpPr>
        <p:spPr>
          <a:xfrm>
            <a:off x="4882896" y="2953512"/>
            <a:ext cx="1280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
</a:t>
            </a:r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시간 단축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886968" y="5084064"/>
            <a:ext cx="53035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" y="52120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오류 · Ứng dụng lỗi · ดีมากชาร์จเร็ว · ແອັບດີ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" y="55046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한·영·베·태·라오어를 번역 없이 각 언어로 직접 감성 분류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84848" y="1627632"/>
            <a:ext cx="4839919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84848" y="1627632"/>
            <a:ext cx="128016" cy="420624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4" name="Text 32"/>
          <p:cNvSpPr/>
          <p:nvPr/>
        </p:nvSpPr>
        <p:spPr>
          <a:xfrm>
            <a:off x="7150608" y="1810512"/>
            <a:ext cx="4199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트러블슈팅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150608" y="2395728"/>
            <a:ext cx="91440" cy="5669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6" name="Text 34"/>
          <p:cNvSpPr/>
          <p:nvPr/>
        </p:nvSpPr>
        <p:spPr>
          <a:xfrm>
            <a:off x="7388352" y="2359152"/>
            <a:ext cx="394380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리전 불일치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Seoul pooler로 접속 실패 → Singapore Session Pooler(5432·IPv4)로 전환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150608" y="3136392"/>
            <a:ext cx="410839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50608" y="3264408"/>
            <a:ext cx="91440" cy="5669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9" name="Text 37"/>
          <p:cNvSpPr/>
          <p:nvPr/>
        </p:nvSpPr>
        <p:spPr>
          <a:xfrm>
            <a:off x="7388352" y="3227832"/>
            <a:ext cx="394380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10초 statement timeout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대용량 UPDATE 불가 → 200건 배치 처리로 분할 실행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150608" y="4005072"/>
            <a:ext cx="410839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50608" y="4133088"/>
            <a:ext cx="91440" cy="5669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42" name="Text 40"/>
          <p:cNvSpPr/>
          <p:nvPr/>
        </p:nvSpPr>
        <p:spPr>
          <a:xfrm>
            <a:off x="7388352" y="4096512"/>
            <a:ext cx="394380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분석을 DB→Python 전환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SELECT로 로드 후 pandas·matplotlib에서 집계·시각화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150608" y="4873752"/>
            <a:ext cx="410839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50608" y="5001768"/>
            <a:ext cx="91440" cy="5669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45" name="Text 43"/>
          <p:cNvSpPr/>
          <p:nvPr/>
        </p:nvSpPr>
        <p:spPr>
          <a:xfrm>
            <a:off x="7388352" y="4965192"/>
            <a:ext cx="394380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라이브러리 버전 변경 대응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youtube-transcript-api 클래스→인스턴스 메서드 (api.list)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81951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· 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① 채널별 감성 분포 — 사용자 Pain Point 1순위: 서비스 앱 사용성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27632"/>
            <a:ext cx="7498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17" name="Image 0" descr="/Users/masuhan/workspace/data-analysis-portfolio/presentation/assets/02_sentiment_by_app_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35562"/>
            <a:ext cx="7315200" cy="40189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93608" y="1627632"/>
            <a:ext cx="3331159" cy="429768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93608" y="1627632"/>
            <a:ext cx="128016" cy="429768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0" name="Text 17"/>
          <p:cNvSpPr/>
          <p:nvPr/>
        </p:nvSpPr>
        <p:spPr>
          <a:xfrm>
            <a:off x="8677656" y="1792224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메시지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677656" y="2084832"/>
            <a:ext cx="2563063" cy="1517904"/>
          </a:xfrm>
          <a:prstGeom prst="roundRect">
            <a:avLst>
              <a:gd name="adj" fmla="val 3614"/>
            </a:avLst>
          </a:prstGeom>
          <a:solidFill>
            <a:srgbClr val="C9F2D8"/>
          </a:solidFill>
          <a:ln/>
        </p:spPr>
      </p:sp>
      <p:sp>
        <p:nvSpPr>
          <p:cNvPr id="22" name="Text 19"/>
          <p:cNvSpPr/>
          <p:nvPr/>
        </p:nvSpPr>
        <p:spPr>
          <a:xfrm>
            <a:off x="8860536" y="2139696"/>
            <a:ext cx="2197303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불만은 ‘앱스토어 리뷰’에 집중된다.</a:t>
            </a:r>
            <a:endParaRPr lang="en-US" sz="1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UX가 가장 시급한 개선 지점이다.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677656" y="3694176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677656" y="4059936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5" name="Text 22"/>
          <p:cNvSpPr/>
          <p:nvPr/>
        </p:nvSpPr>
        <p:spPr>
          <a:xfrm>
            <a:off x="8915400" y="3977640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리뷰 Negative 53.5% — 4개 채널 중 가장 부정적.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677656" y="4617720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7" name="Text 24"/>
          <p:cNvSpPr/>
          <p:nvPr/>
        </p:nvSpPr>
        <p:spPr>
          <a:xfrm>
            <a:off x="8915400" y="4535424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PTT blueplus+만 47.6%로 평균 이하 → 벤치마크 후보.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77656" y="5175504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9" name="Text 26"/>
          <p:cNvSpPr/>
          <p:nvPr/>
        </p:nvSpPr>
        <p:spPr>
          <a:xfrm>
            <a:off x="8915400" y="5093208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유튜브·뉴스는 중립·긍정 위주 → 불만은 ‘앱’에 집중.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81951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· 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② 불만 구조 — 도메인을 나누니 진짜 문제가 보였다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27632"/>
            <a:ext cx="7498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17" name="Image 0" descr="/Users/masuhan/workspace/data-analysis-portfolio/presentation/assets/18_complaint_2layer_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58207"/>
            <a:ext cx="7315200" cy="2973689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93608" y="1627632"/>
            <a:ext cx="3331159" cy="429768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93608" y="1627632"/>
            <a:ext cx="128016" cy="429768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0" name="Text 17"/>
          <p:cNvSpPr/>
          <p:nvPr/>
        </p:nvSpPr>
        <p:spPr>
          <a:xfrm>
            <a:off x="8677656" y="1792224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메시지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677656" y="2084832"/>
            <a:ext cx="2563063" cy="1517904"/>
          </a:xfrm>
          <a:prstGeom prst="roundRect">
            <a:avLst>
              <a:gd name="adj" fmla="val 3614"/>
            </a:avLst>
          </a:prstGeom>
          <a:solidFill>
            <a:srgbClr val="C9F2D8"/>
          </a:solidFill>
          <a:ln/>
        </p:spPr>
      </p:sp>
      <p:sp>
        <p:nvSpPr>
          <p:cNvPr id="22" name="Text 19"/>
          <p:cNvSpPr/>
          <p:nvPr/>
        </p:nvSpPr>
        <p:spPr>
          <a:xfrm>
            <a:off x="8860536" y="2139696"/>
            <a:ext cx="2197303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VOC의 92%는 충전이 아니라 라이드헤일링이었다.</a:t>
            </a:r>
            <a:endParaRPr lang="en-US" sz="1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도메인을 분리하자 충전앱의 진짜 1위 ‘앱 불안정’이 드러났다.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677656" y="3694176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677656" y="4059936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5" name="Text 22"/>
          <p:cNvSpPr/>
          <p:nvPr/>
        </p:nvSpPr>
        <p:spPr>
          <a:xfrm>
            <a:off x="8915400" y="3977640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부정 15,461건 — 라이드헤일링 42.4% · 앱공통 39.2% · 충전 전용 0.7%.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677656" y="4617720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7" name="Text 24"/>
          <p:cNvSpPr/>
          <p:nvPr/>
        </p:nvSpPr>
        <p:spPr>
          <a:xfrm>
            <a:off x="8915400" y="4535424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SM(92%)=베트남 라이드헤일링 앱 → 충전 VOC로 오인됐던 것.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77656" y="5175504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9" name="Text 26"/>
          <p:cNvSpPr/>
          <p:nvPr/>
        </p:nvSpPr>
        <p:spPr>
          <a:xfrm>
            <a:off x="8915400" y="5093208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도메인 분리 재분류로 ‘기타’ 50%→16.6%, 충전앱 레이어 분리.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81951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· 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③ 경쟁 포지셔닝 — 비어 있는 ‘오른쪽 아래’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27632"/>
            <a:ext cx="7498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17" name="Image 0" descr="/Users/masuhan/workspace/data-analysis-portfolio/presentation/assets/10_app_positioning_map_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539" y="1764792"/>
            <a:ext cx="6864858" cy="41605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93608" y="1627632"/>
            <a:ext cx="3331159" cy="429768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93608" y="1627632"/>
            <a:ext cx="128016" cy="429768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0" name="Text 17"/>
          <p:cNvSpPr/>
          <p:nvPr/>
        </p:nvSpPr>
        <p:spPr>
          <a:xfrm>
            <a:off x="8677656" y="1792224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메시지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677656" y="2084832"/>
            <a:ext cx="2563063" cy="1517904"/>
          </a:xfrm>
          <a:prstGeom prst="roundRect">
            <a:avLst>
              <a:gd name="adj" fmla="val 3614"/>
            </a:avLst>
          </a:prstGeom>
          <a:solidFill>
            <a:srgbClr val="C9F2D8"/>
          </a:solidFill>
          <a:ln/>
        </p:spPr>
      </p:sp>
      <p:sp>
        <p:nvSpPr>
          <p:cNvPr id="22" name="Text 19"/>
          <p:cNvSpPr/>
          <p:nvPr/>
        </p:nvSpPr>
        <p:spPr>
          <a:xfrm>
            <a:off x="8860536" y="2139696"/>
            <a:ext cx="2197303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시장엔 ‘잘 만든 충전앱’이 없다.</a:t>
            </a:r>
            <a:endParaRPr lang="en-US" sz="1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PTT(3.11점)만 넘어도 KOKKOK이 1위가 될 빈 자리다.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677656" y="3694176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677656" y="4059936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5" name="Text 22"/>
          <p:cNvSpPr/>
          <p:nvPr/>
        </p:nvSpPr>
        <p:spPr>
          <a:xfrm>
            <a:off x="8915400" y="3977640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앱 모두 별점 2.2~3.1·부정 우세 → 좌하단 밀집.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677656" y="4617720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7" name="Text 24"/>
          <p:cNvSpPr/>
          <p:nvPr/>
        </p:nvSpPr>
        <p:spPr>
          <a:xfrm>
            <a:off x="8915400" y="4535424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PTT만 평균 우측이지만 3.11점에 불과 = 현재 1위.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77656" y="5175504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9" name="Text 26"/>
          <p:cNvSpPr/>
          <p:nvPr/>
        </p:nvSpPr>
        <p:spPr>
          <a:xfrm>
            <a:off x="8915400" y="5093208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오른쪽 아래(고별점·저불만) 좌표를 선점.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81951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· 04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④ 충전앱 레이어 — 우리가 풀 문제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27632"/>
            <a:ext cx="7498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17" name="Image 0" descr="/Users/masuhan/workspace/data-analysis-portfolio/presentation/assets/11_app_competitive_analysis_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56318"/>
            <a:ext cx="7315200" cy="3577469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93608" y="1627632"/>
            <a:ext cx="3331159" cy="429768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93608" y="1627632"/>
            <a:ext cx="128016" cy="429768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0" name="Text 17"/>
          <p:cNvSpPr/>
          <p:nvPr/>
        </p:nvSpPr>
        <p:spPr>
          <a:xfrm>
            <a:off x="8677656" y="1792224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메시지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677656" y="2084832"/>
            <a:ext cx="2563063" cy="1517904"/>
          </a:xfrm>
          <a:prstGeom prst="roundRect">
            <a:avLst>
              <a:gd name="adj" fmla="val 3614"/>
            </a:avLst>
          </a:prstGeom>
          <a:solidFill>
            <a:srgbClr val="C9F2D8"/>
          </a:solidFill>
          <a:ln/>
        </p:spPr>
      </p:sp>
      <p:sp>
        <p:nvSpPr>
          <p:cNvPr id="22" name="Text 19"/>
          <p:cNvSpPr/>
          <p:nvPr/>
        </p:nvSpPr>
        <p:spPr>
          <a:xfrm>
            <a:off x="8860536" y="2139696"/>
            <a:ext cx="2197303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충전앱(PTT·PEA·EleXA·LOCA)의 공통 약점은 명확하다.</a:t>
            </a:r>
            <a:endParaRPr lang="en-US" sz="1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안정성 + 온보딩(KYC) + 지갑결제, 세 축이다.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677656" y="3694176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677656" y="4059936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5" name="Text 22"/>
          <p:cNvSpPr/>
          <p:nvPr/>
        </p:nvSpPr>
        <p:spPr>
          <a:xfrm>
            <a:off x="8915400" y="3977640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충전앱 부정 1,227건 — 앱 불안정 27.6% · 계정·인증·KYC 15.0% · 결제·지갑 11.0%.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677656" y="4617720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7" name="Text 24"/>
          <p:cNvSpPr/>
          <p:nvPr/>
        </p:nvSpPr>
        <p:spPr>
          <a:xfrm>
            <a:off x="8915400" y="4535424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앱 공통으로 ‘앱 안정성·온보딩’이 상위 → 구조적 약점.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77656" y="5175504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9" name="Text 26"/>
          <p:cNvSpPr/>
          <p:nvPr/>
        </p:nvSpPr>
        <p:spPr>
          <a:xfrm>
            <a:off x="8915400" y="5093208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세 축이 우리 PRD P0~P1의 직접 근거.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81951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인사이트 — 가설을 데이터로 뒤집다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27632"/>
            <a:ext cx="7498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17" name="Image 0" descr="/Users/masuhan/workspace/data-analysis-portfolio/presentation/assets/17_app_hw_linkage_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45398"/>
            <a:ext cx="7315200" cy="3199309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93608" y="1627632"/>
            <a:ext cx="3331159" cy="429768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93608" y="1627632"/>
            <a:ext cx="128016" cy="429768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0" name="Text 17"/>
          <p:cNvSpPr/>
          <p:nvPr/>
        </p:nvSpPr>
        <p:spPr>
          <a:xfrm>
            <a:off x="8677656" y="1792224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메시지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677656" y="2084832"/>
            <a:ext cx="2563063" cy="1517904"/>
          </a:xfrm>
          <a:prstGeom prst="roundRect">
            <a:avLst>
              <a:gd name="adj" fmla="val 3614"/>
            </a:avLst>
          </a:prstGeom>
          <a:solidFill>
            <a:srgbClr val="C9F2D8"/>
          </a:solidFill>
          <a:ln/>
        </p:spPr>
      </p:sp>
      <p:sp>
        <p:nvSpPr>
          <p:cNvPr id="22" name="Text 19"/>
          <p:cNvSpPr/>
          <p:nvPr/>
        </p:nvSpPr>
        <p:spPr>
          <a:xfrm>
            <a:off x="8860536" y="2139696"/>
            <a:ext cx="2197303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가설은 ‘앱오류=OCPP 통신 문제’였다.</a:t>
            </a:r>
            <a:endParaRPr lang="en-US" sz="1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분리로 다시 보니, 충전앱 #1은 앱 안정성·온보딩이었다.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677656" y="3694176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677656" y="4059936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5" name="Text 22"/>
          <p:cNvSpPr/>
          <p:nvPr/>
        </p:nvSpPr>
        <p:spPr>
          <a:xfrm>
            <a:off x="8915400" y="3977640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충전앱 부정 #1 — 앱 불안정 27.6% · 계정·인증·KYC 15.0% · 결제 11.0%.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677656" y="4617720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7" name="Text 24"/>
          <p:cNvSpPr/>
          <p:nvPr/>
        </p:nvSpPr>
        <p:spPr>
          <a:xfrm>
            <a:off x="8915400" y="4535424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OCPP·호환 뉴스 169건은 기술 표준 ‘요건’ — VOC상 직접 원인 근거는 약함.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77656" y="5175504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9" name="Text 26"/>
          <p:cNvSpPr/>
          <p:nvPr/>
        </p:nvSpPr>
        <p:spPr>
          <a:xfrm>
            <a:off x="8915400" y="5093208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PRD P0를 ‘세션 안정성·간편 온보딩·지갑결제’로 재정렬.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81951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· HW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 이슈 맵 — 빈도 높고 심각한 문제 식별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27632"/>
            <a:ext cx="7498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17" name="Image 0" descr="/Users/masuhan/workspace/data-analysis-portfolio/presentation/assets/14_hw_positioning_map_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1764792"/>
            <a:ext cx="6823253" cy="41605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93608" y="1627632"/>
            <a:ext cx="3331159" cy="429768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93608" y="1627632"/>
            <a:ext cx="128016" cy="429768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0" name="Text 17"/>
          <p:cNvSpPr/>
          <p:nvPr/>
        </p:nvSpPr>
        <p:spPr>
          <a:xfrm>
            <a:off x="8677656" y="1792224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메시지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677656" y="2084832"/>
            <a:ext cx="2563063" cy="1517904"/>
          </a:xfrm>
          <a:prstGeom prst="roundRect">
            <a:avLst>
              <a:gd name="adj" fmla="val 3614"/>
            </a:avLst>
          </a:prstGeom>
          <a:solidFill>
            <a:srgbClr val="C9F2D8"/>
          </a:solidFill>
          <a:ln/>
        </p:spPr>
      </p:sp>
      <p:sp>
        <p:nvSpPr>
          <p:cNvPr id="22" name="Text 19"/>
          <p:cNvSpPr/>
          <p:nvPr/>
        </p:nvSpPr>
        <p:spPr>
          <a:xfrm>
            <a:off x="8860536" y="2139696"/>
            <a:ext cx="2197303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 우선순위는 둘이다.</a:t>
            </a:r>
            <a:endParaRPr lang="en-US" sz="1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많이 언급된 OCPP 호환, 가장 심각한 충전기 결함.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677656" y="3694176"/>
            <a:ext cx="2691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677656" y="4059936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5" name="Text 22"/>
          <p:cNvSpPr/>
          <p:nvPr/>
        </p:nvSpPr>
        <p:spPr>
          <a:xfrm>
            <a:off x="8915400" y="3977640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OCPP·호환문제 — 언급 최다(169건) → 표준 준수 최우선.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677656" y="4617720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7" name="Text 24"/>
          <p:cNvSpPr/>
          <p:nvPr/>
        </p:nvSpPr>
        <p:spPr>
          <a:xfrm>
            <a:off x="8915400" y="4535424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충전기결함 — Negative 32%로 심각도 1위.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77656" y="5175504"/>
            <a:ext cx="118872" cy="118872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9" name="Text 26"/>
          <p:cNvSpPr/>
          <p:nvPr/>
        </p:nvSpPr>
        <p:spPr>
          <a:xfrm>
            <a:off x="8915400" y="5093208"/>
            <a:ext cx="2416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HW P0: OCPP 검증 + 충전기 실시간 모니터링.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81951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· PERSONA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페르소나 — 데이터로 정의한 핵심 타겟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591056"/>
            <a:ext cx="3503066" cy="4736592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591056"/>
            <a:ext cx="109728" cy="859536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170992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라이드헤일링 드라이버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2048256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02A14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0482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타겟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84832" y="2048256"/>
            <a:ext cx="17657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쏨퐁 · 34세 · 비엔티안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6384" y="2468880"/>
            <a:ext cx="308244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2542032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“충전 한 번 실패하면 그날 수입이 날아가요.”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" y="2980944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인구통계 · 특성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3255264"/>
            <a:ext cx="30824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라이드헤일링 생계 운전자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2~3회 충전 · 낮 시간대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Taxi EV 언급 16.1%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6384" y="3877056"/>
            <a:ext cx="308244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968496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(Goals)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4242816"/>
            <a:ext cx="30824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충전 시작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결제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충전소 위치 즉시 확인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6384" y="4864608"/>
            <a:ext cx="308244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4956048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좌절 요인 (Frustrations)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5230368"/>
            <a:ext cx="30824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실패(앱 불안정)로 영업 손실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오류 반복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배차·충전 대기 시간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6384" y="5760720"/>
            <a:ext cx="3082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규모(추정)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전기택시 드라이버(영업용 EV)·고빈도 충전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86384" y="6053328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· LOCA Taxi 447건 + 유튜브 자막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44314" y="1591056"/>
            <a:ext cx="3503066" cy="4736592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4314" y="1591056"/>
            <a:ext cx="109728" cy="85953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6" name="Text 34"/>
          <p:cNvSpPr/>
          <p:nvPr/>
        </p:nvSpPr>
        <p:spPr>
          <a:xfrm>
            <a:off x="4600346" y="170992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여행자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600346" y="2048256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03C75A"/>
          </a:solidFill>
          <a:ln/>
        </p:spPr>
      </p:sp>
      <p:sp>
        <p:nvSpPr>
          <p:cNvPr id="38" name="Text 36"/>
          <p:cNvSpPr/>
          <p:nvPr/>
        </p:nvSpPr>
        <p:spPr>
          <a:xfrm>
            <a:off x="4600346" y="20482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타겟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62218" y="2048256"/>
            <a:ext cx="17657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 · 28세 · 호주 배낭여행객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63770" y="2468880"/>
            <a:ext cx="308244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63770" y="2542032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“해외 카드가 안 돼서 결제를 못 했어요.”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63770" y="2980944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인구통계 · 특성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00346" y="3255264"/>
            <a:ext cx="30824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체류 · 렌트 EV/스쿠터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 사용 · 해외 카드 보유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 리뷰 Negative 65.8%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63770" y="3877056"/>
            <a:ext cx="308244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63770" y="3968496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(Goals)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600346" y="4242816"/>
            <a:ext cx="30824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카드 결제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 UI 지원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없이 QR 1회 결제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63770" y="4864608"/>
            <a:ext cx="308244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3770" y="4956048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좌절 요인 (Frustrations)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600346" y="5230368"/>
            <a:ext cx="30824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카드 미지원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 UI 부재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매번 실패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63770" y="5760720"/>
            <a:ext cx="3082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규모(추정)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관광객 다수 중 EV·스쿠터 렌트층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63770" y="6053328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· 영어 리뷰 1,992건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121701" y="1591056"/>
            <a:ext cx="3503066" cy="4736592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21701" y="1591056"/>
            <a:ext cx="109728" cy="859536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54" name="Text 52"/>
          <p:cNvSpPr/>
          <p:nvPr/>
        </p:nvSpPr>
        <p:spPr>
          <a:xfrm>
            <a:off x="8377733" y="170992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차량 오너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8377733" y="2048256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02A14B"/>
          </a:solidFill>
          <a:ln/>
        </p:spPr>
      </p:sp>
      <p:sp>
        <p:nvSpPr>
          <p:cNvPr id="56" name="Text 54"/>
          <p:cNvSpPr/>
          <p:nvPr/>
        </p:nvSpPr>
        <p:spPr>
          <a:xfrm>
            <a:off x="8377733" y="20482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초기·충성 타겟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639605" y="2048256"/>
            <a:ext cx="17657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분미 · 29세 · 비엔티안 직장인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341157" y="2468880"/>
            <a:ext cx="308244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41157" y="2542032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“가까운 충전소가 어디 있는지를 모르겠어요.”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341157" y="2980944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인구통계 · 특성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377733" y="3255264"/>
            <a:ext cx="30824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비엔티안 거주 자차 충전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 EV 4,437대(+111%)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15~39세 43.2% 젊은 얼리어답터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341157" y="3877056"/>
            <a:ext cx="308244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1157" y="3968496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(Goals)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377733" y="4242816"/>
            <a:ext cx="30824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가까운 충전소 탐색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완료 알림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충전기 예약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341157" y="4864608"/>
            <a:ext cx="308244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41157" y="4956048"/>
            <a:ext cx="3082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좌절 요인 (Frustrations)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8377733" y="5230368"/>
            <a:ext cx="30824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충전소 위치 정보 부족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속도 불만</a:t>
            </a:r>
            <a:endParaRPr lang="en-US" sz="1050" dirty="0"/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 기능 부재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341157" y="5760720"/>
            <a:ext cx="3082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규모(추정)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EV 4,437대(2024.10) — 초기 모수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341157" y="6053328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· 충전소위치·충전 불만 + LSB 연령구조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A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04895" y="-6400800"/>
            <a:ext cx="16459200" cy="16459200"/>
          </a:xfrm>
          <a:prstGeom prst="ellipse">
            <a:avLst/>
          </a:prstGeom>
          <a:solidFill>
            <a:srgbClr val="03C75A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48095" y="-4114800"/>
            <a:ext cx="10972800" cy="10972800"/>
          </a:xfrm>
          <a:prstGeom prst="ellipse">
            <a:avLst/>
          </a:prstGeom>
          <a:solidFill>
            <a:srgbClr val="2DD46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82735" y="-1280160"/>
            <a:ext cx="5943600" cy="5943600"/>
          </a:xfrm>
          <a:prstGeom prst="ellipse">
            <a:avLst/>
          </a:prstGeom>
          <a:solidFill>
            <a:srgbClr val="C9F2D8">
              <a:alpha val="4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4206240"/>
            <a:ext cx="114144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612648" y="250545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DFFB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04   ·   PRODUCT PLANNING &amp;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907792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기획·설계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612648" y="4224528"/>
            <a:ext cx="9144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4407408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인사이트를 11개 기능과 설계 산출물로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34095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LIFECYCLE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만든 것 — 기획에서 설계까지, 개발 직전 단계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64208"/>
            <a:ext cx="7280453" cy="512064"/>
          </a:xfrm>
          <a:prstGeom prst="roundRect">
            <a:avLst>
              <a:gd name="adj" fmla="val 17857"/>
            </a:avLst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1664208"/>
            <a:ext cx="682325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우리가 완성한 범위</a:t>
            </a:r>
            <a:pPr indent="0" marL="0">
              <a:buNone/>
            </a:pPr>
            <a:r>
              <a:rPr lang="en-US" sz="1300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분석 → 기획 → 설계  (개발 즉시 착수 가능)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1701" y="1664208"/>
            <a:ext cx="3503066" cy="512064"/>
          </a:xfrm>
          <a:prstGeom prst="roundRect">
            <a:avLst>
              <a:gd name="adj" fmla="val 17857"/>
            </a:avLst>
          </a:prstGeom>
          <a:solidFill>
            <a:srgbClr val="E3E9E8"/>
          </a:solidFill>
          <a:ln w="12700">
            <a:solidFill>
              <a:srgbClr val="8C8C8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121701" y="1664208"/>
            <a:ext cx="35030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 ▶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2395728"/>
            <a:ext cx="3503066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395728"/>
            <a:ext cx="3503066" cy="73152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487168"/>
            <a:ext cx="3045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2852928"/>
            <a:ext cx="30458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· 무엇을 · 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1248" y="3392424"/>
            <a:ext cx="128016" cy="128016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5" name="Text 23"/>
          <p:cNvSpPr/>
          <p:nvPr/>
        </p:nvSpPr>
        <p:spPr>
          <a:xfrm>
            <a:off x="1078992" y="3291840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1248" y="3867912"/>
            <a:ext cx="128016" cy="128016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3767328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스토리보드 (화면설계서)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41248" y="4343400"/>
            <a:ext cx="128016" cy="128016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9" name="Text 27"/>
          <p:cNvSpPr/>
          <p:nvPr/>
        </p:nvSpPr>
        <p:spPr>
          <a:xfrm>
            <a:off x="1078992" y="4242816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프로토타이핑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033418" y="3675888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344314" y="2395728"/>
            <a:ext cx="3503066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44314" y="2395728"/>
            <a:ext cx="3503066" cy="731520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33" name="Text 31"/>
          <p:cNvSpPr/>
          <p:nvPr/>
        </p:nvSpPr>
        <p:spPr>
          <a:xfrm>
            <a:off x="4600346" y="2487168"/>
            <a:ext cx="3045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600346" y="2852928"/>
            <a:ext cx="30458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· 어떻게 동작 · 구조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18634" y="3392424"/>
            <a:ext cx="128016" cy="128016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36" name="Text 34"/>
          <p:cNvSpPr/>
          <p:nvPr/>
        </p:nvSpPr>
        <p:spPr>
          <a:xfrm>
            <a:off x="4856378" y="3291840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1.6-J 데이터 명세서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618634" y="3867912"/>
            <a:ext cx="128016" cy="128016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38" name="Text 36"/>
          <p:cNvSpPr/>
          <p:nvPr/>
        </p:nvSpPr>
        <p:spPr>
          <a:xfrm>
            <a:off x="4856378" y="3767328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618634" y="4343400"/>
            <a:ext cx="128016" cy="128016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40" name="Text 38"/>
          <p:cNvSpPr/>
          <p:nvPr/>
        </p:nvSpPr>
        <p:spPr>
          <a:xfrm>
            <a:off x="4856378" y="4242816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구조 설계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618634" y="4818888"/>
            <a:ext cx="128016" cy="128016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42" name="Text 40"/>
          <p:cNvSpPr/>
          <p:nvPr/>
        </p:nvSpPr>
        <p:spPr>
          <a:xfrm>
            <a:off x="4856378" y="4718304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시퀀스 다이어그램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810805" y="3675888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8121701" y="2395728"/>
            <a:ext cx="3503066" cy="3108960"/>
          </a:xfrm>
          <a:prstGeom prst="roundRect">
            <a:avLst>
              <a:gd name="adj" fmla="val 2353"/>
            </a:avLst>
          </a:prstGeom>
          <a:solidFill>
            <a:srgbClr val="F1F4F3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21701" y="2395728"/>
            <a:ext cx="3503066" cy="3108960"/>
          </a:xfrm>
          <a:prstGeom prst="roundRect">
            <a:avLst>
              <a:gd name="adj" fmla="val 2353"/>
            </a:avLst>
          </a:prstGeom>
          <a:solidFill>
            <a:srgbClr val="F1F4F3"/>
          </a:solidFill>
          <a:ln w="12700">
            <a:solidFill>
              <a:srgbClr val="8C8C8C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8121701" y="2395728"/>
            <a:ext cx="3503066" cy="73152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47" name="Text 45"/>
          <p:cNvSpPr/>
          <p:nvPr/>
        </p:nvSpPr>
        <p:spPr>
          <a:xfrm>
            <a:off x="8377733" y="2487168"/>
            <a:ext cx="3045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377733" y="2852928"/>
            <a:ext cx="30458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· 실제 구현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96021" y="3392424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0" name="Text 48"/>
          <p:cNvSpPr/>
          <p:nvPr/>
        </p:nvSpPr>
        <p:spPr>
          <a:xfrm>
            <a:off x="8633765" y="3291840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구현 · API 개발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396021" y="3867912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2" name="Text 50"/>
          <p:cNvSpPr/>
          <p:nvPr/>
        </p:nvSpPr>
        <p:spPr>
          <a:xfrm>
            <a:off x="8633765" y="3767328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구축 · 운영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396021" y="4343400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4" name="Text 52"/>
          <p:cNvSpPr/>
          <p:nvPr/>
        </p:nvSpPr>
        <p:spPr>
          <a:xfrm>
            <a:off x="8633765" y="4242816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충전기 실연동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8396021" y="48188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6" name="Text 54"/>
          <p:cNvSpPr/>
          <p:nvPr/>
        </p:nvSpPr>
        <p:spPr>
          <a:xfrm>
            <a:off x="8633765" y="4718304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· 테스트 · 배포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8377733" y="5047488"/>
            <a:ext cx="3045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프로젝트 범위 외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66928" y="5650992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6928" y="5650992"/>
            <a:ext cx="128016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950976" y="5650992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분석에서 멈추지 않고, 개발이 즉시 착수 가능한 설계 산출물까지 완성했습니다. (산출물 상세 → 부록)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34095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ARTIFACTS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 — 산출물 3개 묶음으로 구체화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737360"/>
            <a:ext cx="3503066" cy="388620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737360"/>
            <a:ext cx="3503066" cy="768096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1737360"/>
            <a:ext cx="23143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통신 · 로직 설계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3137306" y="1975104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137306" y="197510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" y="2761488"/>
            <a:ext cx="365760" cy="365760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2724912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1.6-J 데이터 명세서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87552" y="3145536"/>
            <a:ext cx="0" cy="329184"/>
          </a:xfrm>
          <a:prstGeom prst="line">
            <a:avLst/>
          </a:prstGeom>
          <a:noFill/>
          <a:ln w="19050">
            <a:solidFill>
              <a:srgbClr val="02A1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3474720"/>
            <a:ext cx="365760" cy="365760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3438144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 다이어그램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87552" y="3858768"/>
            <a:ext cx="0" cy="329184"/>
          </a:xfrm>
          <a:prstGeom prst="line">
            <a:avLst/>
          </a:prstGeom>
          <a:noFill/>
          <a:ln w="19050">
            <a:solidFill>
              <a:srgbClr val="02A1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4187952"/>
            <a:ext cx="365760" cy="365760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4151376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Flow Chart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4672" y="4782312"/>
            <a:ext cx="3027578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910328"/>
            <a:ext cx="30458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↔ 충전기 통신과 충전 동작 로직을 정의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44314" y="1737360"/>
            <a:ext cx="3503066" cy="388620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4314" y="1737360"/>
            <a:ext cx="3503066" cy="76809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6" name="Text 34"/>
          <p:cNvSpPr/>
          <p:nvPr/>
        </p:nvSpPr>
        <p:spPr>
          <a:xfrm>
            <a:off x="4582058" y="1737360"/>
            <a:ext cx="23143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설계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6914693" y="1975104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914693" y="197510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82058" y="2761488"/>
            <a:ext cx="365760" cy="36576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40" name="Text 38"/>
          <p:cNvSpPr/>
          <p:nvPr/>
        </p:nvSpPr>
        <p:spPr>
          <a:xfrm>
            <a:off x="4582058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57546" y="2724912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(엔티티·관계 모델링)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764938" y="3145536"/>
            <a:ext cx="0" cy="329184"/>
          </a:xfrm>
          <a:prstGeom prst="line">
            <a:avLst/>
          </a:prstGeom>
          <a:noFill/>
          <a:ln w="19050">
            <a:solidFill>
              <a:srgbClr val="03C7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82058" y="3474720"/>
            <a:ext cx="365760" cy="36576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44" name="Text 42"/>
          <p:cNvSpPr/>
          <p:nvPr/>
        </p:nvSpPr>
        <p:spPr>
          <a:xfrm>
            <a:off x="4582058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57546" y="3438144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구조 설계 (DDL)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582058" y="4782312"/>
            <a:ext cx="3027578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82058" y="4910328"/>
            <a:ext cx="30458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서비스·VOC 데이터 구조를 실행 가능한 스키마로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121701" y="1737360"/>
            <a:ext cx="3503066" cy="388620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21701" y="1737360"/>
            <a:ext cx="3503066" cy="76809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0" name="Text 48"/>
          <p:cNvSpPr/>
          <p:nvPr/>
        </p:nvSpPr>
        <p:spPr>
          <a:xfrm>
            <a:off x="8359445" y="1737360"/>
            <a:ext cx="23143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· 화면 기획</a:t>
            </a:r>
            <a:endParaRPr lang="en-US" sz="1550" dirty="0"/>
          </a:p>
        </p:txBody>
      </p:sp>
      <p:sp>
        <p:nvSpPr>
          <p:cNvPr id="51" name="Shape 49"/>
          <p:cNvSpPr/>
          <p:nvPr/>
        </p:nvSpPr>
        <p:spPr>
          <a:xfrm>
            <a:off x="10692079" y="1975104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10692079" y="197510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359445" y="2761488"/>
            <a:ext cx="365760" cy="36576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4" name="Text 52"/>
          <p:cNvSpPr/>
          <p:nvPr/>
        </p:nvSpPr>
        <p:spPr>
          <a:xfrm>
            <a:off x="8359445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834933" y="2724912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시나리오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8542325" y="3145536"/>
            <a:ext cx="0" cy="329184"/>
          </a:xfrm>
          <a:prstGeom prst="line">
            <a:avLst/>
          </a:prstGeom>
          <a:noFill/>
          <a:ln w="19050">
            <a:solidFill>
              <a:srgbClr val="03C75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59445" y="3474720"/>
            <a:ext cx="365760" cy="36576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8" name="Text 56"/>
          <p:cNvSpPr/>
          <p:nvPr/>
        </p:nvSpPr>
        <p:spPr>
          <a:xfrm>
            <a:off x="8359445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834933" y="3438144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스토리보드 (화면설계서)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8542325" y="3858768"/>
            <a:ext cx="0" cy="329184"/>
          </a:xfrm>
          <a:prstGeom prst="line">
            <a:avLst/>
          </a:prstGeom>
          <a:noFill/>
          <a:ln w="19050">
            <a:solidFill>
              <a:srgbClr val="03C75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59445" y="4187952"/>
            <a:ext cx="365760" cy="36576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62" name="Text 60"/>
          <p:cNvSpPr/>
          <p:nvPr/>
        </p:nvSpPr>
        <p:spPr>
          <a:xfrm>
            <a:off x="8359445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8834933" y="4151376"/>
            <a:ext cx="25886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프로토타이핑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8359445" y="4782312"/>
            <a:ext cx="3027578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59445" y="4910328"/>
            <a:ext cx="30458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흐름과 화면을 검증 가능한 형태로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66928" y="5779008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6928" y="5779008"/>
            <a:ext cx="128016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950976" y="5779008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순서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통신·로직 → 데이터 → UX·화면 순으로 설계·기획했고, 각 산출물 실물은 부록에서 확인할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34095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데이터에서 기능으로 — 모든 기능에 근거를 붙이다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91640"/>
            <a:ext cx="11057839" cy="50292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근거 (Pain Point)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13048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67528" y="1691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도출한 기능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488168" y="1691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2194560"/>
            <a:ext cx="11057839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219456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불안정 27.6%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75888" y="219456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충전앱 1위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67528" y="219456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세션·앱 안정성 (자동 복구)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424160" y="2377440"/>
            <a:ext cx="768096" cy="384048"/>
          </a:xfrm>
          <a:prstGeom prst="roundRect">
            <a:avLst>
              <a:gd name="adj" fmla="val 19048"/>
            </a:avLst>
          </a:prstGeom>
          <a:solidFill>
            <a:srgbClr val="EB5757"/>
          </a:solidFill>
          <a:ln/>
        </p:spPr>
      </p:sp>
      <p:sp>
        <p:nvSpPr>
          <p:cNvPr id="26" name="Text 24"/>
          <p:cNvSpPr/>
          <p:nvPr/>
        </p:nvSpPr>
        <p:spPr>
          <a:xfrm>
            <a:off x="10424160" y="237744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2944368"/>
            <a:ext cx="11057839" cy="749808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294436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계정·인증·KYC 15.0%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75888" y="2944368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충전앱 2위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67528" y="2944368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간편 온보딩 · 외국인 친화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424160" y="3127248"/>
            <a:ext cx="768096" cy="384048"/>
          </a:xfrm>
          <a:prstGeom prst="roundRect">
            <a:avLst>
              <a:gd name="adj" fmla="val 19048"/>
            </a:avLst>
          </a:prstGeom>
          <a:solidFill>
            <a:srgbClr val="EB5757"/>
          </a:solidFill>
          <a:ln/>
        </p:spPr>
      </p:sp>
      <p:sp>
        <p:nvSpPr>
          <p:cNvPr id="32" name="Text 30"/>
          <p:cNvSpPr/>
          <p:nvPr/>
        </p:nvSpPr>
        <p:spPr>
          <a:xfrm>
            <a:off x="10424160" y="312724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" y="3694176"/>
            <a:ext cx="11057839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" y="3694176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결제·지갑 11.0%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75888" y="3694176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충전앱 3위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67528" y="369417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지갑·결제 안정 · 결제 확인 화면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424160" y="3877056"/>
            <a:ext cx="768096" cy="384048"/>
          </a:xfrm>
          <a:prstGeom prst="roundRect">
            <a:avLst>
              <a:gd name="adj" fmla="val 19048"/>
            </a:avLst>
          </a:prstGeom>
          <a:solidFill>
            <a:srgbClr val="03C75A"/>
          </a:solidFill>
          <a:ln/>
        </p:spPr>
      </p:sp>
      <p:sp>
        <p:nvSpPr>
          <p:cNvPr id="38" name="Text 36"/>
          <p:cNvSpPr/>
          <p:nvPr/>
        </p:nvSpPr>
        <p:spPr>
          <a:xfrm>
            <a:off x="10424160" y="387705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66928" y="4443984"/>
            <a:ext cx="11057839" cy="749808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" y="4443984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외국인·다국어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75888" y="4443984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 Neg 65.8%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67528" y="44439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UI · 국제 결제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424160" y="4626864"/>
            <a:ext cx="768096" cy="384048"/>
          </a:xfrm>
          <a:prstGeom prst="roundRect">
            <a:avLst>
              <a:gd name="adj" fmla="val 19048"/>
            </a:avLst>
          </a:prstGeom>
          <a:solidFill>
            <a:srgbClr val="03C75A"/>
          </a:solidFill>
          <a:ln/>
        </p:spPr>
      </p:sp>
      <p:sp>
        <p:nvSpPr>
          <p:cNvPr id="44" name="Text 42"/>
          <p:cNvSpPr/>
          <p:nvPr/>
        </p:nvSpPr>
        <p:spPr>
          <a:xfrm>
            <a:off x="10424160" y="462686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66928" y="5193792"/>
            <a:ext cx="11057839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" y="5193792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충전소·위치 2.4%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675888" y="519379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충전앱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367528" y="5193792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충전소 지도 · 세션 표시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0424160" y="5376672"/>
            <a:ext cx="768096" cy="384048"/>
          </a:xfrm>
          <a:prstGeom prst="roundRect">
            <a:avLst>
              <a:gd name="adj" fmla="val 19048"/>
            </a:avLst>
          </a:prstGeom>
          <a:solidFill>
            <a:srgbClr val="03C75A"/>
          </a:solidFill>
          <a:ln/>
        </p:spPr>
      </p:sp>
      <p:sp>
        <p:nvSpPr>
          <p:cNvPr id="50" name="Text 48"/>
          <p:cNvSpPr/>
          <p:nvPr/>
        </p:nvSpPr>
        <p:spPr>
          <a:xfrm>
            <a:off x="10424160" y="537667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66928" y="605332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‘느낌’이 아니라 건수로 — 모든 기능 카드 뒤에 정량 데이터가 붙어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34095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STRATEGY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포지셔닝 — 가격 × 품질·기능으로 본 목표 좌표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17320" y="1874520"/>
            <a:ext cx="3200400" cy="1805940"/>
          </a:xfrm>
          <a:prstGeom prst="rect">
            <a:avLst/>
          </a:prstGeom>
          <a:solidFill>
            <a:srgbClr val="E7F5F2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1947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저가 · 고기능 (목표)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874520"/>
            <a:ext cx="0" cy="3611880"/>
          </a:xfrm>
          <a:prstGeom prst="line">
            <a:avLst/>
          </a:prstGeom>
          <a:noFill/>
          <a:ln w="12700">
            <a:solidFill>
              <a:srgbClr val="8C8C8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417320" y="3680460"/>
            <a:ext cx="640080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325880" y="1581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품질 · 기능 높음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17320" y="5541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저렴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60520" y="5541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29400" y="5541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비쌈 ▶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61488" y="2404872"/>
            <a:ext cx="384048" cy="384048"/>
          </a:xfrm>
          <a:prstGeom prst="ellipse">
            <a:avLst/>
          </a:prstGeom>
          <a:solidFill>
            <a:srgbClr val="03C75A"/>
          </a:solidFill>
          <a:ln w="19050">
            <a:solidFill>
              <a:srgbClr val="02A1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2450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KOKKOK EV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19088" y="2405786"/>
            <a:ext cx="237744" cy="237744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27" name="Text 25"/>
          <p:cNvSpPr/>
          <p:nvPr/>
        </p:nvSpPr>
        <p:spPr>
          <a:xfrm>
            <a:off x="6693408" y="237835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EV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266944" y="3200400"/>
            <a:ext cx="237744" cy="23774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29" name="Text 27"/>
          <p:cNvSpPr/>
          <p:nvPr/>
        </p:nvSpPr>
        <p:spPr>
          <a:xfrm>
            <a:off x="5541264" y="3172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PTT blueplus+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42816" y="4175608"/>
            <a:ext cx="237744" cy="237744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1" name="Text 29"/>
          <p:cNvSpPr/>
          <p:nvPr/>
        </p:nvSpPr>
        <p:spPr>
          <a:xfrm>
            <a:off x="4517136" y="41481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82896" y="4789627"/>
            <a:ext cx="237744" cy="237744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33" name="Text 31"/>
          <p:cNvSpPr/>
          <p:nvPr/>
        </p:nvSpPr>
        <p:spPr>
          <a:xfrm>
            <a:off x="5157216" y="4762195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 VOLTA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10712" y="4500677"/>
            <a:ext cx="237744" cy="237744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35" name="Text 33"/>
          <p:cNvSpPr/>
          <p:nvPr/>
        </p:nvSpPr>
        <p:spPr>
          <a:xfrm>
            <a:off x="3685032" y="4473245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EleXA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0" y="1874520"/>
            <a:ext cx="3395167" cy="3886200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1874520"/>
            <a:ext cx="128016" cy="38862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8" name="Text 36"/>
          <p:cNvSpPr/>
          <p:nvPr/>
        </p:nvSpPr>
        <p:spPr>
          <a:xfrm>
            <a:off x="8577072" y="2075688"/>
            <a:ext cx="28465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목표 좌표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77072" y="2633472"/>
            <a:ext cx="137160" cy="13716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40" name="Text 38"/>
          <p:cNvSpPr/>
          <p:nvPr/>
        </p:nvSpPr>
        <p:spPr>
          <a:xfrm>
            <a:off x="8833104" y="2542032"/>
            <a:ext cx="24807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저가 · 고기능 — ‘싸고 잘 되는’ 빈 사분면을 선점.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77072" y="3310128"/>
            <a:ext cx="137160" cy="13716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42" name="Text 40"/>
          <p:cNvSpPr/>
          <p:nvPr/>
        </p:nvSpPr>
        <p:spPr>
          <a:xfrm>
            <a:off x="8833104" y="3218688"/>
            <a:ext cx="24807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4,000₭ — 라오스 최저 단가 + 11개 기능·앱 안정성.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577072" y="3986784"/>
            <a:ext cx="137160" cy="13716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44" name="Text 42"/>
          <p:cNvSpPr/>
          <p:nvPr/>
        </p:nvSpPr>
        <p:spPr>
          <a:xfrm>
            <a:off x="8833104" y="3895344"/>
            <a:ext cx="24807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EV(현지 1위) 대비 7% 저렴 + kWh 단일 과금.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77072" y="4663440"/>
            <a:ext cx="137160" cy="13716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46" name="Text 44"/>
          <p:cNvSpPr/>
          <p:nvPr/>
        </p:nvSpPr>
        <p:spPr>
          <a:xfrm>
            <a:off x="8833104" y="4572000"/>
            <a:ext cx="24807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PTT는 별점 1위지만 TOU·예약비로 복잡 (태국 한정).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77072" y="5166360"/>
            <a:ext cx="28465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가격축은 공식 단가(태국 3사·V-Green·LOCA 수집) 기준, 품질·기능축은 별점·기능 수 기반 정성 평가.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34095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PRD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기능 정의 — 앱 6 + HW 5 = 11개 (가치 · MoSCoW)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554480"/>
            <a:ext cx="11057839" cy="38404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155448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99616" y="1554480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39896" y="1554480"/>
            <a:ext cx="3465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51776" y="155448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가치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52176" y="1554480"/>
            <a:ext cx="10177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1938528"/>
            <a:ext cx="11057839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" y="1981962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03C75A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198196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99616" y="1938528"/>
            <a:ext cx="20939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세션 자동 복구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39896" y="1938528"/>
            <a:ext cx="34655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앱·네트워크 오류 시 세션 서버 저장·자동 복구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51776" y="1938528"/>
            <a:ext cx="30540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중 끊겨도 처음부터 다시 안 함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585552" y="1977390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EB5757"/>
          </a:solidFill>
          <a:ln/>
        </p:spPr>
      </p:sp>
      <p:sp>
        <p:nvSpPr>
          <p:cNvPr id="29" name="Text 27"/>
          <p:cNvSpPr/>
          <p:nvPr/>
        </p:nvSpPr>
        <p:spPr>
          <a:xfrm>
            <a:off x="10585552" y="197739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" y="2263140"/>
            <a:ext cx="11057839" cy="324612"/>
          </a:xfrm>
          <a:prstGeom prst="rect">
            <a:avLst/>
          </a:prstGeom>
          <a:solidFill>
            <a:srgbClr val="EAF1E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" y="2306574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03C75A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" y="2306574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499616" y="2263140"/>
            <a:ext cx="20939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재시도 + 수동 입력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39896" y="2263140"/>
            <a:ext cx="34655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실패 시 자동 재시도 후 6자리 수동 입력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51776" y="2263140"/>
            <a:ext cx="30540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안 돼도 충전 시작 가능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585552" y="2302002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EB5757"/>
          </a:solidFill>
          <a:ln/>
        </p:spPr>
      </p:sp>
      <p:sp>
        <p:nvSpPr>
          <p:cNvPr id="37" name="Text 35"/>
          <p:cNvSpPr/>
          <p:nvPr/>
        </p:nvSpPr>
        <p:spPr>
          <a:xfrm>
            <a:off x="10585552" y="230200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" y="2587752"/>
            <a:ext cx="11057839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4944" y="2631186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03C75A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" y="263118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499616" y="2587752"/>
            <a:ext cx="20939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오프라인 결제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739896" y="2587752"/>
            <a:ext cx="34655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통신 불안정 시 RFID 카드 태깅 결제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51776" y="2587752"/>
            <a:ext cx="30540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끊겨도 결제·충전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585552" y="2626614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/>
        </p:spPr>
      </p:sp>
      <p:sp>
        <p:nvSpPr>
          <p:cNvPr id="45" name="Text 43"/>
          <p:cNvSpPr/>
          <p:nvPr/>
        </p:nvSpPr>
        <p:spPr>
          <a:xfrm>
            <a:off x="10585552" y="262661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" y="2912364"/>
            <a:ext cx="11057839" cy="324612"/>
          </a:xfrm>
          <a:prstGeom prst="rect">
            <a:avLst/>
          </a:prstGeom>
          <a:solidFill>
            <a:srgbClr val="EAF1E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4944" y="2955798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03C75A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" y="295579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499616" y="2912364"/>
            <a:ext cx="20939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확인 화면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739896" y="2912364"/>
            <a:ext cx="34655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완료 → 충전 시작 상태 명시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351776" y="2912364"/>
            <a:ext cx="30540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‘결제됐는데 충전 안 됨’ 불안 해소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0585552" y="2951226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/>
        </p:spPr>
      </p:sp>
      <p:sp>
        <p:nvSpPr>
          <p:cNvPr id="53" name="Text 51"/>
          <p:cNvSpPr/>
          <p:nvPr/>
        </p:nvSpPr>
        <p:spPr>
          <a:xfrm>
            <a:off x="10585552" y="295122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66928" y="3236976"/>
            <a:ext cx="11057839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4944" y="3280410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03C75A"/>
          </a:solidFill>
          <a:ln/>
        </p:spPr>
      </p:sp>
      <p:sp>
        <p:nvSpPr>
          <p:cNvPr id="56" name="Text 54"/>
          <p:cNvSpPr/>
          <p:nvPr/>
        </p:nvSpPr>
        <p:spPr>
          <a:xfrm>
            <a:off x="694944" y="328041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499616" y="3236976"/>
            <a:ext cx="20939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충전소 지도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739896" y="3236976"/>
            <a:ext cx="34655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가용 충전기 실시간 표시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351776" y="3236976"/>
            <a:ext cx="30540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헛걸음 없이 빈 충전기 탐색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0585552" y="3275838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/>
        </p:spPr>
      </p:sp>
      <p:sp>
        <p:nvSpPr>
          <p:cNvPr id="61" name="Text 59"/>
          <p:cNvSpPr/>
          <p:nvPr/>
        </p:nvSpPr>
        <p:spPr>
          <a:xfrm>
            <a:off x="10585552" y="327583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66928" y="3561588"/>
            <a:ext cx="11057839" cy="324612"/>
          </a:xfrm>
          <a:prstGeom prst="rect">
            <a:avLst/>
          </a:prstGeom>
          <a:solidFill>
            <a:srgbClr val="EAF1E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4944" y="3605022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03C75A"/>
          </a:solidFill>
          <a:ln/>
        </p:spPr>
      </p:sp>
      <p:sp>
        <p:nvSpPr>
          <p:cNvPr id="64" name="Text 62"/>
          <p:cNvSpPr/>
          <p:nvPr/>
        </p:nvSpPr>
        <p:spPr>
          <a:xfrm>
            <a:off x="694944" y="360502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499616" y="3561588"/>
            <a:ext cx="20939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완료 알림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3739896" y="3561588"/>
            <a:ext cx="34655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5분 전 푸시 알림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351776" y="3561588"/>
            <a:ext cx="30540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점유 페널티·대기 회피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0585552" y="3600450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/>
        </p:spPr>
      </p:sp>
      <p:sp>
        <p:nvSpPr>
          <p:cNvPr id="69" name="Text 67"/>
          <p:cNvSpPr/>
          <p:nvPr/>
        </p:nvSpPr>
        <p:spPr>
          <a:xfrm>
            <a:off x="10585552" y="360045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66928" y="3886200"/>
            <a:ext cx="11057839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6928" y="3886200"/>
            <a:ext cx="11057839" cy="22860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" y="3929634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02A14B"/>
          </a:solidFill>
          <a:ln/>
        </p:spPr>
      </p:sp>
      <p:sp>
        <p:nvSpPr>
          <p:cNvPr id="73" name="Text 71"/>
          <p:cNvSpPr/>
          <p:nvPr/>
        </p:nvSpPr>
        <p:spPr>
          <a:xfrm>
            <a:off x="694944" y="3929634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499616" y="3886200"/>
            <a:ext cx="20939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2.0.1 준수 검증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3739896" y="3886200"/>
            <a:ext cx="34655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제조사 OCPP 규격 준수 사전 검증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351776" y="3886200"/>
            <a:ext cx="30540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앱↔기기 통신 실패 근본 차단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585552" y="3925062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EB5757"/>
          </a:solidFill>
          <a:ln/>
        </p:spPr>
      </p:sp>
      <p:sp>
        <p:nvSpPr>
          <p:cNvPr id="78" name="Text 76"/>
          <p:cNvSpPr/>
          <p:nvPr/>
        </p:nvSpPr>
        <p:spPr>
          <a:xfrm>
            <a:off x="10585552" y="392506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66928" y="4210812"/>
            <a:ext cx="11057839" cy="324612"/>
          </a:xfrm>
          <a:prstGeom prst="rect">
            <a:avLst/>
          </a:prstGeom>
          <a:solidFill>
            <a:srgbClr val="EAF1E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4944" y="4254246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02A14B"/>
          </a:solidFill>
          <a:ln/>
        </p:spPr>
      </p:sp>
      <p:sp>
        <p:nvSpPr>
          <p:cNvPr id="81" name="Text 79"/>
          <p:cNvSpPr/>
          <p:nvPr/>
        </p:nvSpPr>
        <p:spPr>
          <a:xfrm>
            <a:off x="694944" y="425424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1499616" y="4210812"/>
            <a:ext cx="20939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충전기 상태 모니터링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3739896" y="4210812"/>
            <a:ext cx="34655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충전기 상태·고장 실시간 감지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351776" y="4210812"/>
            <a:ext cx="30540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고장 충전기 헛시도 방지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0585552" y="4249674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EB5757"/>
          </a:solidFill>
          <a:ln/>
        </p:spPr>
      </p:sp>
      <p:sp>
        <p:nvSpPr>
          <p:cNvPr id="86" name="Text 84"/>
          <p:cNvSpPr/>
          <p:nvPr/>
        </p:nvSpPr>
        <p:spPr>
          <a:xfrm>
            <a:off x="10585552" y="424967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566928" y="4535424"/>
            <a:ext cx="11057839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4944" y="4578858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02A14B"/>
          </a:solidFill>
          <a:ln/>
        </p:spPr>
      </p:sp>
      <p:sp>
        <p:nvSpPr>
          <p:cNvPr id="89" name="Text 87"/>
          <p:cNvSpPr/>
          <p:nvPr/>
        </p:nvSpPr>
        <p:spPr>
          <a:xfrm>
            <a:off x="694944" y="457885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499616" y="4535424"/>
            <a:ext cx="20939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Handshake 오류 로그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3739896" y="4535424"/>
            <a:ext cx="34655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앱-기기 통신 인증 오류 수집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7351776" y="4535424"/>
            <a:ext cx="30540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원인 신속 파악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10585552" y="4574286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/>
        </p:spPr>
      </p:sp>
      <p:sp>
        <p:nvSpPr>
          <p:cNvPr id="94" name="Text 92"/>
          <p:cNvSpPr/>
          <p:nvPr/>
        </p:nvSpPr>
        <p:spPr>
          <a:xfrm>
            <a:off x="10585552" y="457428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566928" y="4860036"/>
            <a:ext cx="11057839" cy="324612"/>
          </a:xfrm>
          <a:prstGeom prst="rect">
            <a:avLst/>
          </a:prstGeom>
          <a:solidFill>
            <a:srgbClr val="EAF1E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94944" y="4903470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02A14B"/>
          </a:solidFill>
          <a:ln/>
        </p:spPr>
      </p:sp>
      <p:sp>
        <p:nvSpPr>
          <p:cNvPr id="97" name="Text 95"/>
          <p:cNvSpPr/>
          <p:nvPr/>
        </p:nvSpPr>
        <p:spPr>
          <a:xfrm>
            <a:off x="694944" y="490347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1499616" y="4860036"/>
            <a:ext cx="20939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충전기 펌웨어 OTA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3739896" y="4860036"/>
            <a:ext cx="34655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원격 펌웨어 업데이트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7351776" y="4860036"/>
            <a:ext cx="30540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방문 없이 결함 대응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10585552" y="4898898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/>
        </p:spPr>
      </p:sp>
      <p:sp>
        <p:nvSpPr>
          <p:cNvPr id="102" name="Text 100"/>
          <p:cNvSpPr/>
          <p:nvPr/>
        </p:nvSpPr>
        <p:spPr>
          <a:xfrm>
            <a:off x="10585552" y="489889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566928" y="5184648"/>
            <a:ext cx="11057839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94944" y="5228082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02A14B"/>
          </a:solidFill>
          <a:ln/>
        </p:spPr>
      </p:sp>
      <p:sp>
        <p:nvSpPr>
          <p:cNvPr id="105" name="Text 103"/>
          <p:cNvSpPr/>
          <p:nvPr/>
        </p:nvSpPr>
        <p:spPr>
          <a:xfrm>
            <a:off x="694944" y="522808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1499616" y="5184648"/>
            <a:ext cx="20939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충전기 고장 신고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3739896" y="5184648"/>
            <a:ext cx="34655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내 고장 신고 기능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7351776" y="5184648"/>
            <a:ext cx="30540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충전기 빠른 처리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10585552" y="5223510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/>
        </p:spPr>
      </p:sp>
      <p:sp>
        <p:nvSpPr>
          <p:cNvPr id="110" name="Text 108"/>
          <p:cNvSpPr/>
          <p:nvPr/>
        </p:nvSpPr>
        <p:spPr>
          <a:xfrm>
            <a:off x="10585552" y="522351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566928" y="560070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KPI 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별점 2.56 → </a:t>
            </a:r>
            <a:pPr indent="0" marL="0">
              <a:buNone/>
            </a:pPr>
            <a:r>
              <a:rPr lang="en-US" sz="12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3.8점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저별점 58% → </a:t>
            </a:r>
            <a:pPr indent="0" marL="0">
              <a:buNone/>
            </a:pPr>
            <a:r>
              <a:rPr lang="en-US" sz="12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7201632" y="5600700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MoSCoW: Must(필수)·Should(권장)·Could(선택) — P0→Must·P1→Should·P2→Could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34095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JOURNEY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여정 지도 — 감정선과 터치포인트, 그리고 개선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1691640"/>
            <a:ext cx="20652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1691640"/>
            <a:ext cx="2065264" cy="8229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1792224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탐색·발견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2103120"/>
            <a:ext cx="184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터치포인트 · 앱 지도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51648" y="1691640"/>
            <a:ext cx="20652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1648" y="1691640"/>
            <a:ext cx="2065264" cy="8229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2" name="Text 20"/>
          <p:cNvSpPr/>
          <p:nvPr/>
        </p:nvSpPr>
        <p:spPr>
          <a:xfrm>
            <a:off x="2961376" y="1792224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QR 스캔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61376" y="2103120"/>
            <a:ext cx="184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터치포인트 · 충전기 QR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63216" y="1691640"/>
            <a:ext cx="20652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63216" y="1691640"/>
            <a:ext cx="2065264" cy="8229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6" name="Text 24"/>
          <p:cNvSpPr/>
          <p:nvPr/>
        </p:nvSpPr>
        <p:spPr>
          <a:xfrm>
            <a:off x="5172944" y="1792224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결제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72944" y="2103120"/>
            <a:ext cx="184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터치포인트 · 결제 화면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74784" y="1691640"/>
            <a:ext cx="20652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74784" y="1691640"/>
            <a:ext cx="2065264" cy="8229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0" name="Text 28"/>
          <p:cNvSpPr/>
          <p:nvPr/>
        </p:nvSpPr>
        <p:spPr>
          <a:xfrm>
            <a:off x="7384512" y="1792224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충전 진행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84512" y="2103120"/>
            <a:ext cx="184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터치포인트 · 충전 상태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86351" y="1691640"/>
            <a:ext cx="20652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6351" y="1691640"/>
            <a:ext cx="2065264" cy="8229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4" name="Text 32"/>
          <p:cNvSpPr/>
          <p:nvPr/>
        </p:nvSpPr>
        <p:spPr>
          <a:xfrm>
            <a:off x="9596079" y="1792224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완료·정산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596079" y="2103120"/>
            <a:ext cx="184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터치포인트 · 완료 알림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2670048"/>
            <a:ext cx="11057839" cy="1517904"/>
          </a:xfrm>
          <a:prstGeom prst="roundRect">
            <a:avLst>
              <a:gd name="adj" fmla="val 4819"/>
            </a:avLst>
          </a:prstGeom>
          <a:solidFill>
            <a:srgbClr val="F7FAF9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26243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만족 ▲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4944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불만 ▼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15807" y="2779776"/>
            <a:ext cx="365760" cy="0"/>
          </a:xfrm>
          <a:prstGeom prst="line">
            <a:avLst/>
          </a:prstGeom>
          <a:noFill/>
          <a:ln w="31750">
            <a:solidFill>
              <a:srgbClr val="EB57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73007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(현재)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253167" y="2779776"/>
            <a:ext cx="365760" cy="0"/>
          </a:xfrm>
          <a:prstGeom prst="line">
            <a:avLst/>
          </a:prstGeom>
          <a:noFill/>
          <a:ln w="31750">
            <a:solidFill>
              <a:srgbClr val="03C7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10367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(개선)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672712" y="3364992"/>
            <a:ext cx="2211568" cy="448056"/>
          </a:xfrm>
          <a:prstGeom prst="line">
            <a:avLst/>
          </a:prstGeom>
          <a:noFill/>
          <a:ln w="31750">
            <a:solidFill>
              <a:srgbClr val="EB575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672712" y="3019349"/>
            <a:ext cx="2211568" cy="25603"/>
          </a:xfrm>
          <a:prstGeom prst="line">
            <a:avLst/>
          </a:prstGeom>
          <a:noFill/>
          <a:ln w="31750">
            <a:solidFill>
              <a:srgbClr val="03C7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884280" y="3749040"/>
            <a:ext cx="2211568" cy="64008"/>
          </a:xfrm>
          <a:prstGeom prst="line">
            <a:avLst/>
          </a:prstGeom>
          <a:noFill/>
          <a:ln w="31750">
            <a:solidFill>
              <a:srgbClr val="EB575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84280" y="3019349"/>
            <a:ext cx="2211568" cy="0"/>
          </a:xfrm>
          <a:prstGeom prst="line">
            <a:avLst/>
          </a:prstGeom>
          <a:noFill/>
          <a:ln w="31750">
            <a:solidFill>
              <a:srgbClr val="03C7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095848" y="3685032"/>
            <a:ext cx="2211568" cy="64008"/>
          </a:xfrm>
          <a:prstGeom prst="line">
            <a:avLst/>
          </a:prstGeom>
          <a:noFill/>
          <a:ln w="31750">
            <a:solidFill>
              <a:srgbClr val="EB575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6095848" y="2980944"/>
            <a:ext cx="2211568" cy="38405"/>
          </a:xfrm>
          <a:prstGeom prst="line">
            <a:avLst/>
          </a:prstGeom>
          <a:noFill/>
          <a:ln w="31750">
            <a:solidFill>
              <a:srgbClr val="03C7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8307415" y="3364992"/>
            <a:ext cx="2211568" cy="320040"/>
          </a:xfrm>
          <a:prstGeom prst="line">
            <a:avLst/>
          </a:prstGeom>
          <a:noFill/>
          <a:ln w="31750">
            <a:solidFill>
              <a:srgbClr val="EB575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07415" y="2980944"/>
            <a:ext cx="2211568" cy="0"/>
          </a:xfrm>
          <a:prstGeom prst="line">
            <a:avLst/>
          </a:prstGeom>
          <a:noFill/>
          <a:ln w="31750">
            <a:solidFill>
              <a:srgbClr val="03C7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81272" y="2953512"/>
            <a:ext cx="182880" cy="18288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2" name="Shape 50"/>
          <p:cNvSpPr/>
          <p:nvPr/>
        </p:nvSpPr>
        <p:spPr>
          <a:xfrm>
            <a:off x="1581272" y="3273552"/>
            <a:ext cx="182880" cy="182880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53" name="Shape 51"/>
          <p:cNvSpPr/>
          <p:nvPr/>
        </p:nvSpPr>
        <p:spPr>
          <a:xfrm>
            <a:off x="3792840" y="2927909"/>
            <a:ext cx="182880" cy="18288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4" name="Shape 52"/>
          <p:cNvSpPr/>
          <p:nvPr/>
        </p:nvSpPr>
        <p:spPr>
          <a:xfrm>
            <a:off x="3792840" y="3721608"/>
            <a:ext cx="182880" cy="182880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55" name="Shape 53"/>
          <p:cNvSpPr/>
          <p:nvPr/>
        </p:nvSpPr>
        <p:spPr>
          <a:xfrm>
            <a:off x="6004408" y="2927909"/>
            <a:ext cx="182880" cy="18288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6" name="Shape 54"/>
          <p:cNvSpPr/>
          <p:nvPr/>
        </p:nvSpPr>
        <p:spPr>
          <a:xfrm>
            <a:off x="6004408" y="3657600"/>
            <a:ext cx="182880" cy="182880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57" name="Shape 55"/>
          <p:cNvSpPr/>
          <p:nvPr/>
        </p:nvSpPr>
        <p:spPr>
          <a:xfrm>
            <a:off x="8215975" y="2889504"/>
            <a:ext cx="182880" cy="18288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8" name="Shape 56"/>
          <p:cNvSpPr/>
          <p:nvPr/>
        </p:nvSpPr>
        <p:spPr>
          <a:xfrm>
            <a:off x="8215975" y="3593592"/>
            <a:ext cx="182880" cy="182880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59" name="Shape 57"/>
          <p:cNvSpPr/>
          <p:nvPr/>
        </p:nvSpPr>
        <p:spPr>
          <a:xfrm>
            <a:off x="10427543" y="2889504"/>
            <a:ext cx="182880" cy="18288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60" name="Shape 58"/>
          <p:cNvSpPr/>
          <p:nvPr/>
        </p:nvSpPr>
        <p:spPr>
          <a:xfrm>
            <a:off x="10427543" y="3273552"/>
            <a:ext cx="182880" cy="182880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61" name="Text 59"/>
          <p:cNvSpPr/>
          <p:nvPr/>
        </p:nvSpPr>
        <p:spPr>
          <a:xfrm>
            <a:off x="658368" y="4279392"/>
            <a:ext cx="202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충전소 위치·가용 정보 부족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40080" y="4956048"/>
            <a:ext cx="2065264" cy="566928"/>
          </a:xfrm>
          <a:prstGeom prst="roundRect">
            <a:avLst>
              <a:gd name="adj" fmla="val 9677"/>
            </a:avLst>
          </a:prstGeom>
          <a:solidFill>
            <a:srgbClr val="E7F5F2"/>
          </a:solidFill>
          <a:ln w="12700">
            <a:solidFill>
              <a:srgbClr val="B6E2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" y="4956048"/>
            <a:ext cx="184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[F5] 실시간 충전소 지도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869936" y="4279392"/>
            <a:ext cx="202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인식 실패·앱 멈춤 (앱 불안정 27.6%)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851648" y="4956048"/>
            <a:ext cx="2065264" cy="566928"/>
          </a:xfrm>
          <a:prstGeom prst="roundRect">
            <a:avLst>
              <a:gd name="adj" fmla="val 9677"/>
            </a:avLst>
          </a:prstGeom>
          <a:solidFill>
            <a:srgbClr val="E7F5F2"/>
          </a:solidFill>
          <a:ln w="12700">
            <a:solidFill>
              <a:srgbClr val="B6E2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61376" y="4956048"/>
            <a:ext cx="184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[F2] 자동 재시도 + 수동 입력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081504" y="4279392"/>
            <a:ext cx="202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후 충전 안 됨 (결제·지갑 11.0%)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063216" y="4956048"/>
            <a:ext cx="2065264" cy="566928"/>
          </a:xfrm>
          <a:prstGeom prst="roundRect">
            <a:avLst>
              <a:gd name="adj" fmla="val 9677"/>
            </a:avLst>
          </a:prstGeom>
          <a:solidFill>
            <a:srgbClr val="E7F5F2"/>
          </a:solidFill>
          <a:ln w="12700">
            <a:solidFill>
              <a:srgbClr val="B6E2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72944" y="4956048"/>
            <a:ext cx="184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[F4] RFID · [F5] 결제 확인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293072" y="4279392"/>
            <a:ext cx="202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끊김 → 처음부터 재시작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274784" y="4956048"/>
            <a:ext cx="2065264" cy="566928"/>
          </a:xfrm>
          <a:prstGeom prst="roundRect">
            <a:avLst>
              <a:gd name="adj" fmla="val 9677"/>
            </a:avLst>
          </a:prstGeom>
          <a:solidFill>
            <a:srgbClr val="E7F5F2"/>
          </a:solidFill>
          <a:ln w="12700">
            <a:solidFill>
              <a:srgbClr val="B6E2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84512" y="4956048"/>
            <a:ext cx="184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[F1] 세션 자동 복구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9504639" y="4279392"/>
            <a:ext cx="202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점유 페널티·헛걸음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486351" y="4956048"/>
            <a:ext cx="2065264" cy="566928"/>
          </a:xfrm>
          <a:prstGeom prst="roundRect">
            <a:avLst>
              <a:gd name="adj" fmla="val 9677"/>
            </a:avLst>
          </a:prstGeom>
          <a:solidFill>
            <a:srgbClr val="E7F5F2"/>
          </a:solidFill>
          <a:ln w="12700">
            <a:solidFill>
              <a:srgbClr val="B6E2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596079" y="4956048"/>
            <a:ext cx="184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[F11] 완료 알림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66928" y="5669280"/>
            <a:ext cx="11057839" cy="502920"/>
          </a:xfrm>
          <a:prstGeom prst="roundRect">
            <a:avLst>
              <a:gd name="adj" fmla="val 14545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66928" y="5669280"/>
            <a:ext cx="128016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950976" y="5669280"/>
            <a:ext cx="103263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감정선이 꺼지는 지점(QR·결제·충전)마다 PRD 기능이 정확히 개입 — 골짜기를 메워 To-Be 곡선을 끌어올립니다.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34095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FLOW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기획 ② 충전 서비스 핵심 Flow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3144" y="205740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3144" y="2057400"/>
            <a:ext cx="1755648" cy="4572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8" name="Text 16"/>
          <p:cNvSpPr/>
          <p:nvPr/>
        </p:nvSpPr>
        <p:spPr>
          <a:xfrm>
            <a:off x="57287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0344" y="20574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4584" y="26243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탐색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2872" y="333756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가용 상태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00504" y="2971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365096" y="205740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65096" y="2057400"/>
            <a:ext cx="1755648" cy="4572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5" name="Text 23"/>
          <p:cNvSpPr/>
          <p:nvPr/>
        </p:nvSpPr>
        <p:spPr>
          <a:xfrm>
            <a:off x="247482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822296" y="20574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56536" y="26243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스캔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474824" y="333756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시 자동 재시도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수동 ID 입력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02456" y="2971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267048" y="205740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67048" y="2057400"/>
            <a:ext cx="1755648" cy="4572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2" name="Text 30"/>
          <p:cNvSpPr/>
          <p:nvPr/>
        </p:nvSpPr>
        <p:spPr>
          <a:xfrm>
            <a:off x="437677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24248" y="20574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F4·F5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58488" y="26243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376776" y="333756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충전식 결제 / RFID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확인 화면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04408" y="2971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169000" y="205740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69000" y="2057400"/>
            <a:ext cx="1755648" cy="457200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39" name="Text 37"/>
          <p:cNvSpPr/>
          <p:nvPr/>
        </p:nvSpPr>
        <p:spPr>
          <a:xfrm>
            <a:off x="627872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26200" y="20574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0440" y="26243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Handshake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78728" y="333756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앱↔충전기 통신 인증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로그 수집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906360" y="2971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070952" y="205740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70952" y="2057400"/>
            <a:ext cx="1755648" cy="4572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46" name="Text 44"/>
          <p:cNvSpPr/>
          <p:nvPr/>
        </p:nvSpPr>
        <p:spPr>
          <a:xfrm>
            <a:off x="81806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28152" y="20574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162392" y="26243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진행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180680" y="333756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서버 저장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 30초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808312" y="2971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972904" y="205740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72904" y="2057400"/>
            <a:ext cx="1755648" cy="457200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53" name="Text 51"/>
          <p:cNvSpPr/>
          <p:nvPr/>
        </p:nvSpPr>
        <p:spPr>
          <a:xfrm>
            <a:off x="1008263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430104" y="20574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064344" y="26243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완료·정산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0082632" y="3337560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5분 전 알림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유예 10분·유휴 과금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706728" y="4892040"/>
            <a:ext cx="182880" cy="18288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8" name="Text 56"/>
          <p:cNvSpPr/>
          <p:nvPr/>
        </p:nvSpPr>
        <p:spPr>
          <a:xfrm>
            <a:off x="1962760" y="48280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플로우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084168" y="4892040"/>
            <a:ext cx="182880" cy="18288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60" name="Text 58"/>
          <p:cNvSpPr/>
          <p:nvPr/>
        </p:nvSpPr>
        <p:spPr>
          <a:xfrm>
            <a:off x="4340200" y="48280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기능 [Fx]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461608" y="4892040"/>
            <a:ext cx="182880" cy="182880"/>
          </a:xfrm>
          <a:prstGeom prst="ellipse">
            <a:avLst/>
          </a:prstGeom>
          <a:solidFill>
            <a:srgbClr val="02A14B"/>
          </a:solidFill>
          <a:ln/>
        </p:spPr>
      </p:sp>
      <p:sp>
        <p:nvSpPr>
          <p:cNvPr id="62" name="Text 60"/>
          <p:cNvSpPr/>
          <p:nvPr/>
        </p:nvSpPr>
        <p:spPr>
          <a:xfrm>
            <a:off x="6717640" y="48280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연동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8839048" y="4892040"/>
            <a:ext cx="182880" cy="182880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64" name="Text 62"/>
          <p:cNvSpPr/>
          <p:nvPr/>
        </p:nvSpPr>
        <p:spPr>
          <a:xfrm>
            <a:off x="9095080" y="48280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분기 대응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66928" y="5349240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2688" y="534924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오류는 예외가 아니라 기본값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QR 실패·OCPP 오류·세션 끊김 등 데이터에서 확인된 실패 지점마다 복구 분기를 플로우에 내장했습니다.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34095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HARDWARE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기획 ③ OCPP 1.6J 연동 — 제조사 3사 스펙 검증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45920"/>
            <a:ext cx="7589520" cy="50292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1645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항목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35808" y="1645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NANCOME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73168" y="1645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10528" y="1645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2148840"/>
            <a:ext cx="75895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148840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버전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35808" y="2148840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1.6J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2148840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1.6J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10528" y="2148840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1.6J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2825496"/>
            <a:ext cx="7589520" cy="676656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2825496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프로토콜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35808" y="282549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Profile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282549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1 &amp; 2 (TLS)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10528" y="282549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1.2+ WSS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3502152"/>
            <a:ext cx="75895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502152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오프라인 인증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35808" y="3502152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화이트리스트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3502152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단절 시 충전 유지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10528" y="3502152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오프라인 허용/차단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4178808"/>
            <a:ext cx="7589520" cy="676656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178808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kWh 자동종료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35808" y="417880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RemoteStop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3168" y="417880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자체 Local Stop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10528" y="417880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의존(Backend)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" y="4855464"/>
            <a:ext cx="75895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4855464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펌웨어 OTA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35808" y="4855464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(VPN/OCPP)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73168" y="4855464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(OTA)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10528" y="4855464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(Ability)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30768" y="1645920"/>
            <a:ext cx="3193999" cy="388620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30768" y="1645920"/>
            <a:ext cx="128016" cy="38862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48" name="Text 46"/>
          <p:cNvSpPr/>
          <p:nvPr/>
        </p:nvSpPr>
        <p:spPr>
          <a:xfrm>
            <a:off x="8778240" y="1847088"/>
            <a:ext cx="26453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직접 검증했나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8778240" y="2286000"/>
            <a:ext cx="259963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분석에서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호환문제가 169건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최다 → 제조사별 실제 스펙을 직접 대조했습니다.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발견: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1.6 ChargingProfile은 ‘속도 한도’ 제어용이라 목표 kWh 자동종료가 불가 →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RemoteStop / 기기 Local Stop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등 제조사별 우회 설계를 요금정책에 반영.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34095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POLICY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기획 ④ 요금 정책 — LOCA EV 벤치마킹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64208"/>
            <a:ext cx="7040880" cy="512064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16642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71216" y="166420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EV (경쟁사)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94376" y="166420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(제안)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2176272"/>
            <a:ext cx="70408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17627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기반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52928" y="2176272"/>
            <a:ext cx="2258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가승인 / 후불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76088" y="2176272"/>
            <a:ext cx="2258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충전식 결제 (사용한도 후불)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2852928"/>
            <a:ext cx="7040880" cy="676656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285292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과금 방식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52928" y="2852928"/>
            <a:ext cx="2258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시간(분) + 전력량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76088" y="2852928"/>
            <a:ext cx="2258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전력량(kWh) 단일 — 공정성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3529584"/>
            <a:ext cx="70408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352958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 단가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52928" y="3529584"/>
            <a:ext cx="2258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4,300 ₭/kWh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76088" y="3529584"/>
            <a:ext cx="2258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₭/kWh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4206240"/>
            <a:ext cx="7040880" cy="676656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420624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유휴 유예 시간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52928" y="4206240"/>
            <a:ext cx="2258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7분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76088" y="4206240"/>
            <a:ext cx="2258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10분 (넉넉한 유예)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4882896"/>
            <a:ext cx="70408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488289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 보증금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852928" y="4882896"/>
            <a:ext cx="2258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276088" y="4882896"/>
            <a:ext cx="2258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₭ (노쇼 방지)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882128" y="1664208"/>
            <a:ext cx="3742639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82128" y="1664208"/>
            <a:ext cx="109728" cy="118872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42" name="Text 40"/>
          <p:cNvSpPr/>
          <p:nvPr/>
        </p:nvSpPr>
        <p:spPr>
          <a:xfrm>
            <a:off x="8174736" y="1773936"/>
            <a:ext cx="3285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충전식 결제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174736" y="2176272"/>
            <a:ext cx="32854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실시간 계량으로 사용량·사용한도 관리 → 한도 내 사용 후 후불 정산, 미수금 방지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882128" y="3017520"/>
            <a:ext cx="3742639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82128" y="3017520"/>
            <a:ext cx="109728" cy="118872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46" name="Text 44"/>
          <p:cNvSpPr/>
          <p:nvPr/>
        </p:nvSpPr>
        <p:spPr>
          <a:xfrm>
            <a:off x="8174736" y="3127248"/>
            <a:ext cx="3285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kWh 단일 과금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8174736" y="3529584"/>
            <a:ext cx="32854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과금 제거로 사용자 체감 공정성 확보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882128" y="4370832"/>
            <a:ext cx="3742639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82128" y="4370832"/>
            <a:ext cx="109728" cy="1188720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50" name="Text 48"/>
          <p:cNvSpPr/>
          <p:nvPr/>
        </p:nvSpPr>
        <p:spPr>
          <a:xfrm>
            <a:off x="8174736" y="4480560"/>
            <a:ext cx="3285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단가 설계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8174736" y="4882896"/>
            <a:ext cx="32854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Pain Point 해소 + 경쟁사 단가 대비 가격 우위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34095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POLICY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완성된 정책안 — 요금 체계 &amp; 운영 규칙 (vs LOCA EV)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91640"/>
            <a:ext cx="6583680" cy="4572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70048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(확정)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EV (참고)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2148840"/>
            <a:ext cx="6583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48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방식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51760" y="21488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충전식 결제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21488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가승인·후불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651760"/>
            <a:ext cx="6583680" cy="502920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651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최소 잔액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51760" y="26517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₭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37760" y="26517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 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3154680"/>
            <a:ext cx="6583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154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과금 방식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651760" y="31546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전력량(kWh) 단일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37760" y="31546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시간(분) + kWh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3657600"/>
            <a:ext cx="6583680" cy="502920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657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 단가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651760" y="365760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₭/kWh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37760" y="365760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4,300 ₭/kWh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4160520"/>
            <a:ext cx="6583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160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수수료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651760" y="416052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7,000 ₭ (4분 초과)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937760" y="416052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7,000 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4663440"/>
            <a:ext cx="6583680" cy="502920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4663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유휴 페널티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651760" y="46634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₭/분 · 10분 유예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937760" y="46634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₭ · 7분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" y="5166360"/>
            <a:ext cx="6583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5166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 보증금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2651760" y="51663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₭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937760" y="51663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" y="576072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차별점 — wallet 충전식 결제(사용한도 후불) · kWh 단일 과금 · 유휴 유예 +3분 · 예약 보증금(노쇼 방지)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424928" y="1691640"/>
            <a:ext cx="4199839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24928" y="1691640"/>
            <a:ext cx="128016" cy="397764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1" name="Text 49"/>
          <p:cNvSpPr/>
          <p:nvPr/>
        </p:nvSpPr>
        <p:spPr>
          <a:xfrm>
            <a:off x="7790688" y="1874520"/>
            <a:ext cx="3559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규칙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790688" y="2450592"/>
            <a:ext cx="146304" cy="14630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3" name="Text 51"/>
          <p:cNvSpPr/>
          <p:nvPr/>
        </p:nvSpPr>
        <p:spPr>
          <a:xfrm>
            <a:off x="8065008" y="2368296"/>
            <a:ext cx="3285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· 정산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사용한도 기반 후불제 → 한도 내 사용 후 후불 정산 · 한도 도달 시 충전 자동 종료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790688" y="3291840"/>
            <a:ext cx="146304" cy="14630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5" name="Text 53"/>
          <p:cNvSpPr/>
          <p:nvPr/>
        </p:nvSpPr>
        <p:spPr>
          <a:xfrm>
            <a:off x="8065008" y="3209544"/>
            <a:ext cx="3285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시작 조건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충전기 Available · 통신 정상 · 최소 잔액 · 1계정 1충전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7790688" y="4133088"/>
            <a:ext cx="146304" cy="14630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7" name="Text 55"/>
          <p:cNvSpPr/>
          <p:nvPr/>
        </p:nvSpPr>
        <p:spPr>
          <a:xfrm>
            <a:off x="8065008" y="4050792"/>
            <a:ext cx="3285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종료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완충(BMS) · 종료 버튼 · 5분 통신 단절 자동 종료 · 잔액 소진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790688" y="4974336"/>
            <a:ext cx="146304" cy="146304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9" name="Text 57"/>
          <p:cNvSpPr/>
          <p:nvPr/>
        </p:nvSpPr>
        <p:spPr>
          <a:xfrm>
            <a:off x="8065008" y="4892040"/>
            <a:ext cx="3285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충전기 상태 (OCPP)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Faulted · Offline 상태는 시작 버튼 자동 비활성화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34095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사업성 — 충전 유닛 이코노믹스 (가정 기반 시나리오)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91640"/>
            <a:ext cx="4846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18379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kWh당 마진 구조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2313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 단가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61488" y="2313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₭/kWh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32688" y="2770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전력 원가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61488" y="2770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~647 ₭/kWh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32688" y="3227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총마진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61488" y="3227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3,350 ₭/kWh · 84%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41248" y="35204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 전력 잉여·저가 → 충전 원가의 구조적 우위 (운영비 차감 전 총마진)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87568" y="1691640"/>
            <a:ext cx="5937199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1837944"/>
            <a:ext cx="5388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회수 민감도 — 변수는 가동률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61888" y="2258568"/>
            <a:ext cx="22631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가동률 (일 충전)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5083" y="2258568"/>
            <a:ext cx="15626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총마진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87765" y="2258568"/>
            <a:ext cx="15626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회수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61888" y="2569464"/>
            <a:ext cx="538855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61888" y="2642616"/>
            <a:ext cx="22631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보수 · 40 kWh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25083" y="2642616"/>
            <a:ext cx="1562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49M ₭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787765" y="2642616"/>
            <a:ext cx="1562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~8년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961888" y="3044952"/>
            <a:ext cx="22631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 · 80 kWh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25083" y="3044952"/>
            <a:ext cx="1562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98M ₭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787765" y="3044952"/>
            <a:ext cx="1562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~4년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961888" y="3447288"/>
            <a:ext cx="22631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낙관 · 150 kWh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5083" y="3447288"/>
            <a:ext cx="1562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184M ₭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787765" y="3447288"/>
            <a:ext cx="1562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~2.2년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961888" y="3593592"/>
            <a:ext cx="5388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가정: 급속충전기 1기 CAPEX ~4억₭(≈$18k) · 세션 ~10kWh · 마진 3,350₭(운영비 별도)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4206240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4206240"/>
            <a:ext cx="146304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78408" y="4361688"/>
            <a:ext cx="102348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— 마진은 구조적으로 높다(84%). 변수는 ‘가동률’이다.
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Move 드라이버(현지 라이드헤일링 운영)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그 가동률을 보장한다 — LOCA가 택시앱 드라이버로 1년 내 회수한 바로 그 레버. ⚠️ 가정치이며, 보수 시나리오에서도 사업성 확보 구간.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7766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" name="Text 3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벤치마크·경쟁사 선정 — 데이터 분석 vs 경영진 (범위별)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45920"/>
            <a:ext cx="11057839" cy="4572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96896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가리키는 대상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28816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경영진 구상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49056" y="1645920"/>
            <a:ext cx="31025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장 · 단점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2103120"/>
            <a:ext cx="11057839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2103120"/>
            <a:ext cx="82296" cy="107899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2103120"/>
            <a:ext cx="17007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 국한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(진입 시장)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96896" y="2103120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EV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현지 1위·40개소·1년 회수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28816" y="210312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EV  ✓ 일치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49056" y="2103120"/>
            <a:ext cx="310255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 동일 시장·모델·검증된 사업성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－ VOC 7건뿐 → UX 분석엔 한계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3182112"/>
            <a:ext cx="11057839" cy="1078992"/>
          </a:xfrm>
          <a:prstGeom prst="rect">
            <a:avLst/>
          </a:prstGeom>
          <a:solidFill>
            <a:srgbClr val="EAF1E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3182112"/>
            <a:ext cx="82296" cy="1078992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3182112"/>
            <a:ext cx="17007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역내 통합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(라오스+태국+베트남)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96896" y="3182112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PTT blueplus+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(태국·UX 1위 3.11) ·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VinFast·Xanh SM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(베트남→라오스·위협) · Green SM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28816" y="3182112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미지정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49056" y="3182112"/>
            <a:ext cx="310255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 UX 품질 기준·미래/경쟁 동학 대비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－ 시장·규모 상이 → 직접 이식엔 한계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437083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차이의 원인 —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경영진은 ‘진입 시장(현지)’ 렌즈로 LOCA를, 데이터는 ‘역내(성숙 시장·EV 선례)’ 렌즈로 PTT·Xanh SM을 가리킴 → 대상이 틀린 게 아니라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범위(scope)가 다른 것 — 상호보완.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864608"/>
            <a:ext cx="11057839" cy="1078992"/>
          </a:xfrm>
          <a:prstGeom prst="roundRect">
            <a:avLst>
              <a:gd name="adj" fmla="val 6780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4864608"/>
            <a:ext cx="146304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978408" y="5010912"/>
            <a:ext cx="102348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— LOCA EV를 경쟁사·벤치마크로 채택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(동일 비즈모델·동일 시장·검증된 현지 사업성·동급 스케일). 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보완: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PTT blueplus+ = UX 품질 지향점 · VinFast·Xanh SM = 추적할 위협. → 경영진 판단을 데이터로 검증·강화.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34095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우리가 이기나 — LOCA EV(지정 벤치마크) 대비 3대 우위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64208"/>
            <a:ext cx="3503066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664208"/>
            <a:ext cx="3503066" cy="512064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664208"/>
            <a:ext cx="32287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앵커 수요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2322576"/>
            <a:ext cx="306415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Move 드라이버(현지 라이드헤일링 운영) = 고정·고빈도 충전 수요 → 가동률 리스크↓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슈퍼앱(쇼핑·결제) 교차판매로 고객당 가치(LTV)↑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LOCA가 택시앱으로 검증한 모델을 동일 보유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4314" y="1664208"/>
            <a:ext cx="3503066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4314" y="1664208"/>
            <a:ext cx="3503066" cy="512064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2" name="Text 20"/>
          <p:cNvSpPr/>
          <p:nvPr/>
        </p:nvSpPr>
        <p:spPr>
          <a:xfrm>
            <a:off x="4508906" y="1664208"/>
            <a:ext cx="32287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요금·UX 우위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82058" y="2322576"/>
            <a:ext cx="306415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4,000₭ &lt; LOCA 4,300₭ · kWh 단일 과금(투명)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충전식 결제(사용한도 후불) → 미수금 방지 · 노쇼 보증금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충전앱 공통 약점 ‘앱 불안정 27.6%’를 안정성으로 정면 차별화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21701" y="1664208"/>
            <a:ext cx="3503066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21701" y="1664208"/>
            <a:ext cx="3503066" cy="512064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26" name="Text 24"/>
          <p:cNvSpPr/>
          <p:nvPr/>
        </p:nvSpPr>
        <p:spPr>
          <a:xfrm>
            <a:off x="8286293" y="1664208"/>
            <a:ext cx="32287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표준·중립·현지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59445" y="2322576"/>
            <a:ext cx="306415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1.6J 표준 — 멀티 제조사 호환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차량 브랜드 중립(특정 OEM 비종속)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현지 운영 기반 → 인허가·부지·실행 속도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80060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800600"/>
            <a:ext cx="146304" cy="1051560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30" name="Text 28"/>
          <p:cNvSpPr/>
          <p:nvPr/>
        </p:nvSpPr>
        <p:spPr>
          <a:xfrm>
            <a:off x="978408" y="4928616"/>
            <a:ext cx="102348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8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추가로 포착한 위협 — VinFast·Xanh SM (뉴스 점유율 1위, Vingroup).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차량+라이드헤일링+자본을 결합해 라오스 진입 중 — 지정 벤치마크(LOCA) 밖의 실제 경쟁자. 대응: 드라이버 앵커 수요·브랜드 중립·현지 실행 속도로 선점.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2A1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04895" y="-6400800"/>
            <a:ext cx="16459200" cy="16459200"/>
          </a:xfrm>
          <a:prstGeom prst="ellipse">
            <a:avLst/>
          </a:prstGeom>
          <a:solidFill>
            <a:srgbClr val="03C75A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48095" y="-4114800"/>
            <a:ext cx="10972800" cy="10972800"/>
          </a:xfrm>
          <a:prstGeom prst="ellipse">
            <a:avLst/>
          </a:prstGeom>
          <a:solidFill>
            <a:srgbClr val="2DD46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82735" y="-1280160"/>
            <a:ext cx="5943600" cy="5943600"/>
          </a:xfrm>
          <a:prstGeom prst="ellipse">
            <a:avLst/>
          </a:prstGeom>
          <a:solidFill>
            <a:srgbClr val="C9F2D8">
              <a:alpha val="4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4206240"/>
            <a:ext cx="114144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612648" y="250545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DFFB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05   ·   IMPACT &amp; RETROSPECTIVE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907792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 &amp; 회고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612648" y="4224528"/>
            <a:ext cx="9144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4407408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가능한 목표 · 리스크·가정·한계 · 배운 것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86239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 — 데이터로 세운 목표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6568" y="17830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6568" y="1783080"/>
            <a:ext cx="2697480" cy="1097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8" name="Text 16"/>
          <p:cNvSpPr/>
          <p:nvPr/>
        </p:nvSpPr>
        <p:spPr>
          <a:xfrm>
            <a:off x="518008" y="20939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2.56  →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8008" y="2368296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pPr algn="ctr" indent="0" marL="0">
              <a:buNone/>
            </a:pPr>
            <a:r>
              <a:rPr lang="en-US" sz="22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518008" y="34838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별점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6296" y="38862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PTT 벤치마크 추월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06928" y="17830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06928" y="1783080"/>
            <a:ext cx="2697480" cy="1097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4" name="Text 22"/>
          <p:cNvSpPr/>
          <p:nvPr/>
        </p:nvSpPr>
        <p:spPr>
          <a:xfrm>
            <a:off x="3398368" y="20939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58%  →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398368" y="2368296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pPr algn="ctr" indent="0" marL="0">
              <a:buNone/>
            </a:pPr>
            <a:r>
              <a:rPr lang="en-US" sz="22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3398368" y="34838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1~2점 저별점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16656" y="38862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안정성 개선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87288" y="17830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7288" y="1783080"/>
            <a:ext cx="2697480" cy="109728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30" name="Text 28"/>
          <p:cNvSpPr/>
          <p:nvPr/>
        </p:nvSpPr>
        <p:spPr>
          <a:xfrm>
            <a:off x="6278728" y="20939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27.6%  →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78728" y="2368296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pPr algn="ctr" indent="0" marL="0">
              <a:buNone/>
            </a:pPr>
            <a:r>
              <a:rPr lang="en-US" sz="22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6278728" y="34838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충전앱 앱 불안정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97016" y="38862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안정성(½)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67648" y="17830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67648" y="1783080"/>
            <a:ext cx="2697480" cy="109728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36" name="Text 34"/>
          <p:cNvSpPr/>
          <p:nvPr/>
        </p:nvSpPr>
        <p:spPr>
          <a:xfrm>
            <a:off x="9159088" y="20939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15.0%  →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159088" y="2368296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ctr" indent="0" marL="0">
              <a:buNone/>
            </a:pPr>
            <a:r>
              <a:rPr lang="en-US" sz="220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000" dirty="0"/>
          </a:p>
        </p:txBody>
      </p:sp>
      <p:sp>
        <p:nvSpPr>
          <p:cNvPr id="38" name="Text 36"/>
          <p:cNvSpPr/>
          <p:nvPr/>
        </p:nvSpPr>
        <p:spPr>
          <a:xfrm>
            <a:off x="9159088" y="34838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계정·KYC 온보딩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77376" y="38862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이탈 절반 목표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4892040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" y="4892040"/>
            <a:ext cx="146304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978408" y="4892040"/>
            <a:ext cx="1023487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가능한 목표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KPI는 수집한 28,890건 리뷰의 현재 baseline에서 출발합니다.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후 동일 파이프라인으로 재측정해 개선 효과를 검증할 수 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86239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ASK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로드맵 &amp; 제안 — 단계별 투자·의사결정 게이트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91640"/>
            <a:ext cx="2593010" cy="306324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691640"/>
            <a:ext cx="2593010" cy="71323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1764792"/>
            <a:ext cx="2336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· 0~3개월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2039112"/>
            <a:ext cx="2336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49808" y="2532888"/>
            <a:ext cx="224553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비엔티안 · KOKKOK Move 드라이버 대상 급속 N기</a:t>
            </a:r>
            <a:endParaRPr lang="en-US" sz="1000" dirty="0"/>
          </a:p>
          <a:p>
            <a:pPr marL="139700" indent="-1397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안정성·KYC·결제 MVP</a:t>
            </a:r>
            <a:endParaRPr lang="en-US" sz="1000" dirty="0"/>
          </a:p>
          <a:p>
            <a:pPr marL="139700" indent="-1397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게이트: 가동률·크래시프리·온보딩 완료율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41650" y="299466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388538" y="1691640"/>
            <a:ext cx="2593010" cy="306324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8538" y="1691640"/>
            <a:ext cx="2593010" cy="713232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24" name="Text 22"/>
          <p:cNvSpPr/>
          <p:nvPr/>
        </p:nvSpPr>
        <p:spPr>
          <a:xfrm>
            <a:off x="3534842" y="1764792"/>
            <a:ext cx="2336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3~9개월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34842" y="2039112"/>
            <a:ext cx="2336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거점 확장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571418" y="2532888"/>
            <a:ext cx="224553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비엔티안 네트워크 확대 + 슈퍼앱 통합</a:t>
            </a:r>
            <a:endParaRPr lang="en-US" sz="1000" dirty="0"/>
          </a:p>
          <a:p>
            <a:pPr marL="139700" indent="-1397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EV 오너 유입</a:t>
            </a:r>
            <a:endParaRPr lang="en-US" sz="1000" dirty="0"/>
          </a:p>
          <a:p>
            <a:pPr marL="139700" indent="-1397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게이트: 충전기당 회수 궤도·재방문율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63260" y="299466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10148" y="1691640"/>
            <a:ext cx="2593010" cy="306324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0148" y="1691640"/>
            <a:ext cx="2593010" cy="71323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0" name="Text 28"/>
          <p:cNvSpPr/>
          <p:nvPr/>
        </p:nvSpPr>
        <p:spPr>
          <a:xfrm>
            <a:off x="6356452" y="1764792"/>
            <a:ext cx="2336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9~18개월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6452" y="2039112"/>
            <a:ext cx="2336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2거점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393028" y="2532888"/>
            <a:ext cx="224553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사반나켓 진출(양대 거점)</a:t>
            </a:r>
            <a:endParaRPr lang="en-US" sz="1000" dirty="0"/>
          </a:p>
          <a:p>
            <a:pPr marL="139700" indent="-1397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결제·다국어</a:t>
            </a:r>
            <a:endParaRPr lang="en-US" sz="1000" dirty="0"/>
          </a:p>
          <a:p>
            <a:pPr marL="139700" indent="-1397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게이트: 단가 흑자 전환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84869" y="299466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031757" y="1691640"/>
            <a:ext cx="2593010" cy="306324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31757" y="1691640"/>
            <a:ext cx="2593010" cy="713232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36" name="Text 34"/>
          <p:cNvSpPr/>
          <p:nvPr/>
        </p:nvSpPr>
        <p:spPr>
          <a:xfrm>
            <a:off x="9178061" y="1764792"/>
            <a:ext cx="2336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18~36개월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78061" y="2039112"/>
            <a:ext cx="2336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규모화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214637" y="2532888"/>
            <a:ext cx="224553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규모화·로밍</a:t>
            </a:r>
            <a:endParaRPr lang="en-US" sz="1000" dirty="0"/>
          </a:p>
          <a:p>
            <a:pPr marL="139700" indent="-1397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데이터 기반 신사업</a:t>
            </a:r>
            <a:endParaRPr lang="en-US" sz="1000" dirty="0"/>
          </a:p>
          <a:p>
            <a:pPr marL="139700" indent="-1397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게이트: 네트워크 BEP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" y="4919472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4919472"/>
            <a:ext cx="14630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978408" y="5047488"/>
            <a:ext cx="102348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제안(Ask) — Phase 0 파일럿 승인: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급속충전기 N기 CAPEX + 전담팀(기획·앱·HW협업) + N개월. 리스크는 파일럿으로 제한하고, 가동률·앱 지표·회수 궤도가 게이트를 통과할 때만 다음 단계 자본을 투입(단계적 go/no-go).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EA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규모는 가정·제안치.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86239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회고 — 계획은 데이터 앞에서 계속 바뀌었다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69848" y="3401568"/>
            <a:ext cx="10051999" cy="0"/>
          </a:xfrm>
          <a:prstGeom prst="line">
            <a:avLst/>
          </a:prstGeom>
          <a:noFill/>
          <a:ln w="25400">
            <a:solidFill>
              <a:srgbClr val="03C75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01168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" y="2304288"/>
            <a:ext cx="1792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앱 3 → 5개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8408" y="3310128"/>
            <a:ext cx="182880" cy="182880"/>
          </a:xfrm>
          <a:prstGeom prst="ellipse">
            <a:avLst/>
          </a:prstGeom>
          <a:solidFill>
            <a:srgbClr val="03C75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" y="36576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 EV 리뷰 7건뿐 → 태국 비교군 추가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11568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84136" y="2304288"/>
            <a:ext cx="1792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뉴스·HW 수집 추가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88808" y="3310128"/>
            <a:ext cx="182880" cy="182880"/>
          </a:xfrm>
          <a:prstGeom prst="ellipse">
            <a:avLst/>
          </a:prstGeom>
          <a:solidFill>
            <a:srgbClr val="03C75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84136" y="36576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VOC와 시장정보 분리 필요 → 테이블 분리 설계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21968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94536" y="2304288"/>
            <a:ext cx="1792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번역 → 다국어 직접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99208" y="3310128"/>
            <a:ext cx="182880" cy="182880"/>
          </a:xfrm>
          <a:prstGeom prst="ellipse">
            <a:avLst/>
          </a:prstGeom>
          <a:solidFill>
            <a:srgbClr val="03C75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94536" y="36576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12시간 병목 → XLM-RoBERTa로 2시간 단축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2368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04936" y="2304288"/>
            <a:ext cx="1792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집계 → Python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009608" y="3310128"/>
            <a:ext cx="182880" cy="182880"/>
          </a:xfrm>
          <a:prstGeom prst="ellipse">
            <a:avLst/>
          </a:prstGeom>
          <a:solidFill>
            <a:srgbClr val="03C75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4936" y="36576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10초 timeout → 배치·pandas 처리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42767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15335" y="2304288"/>
            <a:ext cx="1792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분류 확장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20007" y="3310128"/>
            <a:ext cx="182880" cy="182880"/>
          </a:xfrm>
          <a:prstGeom prst="ellipse">
            <a:avLst/>
          </a:prstGeom>
          <a:solidFill>
            <a:srgbClr val="03C75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15335" y="36576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Negative만 → 전체 리뷰로 확대 (긍·중립 포함)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253167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225735" y="2304288"/>
            <a:ext cx="1792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스키마 컬럼 보강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1030407" y="3310128"/>
            <a:ext cx="182880" cy="182880"/>
          </a:xfrm>
          <a:prstGeom prst="ellipse">
            <a:avLst/>
          </a:prstGeom>
          <a:solidFill>
            <a:srgbClr val="03C75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25735" y="36576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중 오류 발견 → ALTER TABLE 즉시 대응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6928" y="5074920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8408" y="5074920"/>
            <a:ext cx="102348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 것  </a:t>
            </a:r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계획대로 된 건 거의 없었지만, 매 변경마다 ‘왜’를 데이터로 설명할 수 있었습니다. 그 과정 자체가 PM의 근거였습니다.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86239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9" name="Text 7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ASSUMPTIONS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· 가정 · 한계 — 정직하게 남겨둔 것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91640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691640"/>
            <a:ext cx="3503066" cy="512064"/>
          </a:xfrm>
          <a:prstGeom prst="rect">
            <a:avLst/>
          </a:prstGeom>
          <a:solidFill>
            <a:srgbClr val="EB575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691640"/>
            <a:ext cx="32287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한계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2368296"/>
            <a:ext cx="306415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92%가 Green SM(베트남 라이드헤일링) → 충전 전용 표본은 1,227건으로 작음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 1차 데이터 희소(LOCA 7건·KOKKOK 378) · 라오어 NLP·Google 색인 취약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재분류 후에도 ‘기타’ 16.6% 잔존(오타·초단문 등 비분류성)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 뉴스는 추정 — 인과 주장에 한계 · 뉴스 SoV는 인지도 프록시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4314" y="1691640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4314" y="1691640"/>
            <a:ext cx="3503066" cy="512064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2" name="Text 20"/>
          <p:cNvSpPr/>
          <p:nvPr/>
        </p:nvSpPr>
        <p:spPr>
          <a:xfrm>
            <a:off x="4508906" y="1691640"/>
            <a:ext cx="32287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· 실행 리스크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82058" y="2368296"/>
            <a:ext cx="306415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VinFast·Xanh SM 공격적 진입(뉴스 점유율 1위) → 경쟁 심화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Move 현지 인지도 약세 → 마케팅·차별화 부담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인프라 확장 비용 · 전력·부지 의존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API 제약으로 Facebook(현지 핵심 채널) 미수집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21701" y="1691640"/>
            <a:ext cx="3503066" cy="370332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21701" y="1691640"/>
            <a:ext cx="3503066" cy="512064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26" name="Text 24"/>
          <p:cNvSpPr/>
          <p:nvPr/>
        </p:nvSpPr>
        <p:spPr>
          <a:xfrm>
            <a:off x="8286293" y="1691640"/>
            <a:ext cx="32287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가정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59445" y="2368296"/>
            <a:ext cx="306415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내연기관 수입 중단(2026) → EV 수요 급증이 지속된다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LOCA의 ‘1년 내 투자금 회수’ 모델이 재현 가능하다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안정성·온보딩 개선이 별점·점유율 상승으로 이어진다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Move의 기존 현지 운영 기반이 충전 확장의 강점이 된다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532120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03C75A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5532120"/>
            <a:ext cx="146304" cy="841248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30" name="Text 28"/>
          <p:cNvSpPr/>
          <p:nvPr/>
        </p:nvSpPr>
        <p:spPr>
          <a:xfrm>
            <a:off x="978408" y="5532120"/>
            <a:ext cx="102348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한계를 숨기지 않고 명시했습니다. 다음 단계는 Facebook 인지도·라오어 커뮤니티 수집으로 라오스 1차 데이터를 더 채우는 것입니다.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657600"/>
            <a:ext cx="4572000" cy="4572000"/>
          </a:xfrm>
          <a:prstGeom prst="ellipse">
            <a:avLst/>
          </a:prstGeom>
          <a:solidFill>
            <a:srgbClr val="C9F2D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solidFill>
            <a:srgbClr val="C9F2D8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정리하며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2648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문제를 풀고,
</a:t>
            </a:r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근거로 서비스를 설계했습니다.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82880" cy="18288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3611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38,600+ 건의 멀티채널 VOC를 직접 수집·전처리·분석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4251960"/>
            <a:ext cx="182880" cy="18288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‘앱오류=OCPP’ 가설을 도메인 분리 재분류로 검증·수정 — VOC 92%가 라이드헤일링이었다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4800600"/>
            <a:ext cx="182880" cy="18288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12" name="Text 10"/>
          <p:cNvSpPr/>
          <p:nvPr/>
        </p:nvSpPr>
        <p:spPr>
          <a:xfrm>
            <a:off x="978408" y="4709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· 플로우 · OCPP 연동 · 요금정책까지 실제 산출물로 연결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5715000"/>
            <a:ext cx="10874959" cy="0"/>
          </a:xfrm>
          <a:prstGeom prst="line">
            <a:avLst/>
          </a:prstGeom>
          <a:noFill/>
          <a:ln w="19050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5943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  </a:t>
            </a:r>
            <a:pPr indent="0" marL="0">
              <a:buNone/>
            </a:pPr>
            <a:r>
              <a:rPr lang="en-US" sz="18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56655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코코넛사일로 · KOKKOK EV  |  마수한 · 김재희  |  2026-06-19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645920"/>
            <a:ext cx="4206240" cy="4206240"/>
          </a:xfrm>
          <a:prstGeom prst="ellipse">
            <a:avLst/>
          </a:prstGeom>
          <a:solidFill>
            <a:srgbClr val="C9F2D8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— 단계별 산출물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 → 기획 → 설계 전 과정에서 실제로 만든 산출물 + 용어 사전입니다. (발표 시 생략 · 열람·Q&amp;A용)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" y="3520440"/>
            <a:ext cx="109728" cy="18288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3520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산출물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05256" y="39776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스토리보드 (화면설계서)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프로토타이핑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99048" y="3520440"/>
            <a:ext cx="109728" cy="18288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3520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산출물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91656" y="39776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1.6-J 데이터 명세서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구조 설계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순서도(Flow Chart)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 다이어그램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83838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설계 산출물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1.6-J 데이터 명세서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45920"/>
            <a:ext cx="4114800" cy="429768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17" name="Image 0" descr="/Users/masuhan/workspace/data-analysis-portfolio/presentation/assets/deliverables/del_ocp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828800"/>
            <a:ext cx="3749040" cy="39319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001768" y="1645920"/>
            <a:ext cx="6622999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01768" y="1645920"/>
            <a:ext cx="128016" cy="4297680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20" name="Shape 17"/>
          <p:cNvSpPr/>
          <p:nvPr/>
        </p:nvSpPr>
        <p:spPr>
          <a:xfrm>
            <a:off x="5385816" y="1938528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2A14B"/>
          </a:solidFill>
          <a:ln/>
        </p:spPr>
      </p:sp>
      <p:sp>
        <p:nvSpPr>
          <p:cNvPr id="21" name="Text 18"/>
          <p:cNvSpPr/>
          <p:nvPr/>
        </p:nvSpPr>
        <p:spPr>
          <a:xfrm>
            <a:off x="5385816" y="1938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단계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85816" y="2606040"/>
            <a:ext cx="59829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무엇인가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385816" y="2926080"/>
            <a:ext cx="593719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충전기 ↔ 중앙서버(CSMS) 간 OCPP 1.6-J 통신 메시지·데이터 필드·제약·JSON 스키마·상태값을 정의한 통신 규격 명세서.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385816" y="4224528"/>
            <a:ext cx="589147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85816" y="4352544"/>
            <a:ext cx="59829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· 근거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385816" y="4672584"/>
            <a:ext cx="593719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분석에서 최다로 드러난 OCPP·호환문제(169건)를 표준 준수로 해소하기 위한 개발 기준 문서.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385816" y="5376672"/>
            <a:ext cx="5937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원본: OCPP 1.6 edition 2 / errata-sheet 기반 · BootNotification·StatusNotification 등 메시지별 정의 (총 17p)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83838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설계 산출물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45920"/>
            <a:ext cx="7406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17" name="Image 0" descr="/Users/masuhan/workspace/data-analysis-portfolio/presentation/assets/deliverables/del_e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828800"/>
            <a:ext cx="7040880" cy="39319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93608" y="1645920"/>
            <a:ext cx="3331159" cy="429768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93608" y="1645920"/>
            <a:ext cx="128016" cy="4297680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20" name="Shape 17"/>
          <p:cNvSpPr/>
          <p:nvPr/>
        </p:nvSpPr>
        <p:spPr>
          <a:xfrm>
            <a:off x="8677656" y="1938528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2A14B"/>
          </a:solidFill>
          <a:ln/>
        </p:spPr>
      </p:sp>
      <p:sp>
        <p:nvSpPr>
          <p:cNvPr id="21" name="Text 18"/>
          <p:cNvSpPr/>
          <p:nvPr/>
        </p:nvSpPr>
        <p:spPr>
          <a:xfrm>
            <a:off x="8677656" y="1938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단계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77656" y="2606040"/>
            <a:ext cx="2691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무엇인가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677656" y="2926080"/>
            <a:ext cx="264535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VOC·시장 데이터와 서비스 데이터를 담는 엔티티와 관계를 모델링한 다이어그램 (chargers · charging_sessions · transactions 등).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677656" y="4224528"/>
            <a:ext cx="259963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77656" y="4352544"/>
            <a:ext cx="2691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· 근거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677656" y="4672584"/>
            <a:ext cx="26453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구조와 FK 관계를 정의 — 분석 파이프라인과 서비스 DB의 청사진.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83838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설계 산출물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구조 설계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45920"/>
            <a:ext cx="7406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2011680"/>
            <a:ext cx="6766560" cy="3566160"/>
          </a:xfrm>
          <a:prstGeom prst="roundRect">
            <a:avLst>
              <a:gd name="adj" fmla="val 2051"/>
            </a:avLst>
          </a:prstGeom>
          <a:solidFill>
            <a:srgbClr val="EEF3F2"/>
          </a:solidFill>
          <a:ln w="19050">
            <a:solidFill>
              <a:srgbClr val="03C75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858768" y="269748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3C7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32688" y="37947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구조 설계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2688" y="418795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캡처 영역 — 파일 전달 후 삽입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45171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assets/deliverables/del_db.png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93608" y="1645920"/>
            <a:ext cx="3331159" cy="429768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93608" y="1645920"/>
            <a:ext cx="128016" cy="4297680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25" name="Shape 23"/>
          <p:cNvSpPr/>
          <p:nvPr/>
        </p:nvSpPr>
        <p:spPr>
          <a:xfrm>
            <a:off x="8677656" y="1938528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2A14B"/>
          </a:solidFill>
          <a:ln/>
        </p:spPr>
      </p:sp>
      <p:sp>
        <p:nvSpPr>
          <p:cNvPr id="26" name="Text 24"/>
          <p:cNvSpPr/>
          <p:nvPr/>
        </p:nvSpPr>
        <p:spPr>
          <a:xfrm>
            <a:off x="8677656" y="1938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단계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77656" y="2606040"/>
            <a:ext cx="2691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무엇인가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77656" y="2926080"/>
            <a:ext cx="264535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테이블·컬럼·타입·제약조건을 정의한 스키마 설계 및 DDL(create_tables.sql).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77656" y="4224528"/>
            <a:ext cx="259963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77656" y="4352544"/>
            <a:ext cx="2691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· 근거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77656" y="4672584"/>
            <a:ext cx="26453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ERD를 실행 가능한 스키마로 구체화 — 개발 착수 시 그대로 DB 구축에 사용.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83838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설계 산출물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Flow Chart (순서도)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45920"/>
            <a:ext cx="7406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17" name="Image 0" descr="/Users/masuhan/workspace/data-analysis-portfolio/presentation/assets/deliverables/del_flow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828800"/>
            <a:ext cx="7040880" cy="39319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93608" y="1645920"/>
            <a:ext cx="3331159" cy="429768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93608" y="1645920"/>
            <a:ext cx="128016" cy="4297680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20" name="Shape 17"/>
          <p:cNvSpPr/>
          <p:nvPr/>
        </p:nvSpPr>
        <p:spPr>
          <a:xfrm>
            <a:off x="8677656" y="1938528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2A14B"/>
          </a:solidFill>
          <a:ln/>
        </p:spPr>
      </p:sp>
      <p:sp>
        <p:nvSpPr>
          <p:cNvPr id="21" name="Text 18"/>
          <p:cNvSpPr/>
          <p:nvPr/>
        </p:nvSpPr>
        <p:spPr>
          <a:xfrm>
            <a:off x="8677656" y="1938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단계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77656" y="2606040"/>
            <a:ext cx="2691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무엇인가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677656" y="2926080"/>
            <a:ext cx="264535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시작·완료·결제 프로세스의 분기와 예외 처리를 단계(QR→결제→OCPP→종료)별로 표현한 순서도.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677656" y="4224528"/>
            <a:ext cx="259963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77656" y="4352544"/>
            <a:ext cx="2691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· 근거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677656" y="4672584"/>
            <a:ext cx="26453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실패·세션 복구 등 핵심 로직의 분기 조건을 빠짐없이 정의 — 개발 구현 기준.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83838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설계 산출물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 다이어그램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45920"/>
            <a:ext cx="4114800" cy="429768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17" name="Image 0" descr="/Users/masuhan/workspace/data-analysis-portfolio/presentation/assets/deliverables/del_sequ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828800"/>
            <a:ext cx="3749040" cy="39319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001768" y="1645920"/>
            <a:ext cx="6622999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01768" y="1645920"/>
            <a:ext cx="128016" cy="4297680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20" name="Shape 17"/>
          <p:cNvSpPr/>
          <p:nvPr/>
        </p:nvSpPr>
        <p:spPr>
          <a:xfrm>
            <a:off x="5385816" y="1938528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2A14B"/>
          </a:solidFill>
          <a:ln/>
        </p:spPr>
      </p:sp>
      <p:sp>
        <p:nvSpPr>
          <p:cNvPr id="21" name="Text 18"/>
          <p:cNvSpPr/>
          <p:nvPr/>
        </p:nvSpPr>
        <p:spPr>
          <a:xfrm>
            <a:off x="5385816" y="1938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단계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85816" y="2606040"/>
            <a:ext cx="59829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무엇인가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385816" y="2926080"/>
            <a:ext cx="593719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앱·서버·충전기 간 OCPP 메시지(RemoteStart·StatusNotification·MeterValues 등)를 시간순으로 표현한 시퀀스 다이어그램.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385816" y="4224528"/>
            <a:ext cx="589147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85816" y="4352544"/>
            <a:ext cx="59829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· 근거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385816" y="4672584"/>
            <a:ext cx="593719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 간 통신 순서와 책임을 명확히 — Handshake·상태 전이 구현의 직접 근거.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83838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기획 산출물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45920"/>
            <a:ext cx="7406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2011680"/>
            <a:ext cx="6766560" cy="3566160"/>
          </a:xfrm>
          <a:prstGeom prst="roundRect">
            <a:avLst>
              <a:gd name="adj" fmla="val 2051"/>
            </a:avLst>
          </a:prstGeom>
          <a:solidFill>
            <a:srgbClr val="EEF3F2"/>
          </a:solidFill>
          <a:ln w="19050">
            <a:solidFill>
              <a:srgbClr val="03C75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858768" y="269748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3C7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32688" y="37947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2688" y="418795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캡처 영역 — 파일 전달 후 삽입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45171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assets/deliverables/del_scenario.png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93608" y="1645920"/>
            <a:ext cx="3331159" cy="429768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93608" y="1645920"/>
            <a:ext cx="128016" cy="429768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77656" y="1938528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3C75A"/>
          </a:solidFill>
          <a:ln/>
        </p:spPr>
      </p:sp>
      <p:sp>
        <p:nvSpPr>
          <p:cNvPr id="26" name="Text 24"/>
          <p:cNvSpPr/>
          <p:nvPr/>
        </p:nvSpPr>
        <p:spPr>
          <a:xfrm>
            <a:off x="8677656" y="1938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단계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77656" y="2606040"/>
            <a:ext cx="2691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무엇인가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77656" y="2926080"/>
            <a:ext cx="264535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충전을 시작·진행·종료하는 행동 흐름과 예외 상황을 정의한 유스 시나리오.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77656" y="4224528"/>
            <a:ext cx="259963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77656" y="4352544"/>
            <a:ext cx="2691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· 근거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77656" y="4672584"/>
            <a:ext cx="26453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데이터에서 확인한 Pain Point를 실제 사용 맥락으로 구체화 — 기능 설계의 출발점.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83838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기획 산출물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스토리보드 (화면설계서)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45920"/>
            <a:ext cx="7406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2011680"/>
            <a:ext cx="6766560" cy="3566160"/>
          </a:xfrm>
          <a:prstGeom prst="roundRect">
            <a:avLst>
              <a:gd name="adj" fmla="val 2051"/>
            </a:avLst>
          </a:prstGeom>
          <a:solidFill>
            <a:srgbClr val="EEF3F2"/>
          </a:solidFill>
          <a:ln w="19050">
            <a:solidFill>
              <a:srgbClr val="03C75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858768" y="269748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3C7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32688" y="37947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스토리보드 (화면설계서)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2688" y="418795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캡처 영역 — 파일 전달 후 삽입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45171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assets/deliverables/del_storyboard.png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93608" y="1645920"/>
            <a:ext cx="3331159" cy="429768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93608" y="1645920"/>
            <a:ext cx="128016" cy="429768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77656" y="1938528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3C75A"/>
          </a:solidFill>
          <a:ln/>
        </p:spPr>
      </p:sp>
      <p:sp>
        <p:nvSpPr>
          <p:cNvPr id="26" name="Text 24"/>
          <p:cNvSpPr/>
          <p:nvPr/>
        </p:nvSpPr>
        <p:spPr>
          <a:xfrm>
            <a:off x="8677656" y="1938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단계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77656" y="2606040"/>
            <a:ext cx="2691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무엇인가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77656" y="2926080"/>
            <a:ext cx="264535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화면별 레이아웃·구성요소·동작·예외 처리를 정의한 화면설계서.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77656" y="4224528"/>
            <a:ext cx="259963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77656" y="4352544"/>
            <a:ext cx="2691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· 근거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77656" y="4672584"/>
            <a:ext cx="26453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기능을 실제 UI로 구체화 — 디자인·개발이 참조하는 화면 명세.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83838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기획 산출물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프로토타이핑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645920"/>
            <a:ext cx="7406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2011680"/>
            <a:ext cx="6766560" cy="3566160"/>
          </a:xfrm>
          <a:prstGeom prst="roundRect">
            <a:avLst>
              <a:gd name="adj" fmla="val 2051"/>
            </a:avLst>
          </a:prstGeom>
          <a:solidFill>
            <a:srgbClr val="EEF3F2"/>
          </a:solidFill>
          <a:ln w="19050">
            <a:solidFill>
              <a:srgbClr val="03C75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858768" y="269748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3C7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32688" y="37947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프로토타이핑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2688" y="418795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캡처 영역 — 파일 전달 후 삽입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45171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assets/deliverables/del_prototype.png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93608" y="1645920"/>
            <a:ext cx="3331159" cy="429768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93608" y="1645920"/>
            <a:ext cx="128016" cy="429768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77656" y="1938528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3C75A"/>
          </a:solidFill>
          <a:ln/>
        </p:spPr>
      </p:sp>
      <p:sp>
        <p:nvSpPr>
          <p:cNvPr id="26" name="Text 24"/>
          <p:cNvSpPr/>
          <p:nvPr/>
        </p:nvSpPr>
        <p:spPr>
          <a:xfrm>
            <a:off x="8677656" y="19385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단계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77656" y="2606040"/>
            <a:ext cx="2691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무엇인가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77656" y="2926080"/>
            <a:ext cx="264535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기반 인터랙티브 프로토타입으로 핵심 충전 플로우를 실제 조작 가능하게 구현.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77656" y="4224528"/>
            <a:ext cx="2599639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77656" y="4352544"/>
            <a:ext cx="2691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· 근거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77656" y="4672584"/>
            <a:ext cx="26453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단계에서 사용자 흐름을 검증 — 개발 전 리스크를 조기에 발견.</a:t>
            </a:r>
            <a:endParaRPr lang="en-US" sz="1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83838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GLOSSARY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사전 ① — 시장분석 · 데이터 수집 · 전처리 · 분석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517904"/>
            <a:ext cx="5300320" cy="310896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1517904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1901952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정치·경제·사회·기술 거시환경 분석 프레임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2116836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TAM-SAM-SOM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전체·유효·수익가능 시장 규모 3단계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2331720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Voice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매체 언급량 점유율 — 브랜드 인지도 프록시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2546604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벤치마크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비교·목표로 삼는 선도 사례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" y="2761488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기업이 공시하는 투자자 정보(실적·전략)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2976372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성장률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" y="3319272"/>
            <a:ext cx="5300320" cy="31089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" y="3319272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" y="3703320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of Customer — 리뷰·댓글 등 고객의 소리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" y="3918204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스크래핑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웹/앱에서 데이터를 자동 추출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4133088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/ API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피드/프로그램 인터페이스로 데이터 수신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" y="4347972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페이지네이션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대량 결과를 분할 수집(토큰 제한 우회)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" y="4562856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멀티채널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앱·유튜브·뉴스·블로그 등 복수 출처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24448" y="1517904"/>
            <a:ext cx="5300320" cy="310896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32" name="Text 30"/>
          <p:cNvSpPr/>
          <p:nvPr/>
        </p:nvSpPr>
        <p:spPr>
          <a:xfrm>
            <a:off x="6452464" y="1517904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전처리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15888" y="1901952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 감지(langdetect)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언어 자동 판별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15888" y="2116836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 분석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긍정·부정·중립으로 분류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15888" y="2331720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XLM-RoBERTa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100개 언어 다국어 감성 분석 모델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15888" y="2546604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처리(Batching)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대량 작업을 소량씩 분할 실행(timeout 회피)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15888" y="2761488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upsert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있으면 갱신·없으면 삽입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24448" y="3104388"/>
            <a:ext cx="5300320" cy="31089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9" name="Text 37"/>
          <p:cNvSpPr/>
          <p:nvPr/>
        </p:nvSpPr>
        <p:spPr>
          <a:xfrm>
            <a:off x="6452464" y="3104388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15888" y="3488436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카테고리 분류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기반으로 불만 유형 태깅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15888" y="3703320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분리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라이드헤일링·충전·앱공통 영역 구분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15888" y="3918204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분모(denominator)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비율 계산의 기준 모집단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15888" y="4133088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 편향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그룹 과대표집(예: vi 77.8%)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15888" y="4347972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동시타당도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지표와의 일치로 신뢰도 점검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15888" y="4562856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기타·미상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카테고리에도 안 잡힌 미분류분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83838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GLOSSARY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사전 ② — 시각화 · 기획 · 설계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517904"/>
            <a:ext cx="5300320" cy="310896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1517904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시각화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1901952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포지셔닝 맵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2축 평면에 경쟁자·목표를 배치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2116836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워드클라우드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빈출 단어를 크기로 시각화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2331720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2계층 차트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도메인을 나눠 비교한 차트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2674620"/>
            <a:ext cx="5300320" cy="31089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2674620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3058668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요구사항 정의서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3273552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페르소나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정의한 대표 사용자상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3488436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여정 지도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경험·감정·터치포인트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" y="3703320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사용자의 불편·고충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" y="3918204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MoSCoW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Must/Should/Could/Won't 우선순위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4133088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핵심성과지표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" y="4347972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Non-goals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의도적으로 범위에서 제외한 것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" y="4562856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수용 기준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완료를 판정하는 측정 조건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24448" y="1517904"/>
            <a:ext cx="5300320" cy="310896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32" name="Text 30"/>
          <p:cNvSpPr/>
          <p:nvPr/>
        </p:nvSpPr>
        <p:spPr>
          <a:xfrm>
            <a:off x="6452464" y="1517904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15888" y="1901952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개체-관계 다이어그램(DB 구조)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15888" y="2116836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테이블을 생성하는 SQL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15888" y="2331720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앱↔충전기 통신 개방형 표준 프로토콜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15888" y="2546604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CSMS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중앙관리 시스템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15888" y="2761488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 다이어그램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 간 통신을 시간순으로 표현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15888" y="2976372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플로우차트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프로세스 분기·예외를 표현한 순서도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15888" y="3191256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무선 태그 인식 — 오프라인 결제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15888" y="3406140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 인증(Know Your Customer)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15888" y="3621024"/>
            <a:ext cx="51631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슈퍼앱 —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모빌리티+쇼핑+충전 등을 한 앱에 통합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0334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55487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07631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1919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64063" y="1645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838383" y="457200"/>
            <a:ext cx="512064" cy="29261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548640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7132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DATA INVENTORY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91440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데이터 인벤토리 — 무엇을·왜·어떻게 활용했나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KOKKOK EV  ·  핀테크 서비스 기획 4회차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84687" y="6473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1517904"/>
            <a:ext cx="11057839" cy="38404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1517904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대분류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09928" y="1517904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소분류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90088" y="1517904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이름(테이블)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3168" y="1517904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범위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56248" y="1517904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07808" y="1517904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목적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90888" y="1517904"/>
            <a:ext cx="2179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1901952"/>
            <a:ext cx="11057839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1901952"/>
            <a:ext cx="54864" cy="5669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1901952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09928" y="1901952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앱스토어 리뷰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90088" y="1901952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app_reviews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1901952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라·베·태·글로벌 5개 앱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56248" y="1901952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28,890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07808" y="1901952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충전·모빌리티 사용자 불만 정량화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90888" y="1901952"/>
            <a:ext cx="2179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감성·2계층 분류·PRD 근거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2468880"/>
            <a:ext cx="11057839" cy="566928"/>
          </a:xfrm>
          <a:prstGeom prst="rect">
            <a:avLst/>
          </a:prstGeom>
          <a:solidFill>
            <a:srgbClr val="EAF1E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2468880"/>
            <a:ext cx="54864" cy="5669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" y="2468880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09928" y="2468880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슈퍼앱 리뷰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990088" y="2468880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superapp_reviews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3168" y="2468880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역내 4개(Grab·Gojek·LOCA·KOKKOK)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56248" y="2468880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607808" y="2468880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슈퍼앱 경쟁 구도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390888" y="2468880"/>
            <a:ext cx="2179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②·SoV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3035808"/>
            <a:ext cx="11057839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" y="3035808"/>
            <a:ext cx="54864" cy="5669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" y="3035808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709928" y="3035808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유튜브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90088" y="303580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youtube_videos/comments/stt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73168" y="303580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영상·댓글·자막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56248" y="3035808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21·527·2,625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607808" y="303580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실사용 맥락·정성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390888" y="3035808"/>
            <a:ext cx="2179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시나리오·여정맵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66928" y="3602736"/>
            <a:ext cx="11057839" cy="566928"/>
          </a:xfrm>
          <a:prstGeom prst="rect">
            <a:avLst/>
          </a:prstGeom>
          <a:solidFill>
            <a:srgbClr val="EAF1E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" y="3602736"/>
            <a:ext cx="54864" cy="5669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53" name="Text 51"/>
          <p:cNvSpPr/>
          <p:nvPr/>
        </p:nvSpPr>
        <p:spPr>
          <a:xfrm>
            <a:off x="676656" y="3602736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709928" y="3602736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블로그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990088" y="3602736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blog_posts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73168" y="3602736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한국어(네이버)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56248" y="3602736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607808" y="3602736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한국인 여행객 시각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390888" y="3602736"/>
            <a:ext cx="2179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66928" y="4169664"/>
            <a:ext cx="11057839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6928" y="4169664"/>
            <a:ext cx="54864" cy="56692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62" name="Text 60"/>
          <p:cNvSpPr/>
          <p:nvPr/>
        </p:nvSpPr>
        <p:spPr>
          <a:xfrm>
            <a:off x="676656" y="4169664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709928" y="4169664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990088" y="4169664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news_articles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773168" y="4169664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· SoV·정책·HW·기업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556248" y="4169664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3,085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607808" y="4169664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시장·정책·경쟁 동향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390888" y="4169664"/>
            <a:ext cx="2179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PEST·SoV·정책·경쟁사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66928" y="4736592"/>
            <a:ext cx="11057839" cy="566928"/>
          </a:xfrm>
          <a:prstGeom prst="rect">
            <a:avLst/>
          </a:prstGeom>
          <a:solidFill>
            <a:srgbClr val="EAF1E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66928" y="4736592"/>
            <a:ext cx="54864" cy="566928"/>
          </a:xfrm>
          <a:prstGeom prst="rect">
            <a:avLst/>
          </a:prstGeom>
          <a:solidFill>
            <a:srgbClr val="02A14B"/>
          </a:solidFill>
          <a:ln/>
        </p:spPr>
      </p:sp>
      <p:sp>
        <p:nvSpPr>
          <p:cNvPr id="71" name="Text 69"/>
          <p:cNvSpPr/>
          <p:nvPr/>
        </p:nvSpPr>
        <p:spPr>
          <a:xfrm>
            <a:off x="676656" y="4736592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통계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709928" y="4736592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통계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990088" y="4736592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reference_stats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773168" y="4736592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라오스·역내 6범주(LSB·WFP·WB·IR)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556248" y="4736592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A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607808" y="4736592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 시장 근거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9390888" y="4736592"/>
            <a:ext cx="2179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PEST·TAM·요금·사업성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66928" y="5303520"/>
            <a:ext cx="11057839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6928" y="5303520"/>
            <a:ext cx="54864" cy="566928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80" name="Text 78"/>
          <p:cNvSpPr/>
          <p:nvPr/>
        </p:nvSpPr>
        <p:spPr>
          <a:xfrm>
            <a:off x="676656" y="5303520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보류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1709928" y="5303520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990088" y="5303520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sns_posts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773168" y="5303520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해시태그(B안)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556248" y="5303520"/>
            <a:ext cx="905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607808" y="5303520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현지 SNS 여론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9390888" y="5303520"/>
            <a:ext cx="2179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여건 시 재시도(노트북 06)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66928" y="599846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3C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총괄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멀티채널(앱·슈퍼앱·유튜브·블로그) + Market Intel 뉴스 3,085 + 공식 참조통계 54. 모든 정량 주장은 위 출처로 추적 가능.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코코넛사일로 (Coconut Silo)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KOKKOK EV — 데이터로 문제를 풀어 서비스를 만드는 기획자</dc:title>
  <dc:subject>PptxGenJS Presentation</dc:subject>
  <dc:creator>마수한 · 김재희</dc:creator>
  <cp:lastModifiedBy>마수한 · 김재희</cp:lastModifiedBy>
  <cp:revision>1</cp:revision>
  <dcterms:created xsi:type="dcterms:W3CDTF">2026-06-15T08:36:28Z</dcterms:created>
  <dcterms:modified xsi:type="dcterms:W3CDTF">2026-06-15T08:36:28Z</dcterms:modified>
</cp:coreProperties>
</file>