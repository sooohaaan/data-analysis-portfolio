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-4206240"/>
            <a:ext cx="10515600" cy="10515600"/>
          </a:xfrm>
          <a:prstGeom prst="ellipse">
            <a:avLst/>
          </a:prstGeom>
          <a:solidFill>
            <a:srgbClr val="C9F2D8">
              <a:alpha val="5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03C75A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3C75A">
              <a:alpha val="9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0896" y="0"/>
            <a:ext cx="32004" cy="6858000"/>
          </a:xfrm>
          <a:prstGeom prst="rect">
            <a:avLst/>
          </a:prstGeom>
          <a:solidFill>
            <a:srgbClr val="03C75A">
              <a:alpha val="5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20624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603504" y="1938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풀어 서비스를 만드는 기획자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03504" y="25786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시장 VOC 28,890건을 멀티채널로 수집·분석하고,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인사이트를 라오스 KOKKOK EV 서비스 기획으로 연결한 엔드투엔드 프로젝트.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8828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핀테크 서비스 기획 4회차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" y="513892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56655" y="572414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 Coconut Silo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19295" y="6071616"/>
            <a:ext cx="7205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 (Data Engineer &amp; PM)  ·  김재희 (Data Analyst &amp; PM)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4630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30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 · 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목차 — 거시 시장에서 솔루션까지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76656" y="1901952"/>
            <a:ext cx="457200" cy="45720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16736" y="18379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16736" y="21671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Analysis · PEST · TAM-SAM-SOM · 경쟁 구도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8608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16736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16736" y="284378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데이터로 검증한 핵심 가설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18104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3255264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16736" y="31912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16736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Analysis · VOC 39,700+건 · 감성 · 포지셔닝 · 페르소나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794760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931920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16736" y="3867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16736" y="419709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Planning · PRD · 여정맵 · OCPP · 요금정책 · 사업성 · 전략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471416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608576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316736" y="4544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16736" y="48737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Retrospective · KPI · 로드맵·Ask · 리스크 · 회고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148072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285232"/>
            <a:ext cx="457200" cy="45720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16736" y="52212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산출물 · 용어 사전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16736" y="55504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산출물(OCPP·ERD·시퀀스·시나리오·스토리보드·프로토타입) · 용어 사전 — 발표 생략·열람용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서비스 기획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44607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44607" y="250545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4607" y="3182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44607" y="3858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344607" y="45354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344607" y="5212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 — 코코넛사일로 KOKKOK EV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554480"/>
            <a:ext cx="56692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1554480"/>
            <a:ext cx="128016" cy="448056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푼 문제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" y="22402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Move는 라오스에서 운영 중인 모빌리티 앱입니다.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전기차 전환이 빨라지는 라오스에서 기존 모빌리티 앱에 ‘쇼핑’과 ‘EV 충전’ 기능을 더해 슈퍼앱으로 발전시키려 했지만, 어떤 EV 충전 앱을 만들어야 하는지에 대한 근거가 없었습니다.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2688" y="3584448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시장의 목소리(VOC)를 직접 수집·분석해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‘무엇이 불편한가’를 데이터로 증명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하고, 이를 PRD·플로우·요금정책이라는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산출물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연결했습니다.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2688" y="4800600"/>
            <a:ext cx="502920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937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Engineer &amp; PM — 인프라·파이프라인·전처리·PRD·화면설계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김재희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Analyst &amp; PM — 데이터 정제·SQL 분석·Tableau·유저 시나리오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2280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23176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시장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0568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· 베트남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태국 비교군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72804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28836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9739732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분석 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47124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· LOCA EV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· PEA · EleXA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556248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12280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23176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30568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Cloud (SG)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172804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28836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9739732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레이어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447124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앱(SW) + 충전기(HW)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레이어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 ·   MARKET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· 시장 규모 · 경쟁 구도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분석 (PEST) — 라오스 EV, 지금이 진입 적기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Political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98448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정치·정책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내연기관차 수입 잠정 중단 (2026.6~12월)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소비세 면제·0% 수입관세·등록세 30%↓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목표 2030년 EV 30%·충전소 500개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MOIC·MEM 주도(.gov.la 공표) → 강한 친EV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93110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3110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94278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3594278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24630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124630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12566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7" name="Text 35"/>
          <p:cNvSpPr/>
          <p:nvPr/>
        </p:nvSpPr>
        <p:spPr>
          <a:xfrm>
            <a:off x="3813734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휘발유 23,834₭/L vs 충전 4,000₭/kWh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12566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3813734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~647₭/kWh·전력 잉여 → 충전 마진 우위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12566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1" name="Text 39"/>
          <p:cNvSpPr/>
          <p:nvPr/>
        </p:nvSpPr>
        <p:spPr>
          <a:xfrm>
            <a:off x="3813734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가구 월소비 중위 122.6만₭ → 가격 민감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12566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3" name="Text 41"/>
          <p:cNvSpPr/>
          <p:nvPr/>
        </p:nvSpPr>
        <p:spPr>
          <a:xfrm>
            <a:off x="3813734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연료위기(디젤 급등) = 전환 가속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9292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9292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Shape 44"/>
          <p:cNvSpPr/>
          <p:nvPr/>
        </p:nvSpPr>
        <p:spPr>
          <a:xfrm>
            <a:off x="6420460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42046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950812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6950812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38748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639916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~85% · 인터넷 66%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8748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639916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빈곤율 15%↓ · 15~39세 43.2% 젊은 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38748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6639916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 Negative 65.8%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38748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6639916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언어·결제 장벽 = 개선 기회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45473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45473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60" name="Shape 58"/>
          <p:cNvSpPr/>
          <p:nvPr/>
        </p:nvSpPr>
        <p:spPr>
          <a:xfrm>
            <a:off x="9246641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246641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9776993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450" dirty="0"/>
          </a:p>
        </p:txBody>
      </p:sp>
      <p:sp>
        <p:nvSpPr>
          <p:cNvPr id="63" name="Text 61"/>
          <p:cNvSpPr/>
          <p:nvPr/>
        </p:nvSpPr>
        <p:spPr>
          <a:xfrm>
            <a:off x="9776993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64929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5" name="Text 63"/>
          <p:cNvSpPr/>
          <p:nvPr/>
        </p:nvSpPr>
        <p:spPr>
          <a:xfrm>
            <a:off x="9466097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보급률 96.5% · 전력 잉여(수출&gt;&gt;수입)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64929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7" name="Text 65"/>
          <p:cNvSpPr/>
          <p:nvPr/>
        </p:nvSpPr>
        <p:spPr>
          <a:xfrm>
            <a:off x="9466097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41개뿐 → 인프라 공백=기회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64929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9" name="Text 67"/>
          <p:cNvSpPr/>
          <p:nvPr/>
        </p:nvSpPr>
        <p:spPr>
          <a:xfrm>
            <a:off x="9466097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· 슈퍼앱 통합 성숙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9264929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9466097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충전소 40 → 100개소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규모 (TAM–SAM–SOM) — 검증된 공식 자료만으로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→ 라오스로 좁혀 본 실현 가능 시장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214884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02A14B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22768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EV 생태계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697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$100B~$120B (2035, EY-Parthenon)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15822" y="3429000"/>
            <a:ext cx="4262933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98702" y="3557016"/>
            <a:ext cx="3897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서비스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98702" y="3977640"/>
            <a:ext cx="3897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신차 점유율 9% · 판매 +50% (IEA 2025)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007108" y="4709160"/>
            <a:ext cx="2880360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89988" y="48371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충전 · 슈퍼앱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899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40% 커버 (3년, LOCA 벤치마크)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7688" y="1691640"/>
            <a:ext cx="4977079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47688" y="1691640"/>
            <a:ext cx="128016" cy="4160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7013448" y="1892808"/>
            <a:ext cx="4336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지금인가 — 진입 논거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13448" y="239572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287768" y="230428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골든타임 — 충전소(40→100개소)와 EV(+111% YoY)가 동시에 늘어나는 12~18개월.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13448" y="32186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287768" y="312724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40개소 운영·1년 내 투자금 회수로 라오스 충전 사업성 입증.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13448" y="404164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395020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비엔티안·사반나켓 양대 거점 — 가구 18.8/18.6만 집중, SOM 1차 타깃.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13448" y="486460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287768" y="477316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Grab×BYD·GAC 7만 대 ASEAN 진출 = EV 라이드헤일링 시장이 실재한다는 증거.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5349240"/>
            <a:ext cx="4336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데이터 신뢰도 원칙: 시장조사업체 추정치는 검증 실패로 전량 제외. IEA·EY-Parthenon·기업 공식 발표만 인용.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대상 기업 — 데이터를 수집한 9개 서비스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11057839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276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/ 서비스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8376" y="16276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62856" y="16276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0256" y="162763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0456" y="1627632"/>
            <a:ext cx="33311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분석에서의 역할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048256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04825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204825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90088" y="204825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44568" y="204825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204825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앱리뷰 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02168" y="204825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충전 벤치마크 (경영진 지정)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441448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2441448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244144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90088" y="244144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44568" y="244144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01968" y="244144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447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02168" y="244144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모빌리티 1위 (사업모델)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2834640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283464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990088" y="283464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44568" y="283464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라이드헤일링·자사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01968" y="283464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378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02168" y="283464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서비스 기반 (확장 출발점)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227832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3227832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13232" y="322783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90088" y="322783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44568" y="322783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01968" y="322783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1,518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202168" y="322783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 벤치마크 (최고 3.11점)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3621024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621024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2" name="Text 50"/>
          <p:cNvSpPr/>
          <p:nvPr/>
        </p:nvSpPr>
        <p:spPr>
          <a:xfrm>
            <a:off x="713232" y="3621024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90088" y="3621024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44568" y="3621024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621024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499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02168" y="3621024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014216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" y="401421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" y="401421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990088" y="401421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4568" y="401421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601968" y="401421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263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02168" y="401421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66928" y="4407408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" y="4407408"/>
            <a:ext cx="64008" cy="393192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66" name="Text 64"/>
          <p:cNvSpPr/>
          <p:nvPr/>
        </p:nvSpPr>
        <p:spPr>
          <a:xfrm>
            <a:off x="713232" y="440740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(Xanh SM)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2990088" y="440740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44568" y="440740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01968" y="440740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26,603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202168" y="440740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본체 · 역내 위협(라오스 진입)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66928" y="4800600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6928" y="4800600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3" name="Text 71"/>
          <p:cNvSpPr/>
          <p:nvPr/>
        </p:nvSpPr>
        <p:spPr>
          <a:xfrm>
            <a:off x="713232" y="480060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2990088" y="480060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8국 (라오스 X)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44568" y="480060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601968" y="480060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1,479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202168" y="480060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슈퍼앱 벤치마크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5193792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193792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713232" y="519379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2990088" y="519379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인니 등 역내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544568" y="519379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601968" y="519379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1,066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202168" y="519379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비교군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73328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설계 —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현지 3(타깃 시장) · 태국 충전 3(UX 벤치마크) · 베트남/역내 슈퍼앱 3(EV 모빌리티·위협).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UX는 태국에서, 사업모델·현지 경쟁은 라오스에서, 슈퍼앱 동학은 역내에서 학습.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① — 동남아 EV 충전 앱 (직접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1664208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67328" y="166420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81728" y="16642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79008" y="16642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리뷰수(인지도)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42048" y="1664208"/>
            <a:ext cx="43095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 · 약점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2121408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121408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04288" y="2121408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75888" y="212140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0288" y="2121408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87568" y="212140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260336" y="2121408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현지 1위 · LOCA 택시 연동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리뷰 거의 없음 (현지 문화)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798064"/>
            <a:ext cx="11057839" cy="676656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2798064"/>
            <a:ext cx="73152" cy="67665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798064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04288" y="2798064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75888" y="279806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90288" y="2798064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47.6%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87568" y="2798064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1,518건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260336" y="2798064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앱+카드 이중결제 · 주유소 연계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태국 외 미확장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" y="3474720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304288" y="347472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라오스·베트남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75888" y="34747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2.56⭐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90288" y="3474720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53.5%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87568" y="3474720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26,603건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260336" y="3474720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리뷰 수 1위 · 인지도 최고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UX·결제 오류 빈발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4151376"/>
            <a:ext cx="11057839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4944" y="4151376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304288" y="415137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675888" y="415137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90288" y="4151376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67.9%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87568" y="415137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499건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7260336" y="4151376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태국 정부(PEA) 운영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동남아 최하위 평점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28032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" y="4828032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304288" y="4828032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675888" y="482803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590288" y="4828032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62.4%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87568" y="48280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263건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260336" y="4828032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EGAT 국영 전기공사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앱오류 · UI 심각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5614416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6928" y="5614416"/>
            <a:ext cx="128016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50976" y="5614416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2점대 레드오션 — PTT(3.11⭐)가 유일한 벤치마크. 라오스 직접 경쟁은 LOCA EV·Green SM뿐.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데이터 보강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점유율 정량(%)은 검증 자료 부재 → 리뷰수를 인지도 대용으로 사용. 공식 단가 수집: PTT 4.5~7.5฿·PEA 5.3~8.8฿·EleX 7.5฿·V-Green 3,858₫·LOCA 4,300₭/kWh.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② — 모빌리티 슈퍼앱 (간접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24328" y="1664208"/>
            <a:ext cx="704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9300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988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04688" y="1664208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562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언급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62088" y="1664208"/>
            <a:ext cx="3989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121408"/>
            <a:ext cx="11057839" cy="658368"/>
          </a:xfrm>
          <a:prstGeom prst="rect">
            <a:avLst/>
          </a:prstGeom>
          <a:solidFill>
            <a:srgbClr val="E7F5F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121408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2121408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32888" y="212140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0156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074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13248" y="212140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648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0376" y="2121408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EV가 이미 핵심 서비스 (언급 16.1%)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779776"/>
            <a:ext cx="11057839" cy="65836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2779776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32888" y="277977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40156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45.0%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36.8%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13248" y="2779776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1,479건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648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75건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580376" y="2779776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EV 진출 (라오스 미포함)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3438144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" y="3438144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32888" y="343814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3.20⭐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340156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31.7%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13248" y="3438144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1,066건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648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30건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0376" y="3438144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공식 전략 미확인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4096512"/>
            <a:ext cx="11057839" cy="658368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" y="4096512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" y="4096512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◆우리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2532888" y="409651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40156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4074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13248" y="4096512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378건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4648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580376" y="4096512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최저 · 배차 실패 44.9%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882896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4882896"/>
            <a:ext cx="1280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950976" y="506577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1170432" y="4992624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택시앱 → EV 추가 → 라오스 1위·1년 내 투자금 회수 (LOCA Taxi EV 언급 16.1%)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50976" y="54498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1170432" y="5376672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위협 ↔ 기회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ASEAN 진출 — 단 라오스는 미포함 = 선점 기회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950976" y="58338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1170432" y="5760720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과제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통합 전 드라이버 공급(배차 실패 44.9%)·기본기 개선이 선행 과제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③ — 라오스 현지 뉴스 점유율로 찾은 진짜 경쟁자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9_laos_share_of_voic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9808"/>
            <a:ext cx="7315200" cy="37904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임원진 벤치마크 LOCA는 데이터로 검증됐다.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VinFast·Xanh SM이 뉴스 점유율 1위로 진입 중 — 놓쳤던 경쟁자다.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EV·모빌리티 뉴스 393건 — VinFast·Xanh SM 21 &gt; LOCA 17 &gt; KOKKOK Move 3 · Grab 0.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 SM=베트남발 EV 라이드헤일링(AVILA·VF3/VF5) → 2번째 벤치마크 축.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Grab은 동남아 8개국 중 라오스만 미진출(소시장·LOCA 선점) → Xanh SM이 공백 우회 공략 = LOCA·Xanh SM·KOKKOK 3파전.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LESSON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진입 교훈 — Grab은 왜 라오스를 비웠나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Grab의 동남아 EV 공세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동남아 8개국 운영 (싱가포르·인니·필리핀·말련·태국·베트남·미얀마·캄보디아)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BYD 5만 대 + GAC 2만 대 =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7만 대 EV 플릿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파트너십(2025)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대상 6개국 —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모두 제외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732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라오스만 비었나 (추정)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732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소규모 시장 (인구 ~765만) → 진입 대비 수익성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LOCA의 현지 선점 (택시+결제+충전 수직통합)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디지털결제·스마트폰 보급 economics
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Grab 공식 사유는 미발표 — 추정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434340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89704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 — 역내 1위 Grab도 라오스는 진입하지 않았다 = 글로벌 자본이 비워둔 틈.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슈퍼앱(LOCA·KOKKOK)이 선점할 니치다.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Xanh SM(Vingroup)이 바로 그 틈을 EV 라이드헤일링으로 노린다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‘작아서 안전’이 아니라 ‘먼저 잡아야 하는’ 시장. 골든타임 12~18개월의 또 다른 근거.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 ·   PROBLEM DEFINITION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검증한다 — 무엇을 풀 것인가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29807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EV 충전인가 — 골든타임의 라오스 시장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49058" y="1687068"/>
            <a:ext cx="1600200" cy="1600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1149058" y="1687068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4,437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" y="3419856"/>
            <a:ext cx="29473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누적 수입  </a:t>
            </a:r>
            <a:pPr algn="ctr"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+111%↑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1388" y="1645920"/>
            <a:ext cx="276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충전소 (개소)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14268" y="2029968"/>
            <a:ext cx="886328" cy="310896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1" name="Text 19"/>
          <p:cNvSpPr/>
          <p:nvPr/>
        </p:nvSpPr>
        <p:spPr>
          <a:xfrm>
            <a:off x="3587420" y="20299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2024  40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4268" y="2487168"/>
            <a:ext cx="22158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3587420" y="24871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2026  100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1388" y="2944368"/>
            <a:ext cx="2764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 ↑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목표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95848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2.56점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187288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충전앱 평균 별점 (Neg 53.5%)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60307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12~18개월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951747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시장 진입 골든타임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57839" cy="2103120"/>
          </a:xfrm>
          <a:prstGeom prst="roundRect">
            <a:avLst>
              <a:gd name="adj" fmla="val 3478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703320"/>
            <a:ext cx="146304" cy="2103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408" y="3913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가설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" y="4279392"/>
            <a:ext cx="102348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“EV는 빠르게 들어오는데 충전 경험은 별점 2.56점.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불만(앱 불안정 27.6%)은 </a:t>
            </a:r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위협이 아니라 기회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3점대 서비스만 만들어도 동남아 2위권 진입이 가능하다.”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 ·   DATA COLLECTION &amp;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VOC 39,700+건의 정량 분석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아키텍처 — 멀티채널 수집에서 기획까지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4000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4000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5440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SOURCE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5168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 (Google Play)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영상·댓글·자막(STT)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 블로그 / 뉴스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News RSS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하드웨어 뉴스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87472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325216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25216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3" name="Text 21"/>
          <p:cNvSpPr/>
          <p:nvPr/>
        </p:nvSpPr>
        <p:spPr>
          <a:xfrm>
            <a:off x="3416656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STORE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526384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Supabase Cloud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테이블 6개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테이블 1개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Pooler (Singapore)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7개 테이블 · FK 설계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58688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96432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6432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6287872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PROCESS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397600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 (langdetect)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(XLM-RoBERTa)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없이 100개 언어 직접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선택적 번역 (필요 시만)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29904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067648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7648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9159088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분석·기획 OUTPUT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268816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감성·불만 카테고리 정량화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· 경쟁 분석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11개 기능 명세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시장조사 · 요금정책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 · Tableau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  </a:t>
            </a:r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VOC(‘무엇이 불편한가’)와 Market Intel(‘시장이 어떻게 움직이는가’)은 목적이 달라 테이블부터 분리 설계했습니다.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현황 — 39,700+ 건의 멀티채널 데이터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7922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테이블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1248" y="237744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23134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93208" y="23134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핵심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9808" y="282549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292608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" y="2862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01568" y="2862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93208" y="2862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경쟁분석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41248" y="347472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34107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youtube_stt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01568" y="3410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2,625세그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93208" y="341071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808" y="392277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32" name="Shape 30"/>
          <p:cNvSpPr/>
          <p:nvPr/>
        </p:nvSpPr>
        <p:spPr>
          <a:xfrm>
            <a:off x="841248" y="402336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42416" y="3959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01568" y="39593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2,483건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93208" y="3959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시장·HW 인텔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41248" y="457200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7" name="Text 35"/>
          <p:cNvSpPr/>
          <p:nvPr/>
        </p:nvSpPr>
        <p:spPr>
          <a:xfrm>
            <a:off x="1042416" y="4507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youtube_comments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401568" y="450799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527건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93208" y="45079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반응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9808" y="502005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41" name="Shape 39"/>
          <p:cNvSpPr/>
          <p:nvPr/>
        </p:nvSpPr>
        <p:spPr>
          <a:xfrm>
            <a:off x="841248" y="5120640"/>
            <a:ext cx="91440" cy="34747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" name="Text 40"/>
          <p:cNvSpPr/>
          <p:nvPr/>
        </p:nvSpPr>
        <p:spPr>
          <a:xfrm>
            <a:off x="1042416" y="5056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401568" y="50566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42건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093208" y="50566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시각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단계에서 부딪힌 현실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50608" y="23408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98080" y="232257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단 7건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리뷰 문화 부재 → 태국 선도 3개 앱을 비교군으로 추가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150608" y="3209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498080" y="319125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= V-Green 동일 앱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ID(com.gsm.customer) 일치 확인 → country='MUL' 통합 처리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150608" y="40782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98080" y="405993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2,000건 제한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언어·국가 5개 조합으로 분할 수집 → Green SM만 26,603건 확보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150608" y="49469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498080" y="492861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뉴스·하드웨어 추가 설계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‘앱 불안정’ 원인 가설 검증 위해 HW 뉴스 1,327건 추가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전처리 — 번역 없이 100개 언어를 직접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17922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— 번역 전략 전면 수정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21762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28,890건 처리 시간 비교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6968" y="25420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변경 전</a:t>
            </a:r>
            <a:pPr indent="0" marL="0">
              <a:buNone/>
            </a:pPr>
            <a:r>
              <a:rPr lang="en-US" sz="120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전체 영어 번역 후 분석 (googletrans)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" y="2907792"/>
            <a:ext cx="3474720" cy="38404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12시간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600건 처리 후 강제 종료 — 사실상 불가능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6968" y="3840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변경 후</a:t>
            </a:r>
            <a:pPr indent="0" marL="0">
              <a:buNone/>
            </a:pPr>
            <a:r>
              <a:rPr lang="en-US" sz="1200" dirty="0">
                <a:solidFill>
                  <a:srgbClr val="2C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XLM-RoBERTa 다국어 직접 분석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6968" y="4206240"/>
            <a:ext cx="579120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594104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2시간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" y="46451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전량 28,890건 처리 · 번역 없이 정확도 향상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82896" y="2953512"/>
            <a:ext cx="1280160" cy="1207008"/>
          </a:xfrm>
          <a:prstGeom prst="roundRect">
            <a:avLst>
              <a:gd name="adj" fmla="val 7576"/>
            </a:avLst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4882896" y="2953512"/>
            <a:ext cx="12801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
</a:t>
            </a:r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시간 단축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886968" y="5084064"/>
            <a:ext cx="530352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5212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· Ứng dụng lỗi · ดีมากชาร์จเร็ว · ແອັບດີ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6968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한·영·베·태·라오어를 번역 없이 각 언어로 직접 감성 분류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트러블슈팅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150608" y="239572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388352" y="235915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리전 불일치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Seoul pooler로 접속 실패 → Singapore Session Pooler(5432·IPv4)로 전환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150608" y="313639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0608" y="326440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7388352" y="322783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10초 statement timeout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대용량 UPDATE 불가 → 200건 배치 처리로 분할 실행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150608" y="400507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0608" y="413308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7388352" y="409651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분석을 DB→Python 전환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SELECT로 로드 후 pandas·matplotlib에서 집계·시각화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150608" y="487375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50608" y="500176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96519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라이브러리 버전 변경 대응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youtube-transcript-api 클래스→인스턴스 메서드 (api.list)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① 채널별 감성 분포 — 사용자 Pain Point 1순위: 서비스 앱 사용성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02_sentiment_by_ap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35562"/>
            <a:ext cx="7315200" cy="40189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불만은 ‘앱스토어 리뷰’에 집중된다.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UX가 가장 시급한 개선 지점이다.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리뷰 Negative 53.5% — 4개 채널 중 가장 부정적.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blueplus+만 47.6%로 평균 이하 → 벤치마크 후보.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유튜브·뉴스는 중립·긍정 위주 → 불만은 ‘앱’에 집중.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② 불만 구조 — 도메인을 나누니 진짜 문제가 보였다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8_complaint_2layer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358207"/>
            <a:ext cx="7315200" cy="29736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VOC의 92%는 충전이 아니라 라이드헤일링이었다.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분리하자 충전앱의 진짜 1위 ‘앱 불안정’이 드러났다.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부정 15,461건 — 라이드헤일링 42.4% · 앱공통 39.2% · 충전 전용 0.7%.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SM(92%)=베트남 라이드헤일링 앱 → 충전 VOC로 오인됐던 것.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도메인 분리 재분류로 ‘기타’ 50%→16.6%, 충전앱 레이어 분리.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③ 경쟁 포지셔닝 — 비어 있는 ‘오른쪽 아래’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0_app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539" y="1764792"/>
            <a:ext cx="6864858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시장엔 ‘잘 만든 충전앱’이 없다.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PTT(3.11점)만 넘어도 KOKKOK이 1위가 될 빈 자리다.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앱 모두 별점 2.2~3.1·부정 우세 → 좌하단 밀집.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PTT만 평균 우측이지만 3.11점에 불과 = 현재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오른쪽 아래(고별점·저불만) 좌표를 선점.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④ 충전앱 레이어 — 우리가 풀 문제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1_app_competitive_analysis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6318"/>
            <a:ext cx="7315200" cy="357746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충전앱(PTT·PEA·EleXA·LOCA)의 공통 약점은 명확하다.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+ 온보딩(KYC) + 지갑결제, 세 축이다.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1,227건 — 앱 불안정 27.6% · 계정·인증·KYC 15.0% · 결제·지갑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앱 공통으로 ‘앱 안정성·온보딩’이 상위 → 구조적 약점.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세 축이 우리 PRD P0~P1의 직접 근거.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인사이트 — 가설을 데이터로 뒤집다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7_app_hw_linkag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45398"/>
            <a:ext cx="7315200" cy="319930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가설은 ‘앱오류=OCPP 통신 문제’였다.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분리로 다시 보니, 충전앱 #1은 앱 안정성·온보딩이었다.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#1 — 앱 불안정 27.6% · 계정·인증·KYC 15.0% · 결제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 뉴스 169건은 기술 표준 ‘요건’ — VOC상 직접 원인 근거는 약함.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PRD P0를 ‘세션 안정성·간편 온보딩·지갑결제’로 재정렬.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HW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이슈 맵 — 빈도 높고 심각한 문제 식별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4_hw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2" y="1764792"/>
            <a:ext cx="6823253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우선순위는 둘이다.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많이 언급된 OCPP 호환, 가장 심각한 충전기 결함.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OCPP·호환문제 — 언급 최다(169건) → 표준 준수 최우선.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충전기결함 — Negative 32%로 심각도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HW P0: OCPP 검증 + 충전기 실시간 모니터링.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PERSONA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페르소나 — 데이터로 정의한 핵심 타겟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 드라이버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타겟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84832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쏨퐁 · 34세 · 비엔티안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6384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한 번 실패하면 그날 수입이 날아가요.”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생계 운전자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2~3회 충전 · 낮 시간대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 EV 언급 16.1%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6384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충전 시작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즉시 확인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86384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실패(앱 불안정)로 영업 손실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반복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배차·충전 대기 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86384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전기택시 드라이버(영업용 EV)·고빈도 충전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86384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LOCA Taxi 447건 + 유튜브 자막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44314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591056"/>
            <a:ext cx="109728" cy="85953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600346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600346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4600346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성장 타겟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62218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 · 28세 · 호주 배낭여행객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63770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3770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“해외 카드가 안 돼서 결제를 못 했어요.”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63770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00346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체류 · 렌트 EV/스쿠터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사용 · 해외 카드 보유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리뷰 Negative 65.8%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63770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3770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600346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카드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없이 QR 1회 결제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63770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3770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600346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카드 미지원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부재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매번 실패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63770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관광객 다수 중 EV·스쿠터 렌트층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63770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영어 리뷰 1,992건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21701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21701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4" name="Text 52"/>
          <p:cNvSpPr/>
          <p:nvPr/>
        </p:nvSpPr>
        <p:spPr>
          <a:xfrm>
            <a:off x="8377733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차량 오너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8377733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56" name="Text 54"/>
          <p:cNvSpPr/>
          <p:nvPr/>
        </p:nvSpPr>
        <p:spPr>
          <a:xfrm>
            <a:off x="8377733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초기·충성 타겟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639605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분미 · 29세 · 비엔티안 직장인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41157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41157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“가까운 충전소가 어디 있는지를 모르겠어요.”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341157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377733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거주 자차 충전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4,437대(+111%)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15~39세 43.2% 젊은 얼리어답터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341157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41157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377733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가까운 충전소 탐색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예약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41157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41157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77733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정보 부족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속도 불만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기능 부재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8341157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EV 4,437대(2024.10) — 초기 모수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341157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충전소위치·충전 불만 + LSB 연령구조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 ·   PRODUCT PLANNING &amp;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인사이트를 11개 기능과 설계 산출물로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LIFECYCLE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만든 것 — 기획에서 설계까지, 개발 직전 단계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280453" cy="512064"/>
          </a:xfrm>
          <a:prstGeom prst="roundRect">
            <a:avLst>
              <a:gd name="adj" fmla="val 17857"/>
            </a:avLst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1664208"/>
            <a:ext cx="682325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우리가 완성한 범위</a:t>
            </a:r>
            <a:pPr indent="0" marL="0">
              <a:buNone/>
            </a:pPr>
            <a:r>
              <a:rPr lang="en-US" sz="13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분석 → 기획 → 설계  (개발 즉시 착수 가능)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1701" y="1664208"/>
            <a:ext cx="3503066" cy="512064"/>
          </a:xfrm>
          <a:prstGeom prst="roundRect">
            <a:avLst>
              <a:gd name="adj" fmla="val 17857"/>
            </a:avLst>
          </a:prstGeom>
          <a:solidFill>
            <a:srgbClr val="E3E9E8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▶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395728"/>
            <a:ext cx="3503066" cy="731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· 무엇을 · 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1248" y="3392424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78992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41248" y="3867912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41248" y="4343400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78992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033418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344314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4314" y="2395728"/>
            <a:ext cx="3503066" cy="7315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4600346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00346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어떻게 동작 · 구조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18634" y="3392424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4856378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18634" y="3867912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8" name="Text 36"/>
          <p:cNvSpPr/>
          <p:nvPr/>
        </p:nvSpPr>
        <p:spPr>
          <a:xfrm>
            <a:off x="4856378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618634" y="4343400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0" name="Text 38"/>
          <p:cNvSpPr/>
          <p:nvPr/>
        </p:nvSpPr>
        <p:spPr>
          <a:xfrm>
            <a:off x="4856378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18634" y="4818888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2" name="Text 40"/>
          <p:cNvSpPr/>
          <p:nvPr/>
        </p:nvSpPr>
        <p:spPr>
          <a:xfrm>
            <a:off x="4856378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시퀀스 다이어그램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810805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21701" y="2395728"/>
            <a:ext cx="3503066" cy="7315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7" name="Text 45"/>
          <p:cNvSpPr/>
          <p:nvPr/>
        </p:nvSpPr>
        <p:spPr>
          <a:xfrm>
            <a:off x="8377733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377733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· 실제 구현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96021" y="3392424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0" name="Text 48"/>
          <p:cNvSpPr/>
          <p:nvPr/>
        </p:nvSpPr>
        <p:spPr>
          <a:xfrm>
            <a:off x="8633765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구현 · API 개발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396021" y="3867912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2" name="Text 50"/>
          <p:cNvSpPr/>
          <p:nvPr/>
        </p:nvSpPr>
        <p:spPr>
          <a:xfrm>
            <a:off x="8633765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구축 · 운영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396021" y="4343400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4" name="Text 52"/>
          <p:cNvSpPr/>
          <p:nvPr/>
        </p:nvSpPr>
        <p:spPr>
          <a:xfrm>
            <a:off x="8633765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충전기 실연동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96021" y="4818888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6" name="Text 54"/>
          <p:cNvSpPr/>
          <p:nvPr/>
        </p:nvSpPr>
        <p:spPr>
          <a:xfrm>
            <a:off x="8633765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· 테스트 · 배포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377733" y="5047488"/>
            <a:ext cx="3045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프로젝트 범위 외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650992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5650992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950976" y="5650992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분석에서 멈추지 않고, 개발이 즉시 착수 가능한 설계 산출물까지 완성했습니다. (산출물 상세 → 부록)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ARTIFACTS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 — 산출물 3개 묶음으로 구체화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737360"/>
            <a:ext cx="3503066" cy="7680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· 로직 설계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3137306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37306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" y="2761488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87552" y="3145536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474720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87552" y="3858768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4187952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4672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↔ 충전기 통신과 충전 동작 로직을 정의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44314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582058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설계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6914693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6914693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82058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4582058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57546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(엔티티·관계 모델링)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764938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82058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4582058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57546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 (DDL)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582058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82058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서비스·VOC 데이터 구조를 실행 가능한 스키마로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121701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21701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8359445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· 화면 기획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10692079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10692079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59445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Text 52"/>
          <p:cNvSpPr/>
          <p:nvPr/>
        </p:nvSpPr>
        <p:spPr>
          <a:xfrm>
            <a:off x="8359445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34933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시나리오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542325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9445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8359445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34933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8542325" y="3858768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59445" y="4187952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8359445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34933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8359445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59445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흐름과 화면을 검증 가능한 형태로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66928" y="5779008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66928" y="5779008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950976" y="5779008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순서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통신·로직 → 데이터 → UX·화면 순으로 설계·기획했고, 각 산출물 실물은 부록에서 확인할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기능으로 — 모든 기능에 근거를 붙이다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1691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근거 (Pain Point)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13048" y="1691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67528" y="1691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도출한 기능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488168" y="1691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94560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21945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불안정 27.6%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75888" y="21945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1위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67528" y="219456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세션·앱 안정성 (자동 복구)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24160" y="2377440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26" name="Text 24"/>
          <p:cNvSpPr/>
          <p:nvPr/>
        </p:nvSpPr>
        <p:spPr>
          <a:xfrm>
            <a:off x="10424160" y="237744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2944368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29443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계정·인증·KYC 15.0%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75888" y="294436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2위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67528" y="2944368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 온보딩 · 외국인 친화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424160" y="3127248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32" name="Text 30"/>
          <p:cNvSpPr/>
          <p:nvPr/>
        </p:nvSpPr>
        <p:spPr>
          <a:xfrm>
            <a:off x="10424160" y="312724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694176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" y="3694176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결제·지갑 11.0%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75888" y="36941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3위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3694176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지갑·결제 안정 · 결제 확인 화면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424160" y="3877056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10424160" y="387705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6928" y="4443984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" y="444398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외국인·다국어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75888" y="44439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Neg 65.8%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367528" y="44439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UI · 국제 결제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424160" y="4626864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0" y="46268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6928" y="5193792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" y="519379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충전소·위치 2.4%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75888" y="519379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367528" y="5193792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 · 세션 표시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424160" y="5376672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10424160" y="53766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6928" y="60533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‘느낌’이 아니라 건수로 — 모든 기능 카드 뒤에 정량 데이터가 붙어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STRATEGY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포지셔닝 — 가격 × 품질·기능으로 본 목표 좌표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1874520"/>
            <a:ext cx="3200400" cy="1805940"/>
          </a:xfrm>
          <a:prstGeom prst="rect">
            <a:avLst/>
          </a:prstGeom>
          <a:solidFill>
            <a:srgbClr val="E7F5F2"/>
          </a:solidFill>
          <a:ln/>
        </p:spPr>
      </p:sp>
      <p:sp>
        <p:nvSpPr>
          <p:cNvPr id="17" name="Text 15"/>
          <p:cNvSpPr/>
          <p:nvPr/>
        </p:nvSpPr>
        <p:spPr>
          <a:xfrm>
            <a:off x="1508760" y="1947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(목표)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874520"/>
            <a:ext cx="0" cy="361188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417320" y="3680460"/>
            <a:ext cx="640080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32588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품질 · 기능 높음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17320" y="5541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저렴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60520" y="5541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5541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비쌈 ▶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2404872"/>
            <a:ext cx="384048" cy="384048"/>
          </a:xfrm>
          <a:prstGeom prst="ellipse">
            <a:avLst/>
          </a:prstGeom>
          <a:solidFill>
            <a:srgbClr val="03C75A"/>
          </a:solidFill>
          <a:ln w="19050">
            <a:solidFill>
              <a:srgbClr val="02A1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24505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KOKKOK EV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19088" y="2405786"/>
            <a:ext cx="237744" cy="23774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7" name="Text 25"/>
          <p:cNvSpPr/>
          <p:nvPr/>
        </p:nvSpPr>
        <p:spPr>
          <a:xfrm>
            <a:off x="6693408" y="237835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266944" y="3200400"/>
            <a:ext cx="237744" cy="23774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5541264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42816" y="4175608"/>
            <a:ext cx="237744" cy="237744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41481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82896" y="478962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3" name="Text 31"/>
          <p:cNvSpPr/>
          <p:nvPr/>
        </p:nvSpPr>
        <p:spPr>
          <a:xfrm>
            <a:off x="5157216" y="476219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10712" y="450067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5" name="Text 33"/>
          <p:cNvSpPr/>
          <p:nvPr/>
        </p:nvSpPr>
        <p:spPr>
          <a:xfrm>
            <a:off x="3685032" y="447324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29600" y="1874520"/>
            <a:ext cx="3395167" cy="3886200"/>
          </a:xfrm>
          <a:prstGeom prst="roundRect">
            <a:avLst>
              <a:gd name="adj" fmla="val 2155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0" y="18745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8577072" y="2075688"/>
            <a:ext cx="28465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목표 좌표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77072" y="2633472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2542032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— ‘싸고 잘 되는’ 빈 사분면을 선점.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77072" y="331012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833104" y="3218688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— 라오스 최저 단가 + 11개 기능·앱 안정성.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577072" y="398678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8833104" y="3895344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EV(현지 1위) 대비 7% 저렴 + kWh 단일 과금.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77072" y="466344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833104" y="4572000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PTT는 별점 1위지만 TOU·예약비로 복잡 (태국 한정).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577072" y="5166360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가격축은 공식 단가(태국 3사·V-Green·LOCA 수집) 기준, 품질·기능축은 별점·기능 수 기반 정성 평가.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정의 — 앱 6 + HW 5 = 11개 (가치 · MoSCoW)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54480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544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99616" y="155448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39896" y="1554480"/>
            <a:ext cx="3465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51776" y="155448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52176" y="1554480"/>
            <a:ext cx="10177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193852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" y="198196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" y="198196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99616" y="193852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 자동 복구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39896" y="193852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앱·네트워크 오류 시 세션 서버 저장·자동 복구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51776" y="193852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 끊겨도 처음부터 다시 안 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0585552" y="197739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585552" y="197739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6928" y="2263140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" y="230657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30657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499616" y="226314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재시도 + 수동 입력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39896" y="226314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 시 자동 재시도 후 6자리 수동 입력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51776" y="226314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안 돼도 충전 시작 가능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85552" y="230200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37" name="Text 35"/>
          <p:cNvSpPr/>
          <p:nvPr/>
        </p:nvSpPr>
        <p:spPr>
          <a:xfrm>
            <a:off x="10585552" y="230200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587752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4944" y="263118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" y="263118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499616" y="258775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오프라인 결제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739896" y="258775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불안정 시 RFID 카드 태깅 결제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351776" y="258775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끊겨도 결제·충전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585552" y="262661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10585552" y="262661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2912364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" y="295579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694944" y="295579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499616" y="291236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739896" y="291236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완료 → 충전 시작 상태 명시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51776" y="291236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‘결제됐는데 충전 안 됨’ 불안 해소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585552" y="295122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10585552" y="295122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3236976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4944" y="328041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56" name="Text 54"/>
          <p:cNvSpPr/>
          <p:nvPr/>
        </p:nvSpPr>
        <p:spPr>
          <a:xfrm>
            <a:off x="694944" y="328041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499616" y="323697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739896" y="323697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충전기 실시간 표시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51776" y="323697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헛걸음 없이 빈 충전기 탐색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585552" y="327583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1" name="Text 59"/>
          <p:cNvSpPr/>
          <p:nvPr/>
        </p:nvSpPr>
        <p:spPr>
          <a:xfrm>
            <a:off x="10585552" y="327583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66928" y="3561588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94944" y="360502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64" name="Text 62"/>
          <p:cNvSpPr/>
          <p:nvPr/>
        </p:nvSpPr>
        <p:spPr>
          <a:xfrm>
            <a:off x="694944" y="360502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499616" y="356158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739896" y="356158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5분 전 푸시 알림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351776" y="356158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페널티·대기 회피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585552" y="360045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9" name="Text 67"/>
          <p:cNvSpPr/>
          <p:nvPr/>
        </p:nvSpPr>
        <p:spPr>
          <a:xfrm>
            <a:off x="10585552" y="360045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66928" y="3886200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6928" y="3886200"/>
            <a:ext cx="11057839" cy="2286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2" name="Shape 70"/>
          <p:cNvSpPr/>
          <p:nvPr/>
        </p:nvSpPr>
        <p:spPr>
          <a:xfrm>
            <a:off x="694944" y="392963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73" name="Text 71"/>
          <p:cNvSpPr/>
          <p:nvPr/>
        </p:nvSpPr>
        <p:spPr>
          <a:xfrm>
            <a:off x="694944" y="392963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499616" y="388620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2.0.1 준수 검증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3739896" y="388620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제조사 OCPP 규격 준수 사전 검증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51776" y="388620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앱↔기기 통신 실패 근본 차단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0585552" y="392506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78" name="Text 76"/>
          <p:cNvSpPr/>
          <p:nvPr/>
        </p:nvSpPr>
        <p:spPr>
          <a:xfrm>
            <a:off x="10585552" y="392506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66928" y="4210812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4944" y="425424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1" name="Text 79"/>
          <p:cNvSpPr/>
          <p:nvPr/>
        </p:nvSpPr>
        <p:spPr>
          <a:xfrm>
            <a:off x="694944" y="425424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499616" y="421081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모니터링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739896" y="421081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상태·고장 실시간 감지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351776" y="421081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 충전기 헛시도 방지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10585552" y="424967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86" name="Text 84"/>
          <p:cNvSpPr/>
          <p:nvPr/>
        </p:nvSpPr>
        <p:spPr>
          <a:xfrm>
            <a:off x="10585552" y="424967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66928" y="4535424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4944" y="457885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9" name="Text 87"/>
          <p:cNvSpPr/>
          <p:nvPr/>
        </p:nvSpPr>
        <p:spPr>
          <a:xfrm>
            <a:off x="694944" y="457885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1499616" y="453542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 오류 로그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3739896" y="453542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앱-기기 통신 인증 오류 수집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7351776" y="453542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원인 신속 파악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10585552" y="457428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94" name="Text 92"/>
          <p:cNvSpPr/>
          <p:nvPr/>
        </p:nvSpPr>
        <p:spPr>
          <a:xfrm>
            <a:off x="10585552" y="457428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66928" y="4860036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4944" y="490347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97" name="Text 95"/>
          <p:cNvSpPr/>
          <p:nvPr/>
        </p:nvSpPr>
        <p:spPr>
          <a:xfrm>
            <a:off x="694944" y="490347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1499616" y="486003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펌웨어 OTA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3739896" y="486003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원격 펌웨어 업데이트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7351776" y="486003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방문 없이 결함 대응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10585552" y="489889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10585552" y="489889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8464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4944" y="522808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105" name="Text 103"/>
          <p:cNvSpPr/>
          <p:nvPr/>
        </p:nvSpPr>
        <p:spPr>
          <a:xfrm>
            <a:off x="694944" y="522808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1499616" y="518464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고장 신고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3739896" y="518464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내 고장 신고 기능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351776" y="518464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충전기 빠른 처리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0585552" y="522351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585552" y="522351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566928" y="5600700"/>
            <a:ext cx="6634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KPI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 2.56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3.8점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저별점 58%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7201632" y="5600700"/>
            <a:ext cx="442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Must(필수)·Should(권장)·Could(선택) — P0→Must·P1→Should·P2→Could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JOURNEY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감정선과 터치포인트, 그리고 개선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탐색·발견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앱 지도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51648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1648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2961376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QR 스캔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61376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충전기 QR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63216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3216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5172944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결제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72944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결제 화면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74784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74784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384512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충전 진행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84512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 상태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486351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86351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9596079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완료·정산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96079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완료 알림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670048"/>
            <a:ext cx="11057839" cy="1517904"/>
          </a:xfrm>
          <a:prstGeom prst="roundRect">
            <a:avLst>
              <a:gd name="adj" fmla="val 4819"/>
            </a:avLst>
          </a:prstGeom>
          <a:solidFill>
            <a:srgbClr val="F7FAF9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2624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만족 ▲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4944" y="3977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불만 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515807" y="2779776"/>
            <a:ext cx="365760" cy="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7300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(현재)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253167" y="2779776"/>
            <a:ext cx="365760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1036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(개선)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672712" y="3364992"/>
            <a:ext cx="2211568" cy="448056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672712" y="3019349"/>
            <a:ext cx="2211568" cy="25603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884280" y="3749040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84280" y="3019349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95848" y="3685032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95848" y="2980944"/>
            <a:ext cx="2211568" cy="38405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8307415" y="3364992"/>
            <a:ext cx="2211568" cy="32004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07415" y="2980944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272" y="2953512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2" name="Shape 50"/>
          <p:cNvSpPr/>
          <p:nvPr/>
        </p:nvSpPr>
        <p:spPr>
          <a:xfrm>
            <a:off x="1581272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3" name="Shape 51"/>
          <p:cNvSpPr/>
          <p:nvPr/>
        </p:nvSpPr>
        <p:spPr>
          <a:xfrm>
            <a:off x="3792840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Shape 52"/>
          <p:cNvSpPr/>
          <p:nvPr/>
        </p:nvSpPr>
        <p:spPr>
          <a:xfrm>
            <a:off x="3792840" y="3721608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5" name="Shape 53"/>
          <p:cNvSpPr/>
          <p:nvPr/>
        </p:nvSpPr>
        <p:spPr>
          <a:xfrm>
            <a:off x="6004408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6" name="Shape 54"/>
          <p:cNvSpPr/>
          <p:nvPr/>
        </p:nvSpPr>
        <p:spPr>
          <a:xfrm>
            <a:off x="6004408" y="365760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7" name="Shape 55"/>
          <p:cNvSpPr/>
          <p:nvPr/>
        </p:nvSpPr>
        <p:spPr>
          <a:xfrm>
            <a:off x="8215975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Shape 56"/>
          <p:cNvSpPr/>
          <p:nvPr/>
        </p:nvSpPr>
        <p:spPr>
          <a:xfrm>
            <a:off x="8215975" y="359359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27543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427543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1" name="Text 59"/>
          <p:cNvSpPr/>
          <p:nvPr/>
        </p:nvSpPr>
        <p:spPr>
          <a:xfrm>
            <a:off x="658368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위치·가용 정보 부족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40080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9808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[F5] 실시간 충전소 지도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869936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인식 실패·앱 멈춤 (앱 불안정 27.6%)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2851648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61376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[F2] 자동 재시도 + 수동 입력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81504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후 충전 안 됨 (결제·지갑 11.0%)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63216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72944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[F4] RFID · [F5] 결제 확인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93072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끊김 → 처음부터 재시작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74784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84512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[F1] 세션 자동 복구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9504639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페널티·헛걸음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486351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96079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[F11] 완료 알림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66928" y="5669280"/>
            <a:ext cx="11057839" cy="502920"/>
          </a:xfrm>
          <a:prstGeom prst="roundRect">
            <a:avLst>
              <a:gd name="adj" fmla="val 14545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66928" y="5669280"/>
            <a:ext cx="128016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950976" y="5669280"/>
            <a:ext cx="103263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감정선이 꺼지는 지점(QR·결제·충전)마다 PRD 기능이 정확히 개입 — 골짜기를 메워 To-Be 곡선을 끌어올립니다.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② 충전 서비스 핵심 Flow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14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44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728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034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458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탐색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7287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가용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00504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365096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5096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247482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822296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6536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스캔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74824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자동 재시도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수동 ID 입력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02456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267048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67048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437677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4248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F4·F5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358488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76776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/ RFID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004408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69000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69000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62787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26200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0440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78728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인증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로그 수집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906360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070952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70952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80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528152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162392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진행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80680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서버 저장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30초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808312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97290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2904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3" name="Text 51"/>
          <p:cNvSpPr/>
          <p:nvPr/>
        </p:nvSpPr>
        <p:spPr>
          <a:xfrm>
            <a:off x="100826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043010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F11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06434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완료·정산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08263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5분 전 알림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유예 10분·유휴 과금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70672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196276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플로우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08416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Text 58"/>
          <p:cNvSpPr/>
          <p:nvPr/>
        </p:nvSpPr>
        <p:spPr>
          <a:xfrm>
            <a:off x="434020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[Fx]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61608" y="4892040"/>
            <a:ext cx="182880" cy="18288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2" name="Text 60"/>
          <p:cNvSpPr/>
          <p:nvPr/>
        </p:nvSpPr>
        <p:spPr>
          <a:xfrm>
            <a:off x="671764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연동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839048" y="489204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4" name="Text 62"/>
          <p:cNvSpPr/>
          <p:nvPr/>
        </p:nvSpPr>
        <p:spPr>
          <a:xfrm>
            <a:off x="909508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분기 대응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66928" y="534924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2688" y="5349240"/>
            <a:ext cx="1032631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오류는 예외가 아니라 기본값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QR 실패·OCPP 오류·세션 끊김 등 데이터에서 확인된 실패 지점마다 복구 분기를 플로우에 내장했습니다.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HARDWARE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③ OCPP 1.6J 연동 — 제조사 3사 스펙 검증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589520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45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03580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NANCOME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7316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1052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48840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14884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버전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3580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1052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825496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2825496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프로토콜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3580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Profile 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1 &amp; 2 (TLS)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1052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1.2+ WSS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3502152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50215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인증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3580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화이트리스트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단절 시 충전 유지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허용/차단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78808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7880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kWh 자동종료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3580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자체 Local Stop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052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의존(Backend)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4855464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85546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펌웨어 OTA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03580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(VPN/OCPP)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7316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(OTA)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1052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(Ability)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30768" y="1645920"/>
            <a:ext cx="3193999" cy="388620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0768" y="16459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1847088"/>
            <a:ext cx="2645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직접 검증했나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778240" y="2286000"/>
            <a:ext cx="25996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호환문제가 169건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최다 → 제조사별 실제 스펙을 직접 대조했습니다.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발견: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 ChargingProfile은 ‘속도 한도’ 제어용이라 목표 kWh 자동종료가 불가 →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 / 기기 Local Stop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등 제조사별 우회 설계를 요금정책에 반영.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④ 요금 정책 — LOCA EV 벤치마킹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040880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642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87121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(경쟁사)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9437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(제안)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176272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2176272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기반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5292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 / 후불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7608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(사용한도 후불)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852928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2852928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85292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전력량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7608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 — 공정성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529584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3529584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5292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27608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206240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206240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유예 시간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5292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27608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 (넉넉한 유예)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882896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85292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27608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 (노쇼 방지)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82128" y="1664208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82128" y="1664208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174736" y="1773936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174736" y="2176272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실시간 계량으로 사용량·사용한도 관리 → 한도 내 사용 후 후불 정산, 미수금 방지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3017520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82128" y="3017520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74736" y="3127248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단일 과금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8174736" y="3529584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과금 제거로 사용자 체감 공정성 확보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82128" y="4370832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82128" y="4370832"/>
            <a:ext cx="109728" cy="11887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0" name="Text 48"/>
          <p:cNvSpPr/>
          <p:nvPr/>
        </p:nvSpPr>
        <p:spPr>
          <a:xfrm>
            <a:off x="8174736" y="448056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단가 설계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174736" y="4882896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Pain Point 해소 + 경쟁사 단가 대비 가격 우위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완성된 정책안 — 요금 체계 &amp; 운영 규칙 (vs LOCA EV)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6583680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(확정)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56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(참고)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14884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48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방식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51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가승인·후불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65176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최소 잔액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51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₭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 ₭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51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kWh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65760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657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651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37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6052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605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수수료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51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 (4분 초과)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937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66344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63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페널티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651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₭/분 · 10분 유예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37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 · 7분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6636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166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2651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937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5760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차별점 — wallet 충전식 결제(사용한도 후불) · kWh 단일 과금 · 유휴 유예 +3분 · 예약 보증금(노쇼 방지)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424928" y="1691640"/>
            <a:ext cx="4199839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24928" y="1691640"/>
            <a:ext cx="128016" cy="39776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7790688" y="1874520"/>
            <a:ext cx="3559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규칙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790688" y="2450592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8065008" y="2368296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· 정산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사용한도 기반 후불제 → 한도 내 사용 후 후불 정산 · 한도 도달 시 충전 자동 종료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90688" y="3291840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8065008" y="3209544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 조건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Available · 통신 정상 · 최소 잔액 · 1계정 1충전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7790688" y="41330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8065008" y="4050792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종료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완충(BMS) · 종료 버튼 · 5분 통신 단절 자동 종료 · 잔액 소진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790688" y="4974336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8065008" y="4892040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(OCPP)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Faulted · Offline 상태는 시작 버튼 자동 비활성화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 — 충전 유닛 이코노믹스 (가정 기반 시나리오)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37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kWh당 마진 구조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313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 단가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61488" y="2313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전력 원가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61488" y="2770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~647 ₭/kWh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3268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총마진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61488" y="3227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3,350 ₭/kWh · 84%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1248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전력 잉여·저가 → 충전 원가의 구조적 우위 (운영비 차감 전 총마진)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87568" y="1691640"/>
            <a:ext cx="5937199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61888" y="1837944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회수 민감도 — 변수는 가동률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61888" y="2258568"/>
            <a:ext cx="22631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가동률 (일 충전)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5083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총마진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87765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회수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61888" y="2569464"/>
            <a:ext cx="538855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61888" y="2642616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보수 · 40 kWh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5083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49M ₭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787765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961888" y="3044952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· 80 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25083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 ₭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787765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~4년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961888" y="3447288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낙관 · 150 kWh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5083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184M ₭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87765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~2.2년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961888" y="3593592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가정: 급속충전기 1기 CAPEX ~4억₭(≈$18k) · 세션 ~10kWh · 마진 3,350₭(운영비 별도)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420624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20624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978408" y="4361688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마진은 구조적으로 높다(84%). 변수는 ‘가동률’이다.
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그 가동률을 보장한다 — LOCA가 택시앱 드라이버로 1년 내 회수한 바로 그 레버. ⚠️ 가정치이며, 보수 시나리오에서도 사업성 확보 구간.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벤치마크·경쟁사 선정 — 데이터 분석 vs 경영진 (범위별)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96896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가리키는 대상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2881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 구상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49056" y="164592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장 · 단점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2103120"/>
            <a:ext cx="11057839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103120"/>
            <a:ext cx="82296" cy="10789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2103120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국한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(진입 시장)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96896" y="2103120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현지 1위·40개소·1년 회수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8816" y="2103120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 ✓ 일치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2103120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동일 시장·모델·검증된 사업성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VOC 7건뿐 → UX 분석엔 한계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182112"/>
            <a:ext cx="11057839" cy="1078992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182112"/>
            <a:ext cx="82296" cy="107899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3182112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통합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(라오스+태국+베트남)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596896" y="3182112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(태국·UX 1위 3.11) · </a:t>
            </a:r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(베트남→라오스·위협) · Green SM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28816" y="3182112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49056" y="3182112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UX 품질 기준·미래/경쟁 동학 대비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시장·규모 상이 → 직접 이식엔 한계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437083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차이의 원인 —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경영진은 ‘진입 시장(현지)’ 렌즈로 LOCA를, 데이터는 ‘역내(성숙 시장·EV 선례)’ 렌즈로 PTT·Xanh SM을 가리킴 → 대상이 틀린 게 아니라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범위(scope)가 다른 것 — 상호보완.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64608"/>
            <a:ext cx="11057839" cy="1078992"/>
          </a:xfrm>
          <a:prstGeom prst="roundRect">
            <a:avLst>
              <a:gd name="adj" fmla="val 678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864608"/>
            <a:ext cx="146304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" y="5010912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LOCA EV를 경쟁사·벤치마크로 채택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(동일 비즈모델·동일 시장·검증된 현지 사업성·동급 스케일).  </a:t>
            </a:r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 = UX 품질 지향점 · VinFast·Xanh SM = 추적할 위협. → 경영진 판단을 데이터로 검증·강화.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우리가 이기나 — LOCA EV(지정 벤치마크) 대비 3대 우위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앵커 수요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 = 고정·고빈도 충전 수요 → 가동률 리스크↓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슈퍼앱(쇼핑·결제) 교차판매로 고객당 가치(LTV)↑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LOCA가 택시앱으로 검증한 모델을 동일 보유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64208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요금·UX 우위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&lt; LOCA 4,300₭ · kWh 단일 과금(투명)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결제(사용한도 후불) → 미수금 방지 · 노쇼 보증금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공통 약점 ‘앱 불안정 27.6%’를 안정성으로 정면 차별화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표준·중립·현지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— 멀티 제조사 호환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브랜드 중립(특정 OEM 비종속)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운영 기반 → 인허가·부지·실행 속도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800600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800600"/>
            <a:ext cx="146304" cy="105156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4928616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8A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추가로 포착한 위협 — VinFast·Xanh SM (뉴스 점유율 1위, Vingroup).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차량+라이드헤일링+자본을 결합해 라오스 진입 중 — 지정 벤치마크(LOCA) 밖의 실제 경쟁자. 대응: 드라이버 앵커 수요·브랜드 중립·현지 실행 속도로 선점.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 ·   IMPACT &amp; RETROSPECTIVE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· 리스크·가정·한계 · 배운 것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효과 — 데이터로 세운 목표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656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56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2.56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800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51800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629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벤치마크 추월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0692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0692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339836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58%  →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9836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339836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1~2점 저별점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1665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개선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728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87288" y="1783080"/>
            <a:ext cx="2697480" cy="10972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627872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27.6%  →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7872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ctr" indent="0" marL="0">
              <a:buNone/>
            </a:pPr>
            <a:r>
              <a:rPr lang="en-US" sz="2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2" name="Text 30"/>
          <p:cNvSpPr/>
          <p:nvPr/>
        </p:nvSpPr>
        <p:spPr>
          <a:xfrm>
            <a:off x="627872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앱 불안정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9701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안정성(½)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6764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67648" y="1783080"/>
            <a:ext cx="2697480" cy="1097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915908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15.0%  →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5908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ctr" indent="0" marL="0">
              <a:buNone/>
            </a:pPr>
            <a:r>
              <a:rPr lang="en-US" sz="2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915908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계정·KYC 온보딩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7737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이탈 절반 목표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" y="4892040"/>
            <a:ext cx="146304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78408" y="4892040"/>
            <a:ext cx="102348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KPI는 수집한 28,890건 리뷰의 현재 baseline에서 출발합니다.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후 동일 파이프라인으로 재측정해 개선 효과를 검증할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ASK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로드맵 &amp; 제안 — 단계별 투자·의사결정 게이트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· 0~3개월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4980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· KOKKOK Move 드라이버 대상 급속 N기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안정성·KYC·결제 MVP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가동률·크래시프리·온보딩 완료율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165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8853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8538" y="1691640"/>
            <a:ext cx="2593010" cy="71323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4" name="Text 22"/>
          <p:cNvSpPr/>
          <p:nvPr/>
        </p:nvSpPr>
        <p:spPr>
          <a:xfrm>
            <a:off x="353484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3~9개월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3484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거점 확장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57141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네트워크 확대 + 슈퍼앱 통합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EV 오너 유입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충전기당 회수 궤도·재방문율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6326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014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014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635645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9~18개월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645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2거점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39302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사반나켓 진출(양대 거점)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결제·다국어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단가 흑자 전환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84869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031757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1757" y="1691640"/>
            <a:ext cx="2593010" cy="71323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" name="Text 34"/>
          <p:cNvSpPr/>
          <p:nvPr/>
        </p:nvSpPr>
        <p:spPr>
          <a:xfrm>
            <a:off x="9178061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18~36개월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178061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규모화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214637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규모화·로밍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데이터 기반 신사업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네트워크 BEP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4919472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919472"/>
            <a:ext cx="14630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" y="5047488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제안(Ask) — Phase 0 파일럿 승인: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급속충전기 N기 CAPEX + 전담팀(기획·앱·HW협업) + N개월. 리스크는 파일럿으로 제한하고, 가동률·앱 지표·회수 궤도가 게이트를 통과할 때만 다음 단계 자본을 투입(단계적 go/no-go). 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규모는 가정·제안치.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회고 — 계획은 데이터 앞에서 계속 바뀌었다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69848" y="3401568"/>
            <a:ext cx="10051999" cy="0"/>
          </a:xfrm>
          <a:prstGeom prst="line">
            <a:avLst/>
          </a:prstGeom>
          <a:noFill/>
          <a:ln w="25400">
            <a:solidFill>
              <a:srgbClr val="03C75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011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앱 3 → 5개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84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7건뿐 → 태국 비교군 추가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2115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841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뉴스·HW 수집 추가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888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841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VOC와 시장정보 분리 필요 → 테이블 분리 설계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2219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945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번역 → 다국어 직접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992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45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12시간 병목 → XLM-RoBERTa로 2시간 단축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3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049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집계 → Python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096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049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10초 timeout → 배치·pandas 처리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427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153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분류 확장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200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53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Negative만 → 전체 리뷰로 확대 (긍·중립 포함)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2531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257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컬럼 보강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304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257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중 오류 발견 → ALTER TABLE 즉시 대응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8408" y="50749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배운 것  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계획대로 된 건 거의 없었지만, 매 변경마다 ‘왜’를 데이터로 설명할 수 있었습니다. 그 과정 자체가 PM의 근거였습니다.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ASSUMPTIONS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리스크 · 가정 · 한계 — 정직하게 남겨둔 것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3503066" cy="512064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한계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92%가 Green SM(베트남 라이드헤일링) → 충전 전용 표본은 1,227건으로 작음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1차 데이터 희소(LOCA 7건·KOKKOK 378) · 라오어 NLP·Google 색인 취약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 후에도 ‘기타’ 16.6% 잔존(오타·초단문 등 비분류성)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뉴스는 추정 — 인과 주장에 한계 · 뉴스 SoV는 인지도 프록시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91640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· 실행 리스크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 공격적 진입(뉴스 점유율 1위) → 경쟁 심화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현지 인지도 약세 → 마케팅·차별화 부담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 확장 비용 · 전력·부지 의존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API 제약으로 Facebook(현지 핵심 채널) 미수집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91640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 수입 중단(2026) → EV 수요 급증이 지속된다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LOCA의 ‘1년 내 투자금 회수’ 모델이 재현 가능하다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안정성·온보딩 개선이 별점·점유율 상승으로 이어진다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Move의 기존 현지 운영 기반이 충전 확장의 강점이 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532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5532120"/>
            <a:ext cx="146304" cy="84124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55321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한계를 숨기지 않고 명시했습니다. 다음 단계는 Facebook 인지도·라오어 커뮤니티 수집으로 라오스 1차 데이터를 더 채우는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657600"/>
            <a:ext cx="4572000" cy="457200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solidFill>
            <a:srgbClr val="C9F2D8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정리하며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풀고,
</a:t>
            </a:r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서비스를 설계했습니다.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58368" y="370332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611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39,700+ 건의 멀티채널 VOC를 직접 수집·전처리·분석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425196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‘앱오류=OCPP’ 가설을 도메인 분리 재분류로 검증·수정 — VOC 92%가 라이드헤일링이었다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80060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· 플로우 · OCPP 연동 · 요금정책까지 실제 산출물로 연결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5715000"/>
            <a:ext cx="10874959" cy="0"/>
          </a:xfrm>
          <a:prstGeom prst="line">
            <a:avLst/>
          </a:prstGeom>
          <a:noFill/>
          <a:ln w="19050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5943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 </a:t>
            </a:r>
            <a:pPr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56655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 |  마수한 · 김재희  |  2026-06-19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645920"/>
            <a:ext cx="4206240" cy="420624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12648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단계별 산출물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 → 기획 → 설계 전 과정에서 실제로 만든 산출물 + 용어 사전입니다. (발표 시 생략 · 열람·Q&amp;A용)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산출물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052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90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산출물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916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순서도(Flow Chart)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ocp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↔ 중앙서버(CSMS) 간 OCPP 1.6-J 통신 메시지·데이터 필드·제약·JSON 스키마·상태값을 정의한 통신 규격 명세서.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최다로 드러난 OCPP·호환문제(169건)를 표준 준수로 해소하기 위한 개발 기준 문서.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385816" y="5376672"/>
            <a:ext cx="5937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원본: OCPP 1.6 edition 2 / errata-sheet 기반 · BootNotification·StatusNotification 등 메시지별 정의 (총 17p)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VOC·시장 데이터와 서비스 데이터를 담는 엔티티와 관계를 모델링한 다이어그램 (chargers · charging_sessions · transactions 등).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구조와 FK 관계를 정의 — 분석 파이프라인과 서비스 DB의 청사진.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assets/deliverables/del_db.png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테이블·컬럼·타입·제약조건을 정의한 스키마 설계 및 DDL(create_tables.sql).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ERD를 실행 가능한 스키마로 구체화 — 개발 착수 시 그대로 DB 구축에 사용.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 (순서도)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flow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시작·완료·결제 프로세스의 분기와 예외 처리를 단계(QR→결제→OCPP→종료)별로 표현한 순서도.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실패·세션 복구 등 핵심 로직의 분기 조건을 빠짐없이 정의 — 개발 구현 기준.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앱·서버·충전기 간 OCPP 메시지(RemoteStart·StatusNotification·MeterValues 등)를 시간순으로 표현한 시퀀스 다이어그램.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 순서와 책임을 명확히 — Handshake·상태 전이 구현의 직접 근거.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assets/deliverables/del_scenario.png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충전을 시작·진행·종료하는 행동 흐름과 예외 상황을 정의한 유스 시나리오.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확인한 Pain Point를 실제 사용 맥락으로 구체화 — 기능 설계의 출발점.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assets/deliverables/del_storyboard.png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레이아웃·구성요소·동작·예외 처리를 정의한 화면설계서.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기능을 실제 UI로 구체화 — 디자인·개발이 참조하는 화면 명세.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assets/deliverables/del_prototype.png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기반 인터랙티브 프로토타입으로 핵심 충전 플로우를 실제 조작 가능하게 구현.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단계에서 사용자 흐름을 검증 — 개발 전 리스크를 조기에 발견.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① — 시장분석 · 데이터 수집 · 전처리 ·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정치·경제·사회·기술 거시환경 분석 프레임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TAM-SAM-SOM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전체·유효·수익가능 시장 규모 3단계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Voice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매체 언급량 점유율 — 브랜드 인지도 프록시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비교·목표로 삼는 선도 사례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기업이 공시하는 투자자 정보(실적·전략)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36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3319272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3319272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리뷰·댓글 등 고객의 소리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스크래핑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웹/앱에서 데이터를 자동 추출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/ API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피드/프로그램 인터페이스로 데이터 수신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페이지네이션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결과를 분할 수집(토큰 제한 우회)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앱·유튜브·뉴스·블로그 등 복수 출처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전처리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감지(langdetect)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언어 자동 판별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긍정·부정·중립으로 분류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XLM-RoBERTa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100개 언어 다국어 감성 분석 모델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처리(Batching)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작업을 소량씩 분할 실행(timeout 회피)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있으면 갱신·없으면 삽입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24448" y="3104388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6452464" y="3104388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1588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기반으로 불만 유형 태깅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라이드헤일링·충전·앱공통 영역 구분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1588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분모(denominator)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비율 계산의 기준 모집단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1588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표본 편향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특정 그룹 과대표집(예: vi 77.8%)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1588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동시타당도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지표와의 일치로 신뢰도 점검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1588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기타·미상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카테고리에도 안 잡힌 미분류분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② — 시각화 · 기획 ·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2축 평면에 경쟁자·목표를 배치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워드클라우드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빈출 단어를 크기로 시각화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2계층 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나눠 비교한 차트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674620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" y="2674620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305866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요구사항 정의서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32735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페르소나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정의한 대표 사용자상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836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경험·감정·터치포인트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사용자의 불편·고충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Must/Should/Could/Won't 우선순위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핵심성과지표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Non-goals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의도적으로 범위에서 제외한 것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완료를 판정하는 측정 조건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개체-관계 다이어그램(DB 구조)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테이블을 생성하는 SQL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개방형 표준 프로토콜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CSMS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중앙관리 시스템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통신을 시간순으로 표현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1588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플로우차트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프로세스 분기·예외를 표현한 순서도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15888" y="31912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태그 인식 — 오프라인 결제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15888" y="340614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인증(Know Your Customer)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62102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모빌리티+쇼핑+충전 등을 한 앱에 통합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DATA INVENTORY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인벤토리 — 무엇을·왜·어떻게 활용했나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대분류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09928" y="151790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소분류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9008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이름(테이블)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7316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범위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5624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0780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목적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90888" y="1517904"/>
            <a:ext cx="2179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1901952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1901952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09928" y="190195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99008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7316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라·베·태·글로벌 5개 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248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0780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충전·모빌리티 사용자 불만 정량화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390888" y="190195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감성·2계층 분류·PRD 근거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2468880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09928" y="246888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99008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7316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4개(Grab·Gojek·LOCA·KOKKOK)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56248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60780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 구도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390888" y="246888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②·SoV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3035808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3035808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709928" y="3035808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9008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youtube_videos/comments/stt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7316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영상·댓글·자막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56248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21·527·2,625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0780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맥락·정성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90888" y="3035808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시나리오·여정맵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66928" y="3602736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6928" y="3602736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76656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709928" y="3602736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블로그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99008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7316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한국어(네이버)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56248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60780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여행객 시각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390888" y="3602736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" y="4169664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66928" y="4169664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709928" y="4169664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99008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77316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· SoV·정책·HW·기업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556248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60780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시장·정책·경쟁 동향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390888" y="4169664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PEST·SoV·정책·경쟁사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6928" y="4736592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66928" y="4736592"/>
            <a:ext cx="54864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676656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참조 통계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709928" y="473659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299008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reference_stats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7316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라오스·역내 6범주(LSB·WFP·WB·IR)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556248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60780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시장 근거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9390888" y="473659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PEST·TAM·요금·사업성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66928" y="5303520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303520"/>
            <a:ext cx="54864" cy="56692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676656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709928" y="530352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299008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sns_posts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77316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해시태그(B안)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556248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760780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SNS 여론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9390888" y="530352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여건 시 재시도(노트북 06)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66928" y="599846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총괄 —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멀티채널(앱·슈퍼앱·유튜브·블로그) + Market Intel 뉴스 3,083 + 공식 참조통계 54. 모든 정량 주장은 위 출처로 추적 가능.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코코넛사일로 (Coconut Silo)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KOKKOK EV — 데이터로 문제를 풀어 서비스를 만드는 기획자</dc:title>
  <dc:subject>PptxGenJS Presentation</dc:subject>
  <dc:creator>마수한 · 김재희</dc:creator>
  <cp:lastModifiedBy>마수한 · 김재희</cp:lastModifiedBy>
  <cp:revision>1</cp:revision>
  <dcterms:created xsi:type="dcterms:W3CDTF">2026-06-14T00:00:44Z</dcterms:created>
  <dcterms:modified xsi:type="dcterms:W3CDTF">2026-06-14T00:00:44Z</dcterms:modified>
</cp:coreProperties>
</file>