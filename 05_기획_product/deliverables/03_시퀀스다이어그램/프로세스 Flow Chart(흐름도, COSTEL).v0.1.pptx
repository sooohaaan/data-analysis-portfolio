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19440000" cx="7200000"/>
  <p:notesSz cx="6858000" cy="9144000"/>
  <p:embeddedFontLst>
    <p:embeddedFont>
      <p:font typeface="Roboto Mon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6123">
          <p15:clr>
            <a:srgbClr val="747775"/>
          </p15:clr>
        </p15:guide>
        <p15:guide id="2" pos="226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123" orient="horz"/>
        <p:guide pos="226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RobotoMono-bold.fntdata"/><Relationship Id="rId10" Type="http://schemas.openxmlformats.org/officeDocument/2006/relationships/slide" Target="slides/slide5.xml"/><Relationship Id="rId21" Type="http://schemas.openxmlformats.org/officeDocument/2006/relationships/font" Target="fonts/RobotoMono-regular.fntdata"/><Relationship Id="rId13" Type="http://schemas.openxmlformats.org/officeDocument/2006/relationships/slide" Target="slides/slide8.xml"/><Relationship Id="rId24" Type="http://schemas.openxmlformats.org/officeDocument/2006/relationships/font" Target="fonts/RobotoMono-boldItalic.fntdata"/><Relationship Id="rId12" Type="http://schemas.openxmlformats.org/officeDocument/2006/relationships/slide" Target="slides/slide7.xml"/><Relationship Id="rId23" Type="http://schemas.openxmlformats.org/officeDocument/2006/relationships/font" Target="fonts/RobotoMon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794347" y="685800"/>
            <a:ext cx="1270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334890583_0_0:notes"/>
          <p:cNvSpPr/>
          <p:nvPr>
            <p:ph idx="2" type="sldImg"/>
          </p:nvPr>
        </p:nvSpPr>
        <p:spPr>
          <a:xfrm>
            <a:off x="2794347" y="685800"/>
            <a:ext cx="1270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33489058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9dfbe3054_0_48:notes"/>
          <p:cNvSpPr/>
          <p:nvPr>
            <p:ph idx="2" type="sldImg"/>
          </p:nvPr>
        </p:nvSpPr>
        <p:spPr>
          <a:xfrm>
            <a:off x="2794347" y="685800"/>
            <a:ext cx="1270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9dfbe305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[</a:t>
            </a:r>
            <a:r>
              <a:rPr lang="ko"/>
              <a:t>정의]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1. </a:t>
            </a:r>
            <a:r>
              <a:rPr lang="ko"/>
              <a:t>ChargePoint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</a:t>
            </a:r>
            <a:r>
              <a:rPr lang="ko"/>
              <a:t>충전기 장치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어떤 충전기인지 식별하기 위해 사용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2. Subprotocol	WebSocket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</a:t>
            </a:r>
            <a:r>
              <a:rPr lang="ko"/>
              <a:t>안에서 사용할 통신 규칙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OCPP 1.6 방식으로 통신용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3. alt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</a:t>
            </a:r>
            <a:r>
              <a:rPr lang="ko"/>
              <a:t>흐름도 조건 분기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성공/실패 케이스 분류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4. 경로 /ocpp 아님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</a:t>
            </a:r>
            <a:r>
              <a:rPr lang="ko"/>
              <a:t>잘못된 WebSocket 접속 주소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OCPP 통신 경로만 허용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5. BootNotification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</a:t>
            </a:r>
            <a:r>
              <a:rPr lang="ko"/>
              <a:t>충전기의 최초 접속/부팅 알림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장치 정보 등록 및 서버 승인 요청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6. vendor/model/serial/firmware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</a:t>
            </a:r>
            <a:r>
              <a:rPr lang="ko"/>
              <a:t>제조사/모델/시리얼/펌웨어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장치 식별과 관리 목적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7. BootNotification.conf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</a:t>
            </a:r>
            <a:r>
              <a:rPr lang="ko"/>
              <a:t>서버의 부팅 알림 응답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충전기 접속 허용 여부 전달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8. Accepted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</a:t>
            </a:r>
            <a:r>
              <a:rPr lang="ko"/>
              <a:t>접속 승인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서버가 해당 충전기를 받아들였다는 의미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9. interval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</a:t>
            </a:r>
            <a:r>
              <a:rPr lang="ko"/>
              <a:t>연결 유지 주기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Heartbeat 등 주기 통신 기준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10. currentTime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</a:t>
            </a:r>
            <a:r>
              <a:rPr lang="ko"/>
              <a:t>서버 현재 시간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충전기와 서버 시간 동기화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11. Charge Point 저장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</a:t>
            </a:r>
            <a:r>
              <a:rPr lang="ko"/>
              <a:t>충전기 정보 저장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- 장치 관리, 장애 추적, QR 매핑을 위해 사용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9c6ff41db_0_149:notes"/>
          <p:cNvSpPr/>
          <p:nvPr>
            <p:ph idx="2" type="sldImg"/>
          </p:nvPr>
        </p:nvSpPr>
        <p:spPr>
          <a:xfrm>
            <a:off x="2794347" y="685800"/>
            <a:ext cx="1270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e9c6ff41db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[정의]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1. ChargePoint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충전기 장치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어떤 충전기인지 식별하기 위해 사용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2. Subprotocol	WebSocket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안에서 사용할 통신 규칙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OCPP 1.6 방식으로 통신용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3. alt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흐름도 조건 분기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성공/실패 케이스 분류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4. 경로 /ocpp 아님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잘못된 WebSocket 접속 주소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OCPP 통신 경로만 허용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5. BootNotification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충전기의 최초 접속/부팅 알림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장치 정보 등록 및 서버 승인 요청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6. vendor/model/serial/firmware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제조사/모델/시리얼/펌웨어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장치 식별과 관리 목적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7. BootNotification.conf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서버의 부팅 알림 응답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충전기 접속 허용 여부 전달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8. Accepted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접속 승인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서버가 해당 충전기를 받아들였다는 의미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9. interval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연결 유지 주기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Heartbeat 등 주기 통신 기준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10. currentTime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서버 현재 시간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충전기와 서버 시간 동기화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11. Charge Point 저장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충전기 정보 저장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- 장치 관리, 장애 추적, QR 매핑을 위해 사용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e334890583_0_178:notes"/>
          <p:cNvSpPr/>
          <p:nvPr>
            <p:ph idx="2" type="sldImg"/>
          </p:nvPr>
        </p:nvSpPr>
        <p:spPr>
          <a:xfrm>
            <a:off x="2794347" y="685800"/>
            <a:ext cx="1270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e334890583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[정의]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1. ChargePoint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충전기 장치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어떤 충전기인지 식별하기 위해 사용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2. Subprotocol	WebSocket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안에서 사용할 통신 규칙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OCPP 1.6 방식으로 통신용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3. alt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흐름도 조건 분기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성공/실패 케이스 분류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4. 경로 /ocpp 아님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잘못된 WebSocket 접속 주소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OCPP 통신 경로만 허용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5. BootNotification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충전기의 최초 접속/부팅 알림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장치 정보 등록 및 서버 승인 요청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6. vendor/model/serial/firmware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제조사/모델/시리얼/펌웨어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장치 식별과 관리 목적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7. BootNotification.conf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서버의 부팅 알림 응답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충전기 접속 허용 여부 전달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8. Accepted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접속 승인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서버가 해당 충전기를 받아들였다는 의미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9. interval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연결 유지 주기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Heartbeat 등 주기 통신 기준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10. currentTime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서버 현재 시간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충전기와 서버 시간 동기화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11. Charge Point 저장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충전기 정보 저장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장치 관리, 장애 추적, QR 매핑을 위해 사용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e334890583_0_367:notes"/>
          <p:cNvSpPr/>
          <p:nvPr>
            <p:ph idx="2" type="sldImg"/>
          </p:nvPr>
        </p:nvSpPr>
        <p:spPr>
          <a:xfrm>
            <a:off x="2794347" y="685800"/>
            <a:ext cx="1270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e334890583_0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최초 1회 접속 시 보안 인증 키(비밀번호) 발급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재접속 시 메모리 기반 인증</a:t>
            </a:r>
            <a:br>
              <a:rPr lang="ko">
                <a:solidFill>
                  <a:schemeClr val="dk1"/>
                </a:solidFill>
              </a:rPr>
            </a:br>
            <a:r>
              <a:rPr lang="ko">
                <a:solidFill>
                  <a:schemeClr val="dk1"/>
                </a:solidFill>
              </a:rPr>
              <a:t>인증 실패 시 예외 처리(파기 및 재발급)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>
                <a:solidFill>
                  <a:schemeClr val="dk1"/>
                </a:solidFill>
              </a:rPr>
              <a:t>인증 메커니즘 및 주요 파라미터 정의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>
                <a:solidFill>
                  <a:schemeClr val="dk1"/>
                </a:solidFill>
              </a:rPr>
              <a:t>UID (User ID)</a:t>
            </a:r>
            <a:r>
              <a:rPr lang="ko">
                <a:solidFill>
                  <a:schemeClr val="dk1"/>
                </a:solidFill>
              </a:rPr>
              <a:t>: UUID 형식(16진수 32자리, e.g., </a:t>
            </a:r>
            <a:r>
              <a:rPr lang="ko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1604b772-adc0-4212-8a90-81186c57f598</a:t>
            </a:r>
            <a:r>
              <a:rPr lang="ko">
                <a:solidFill>
                  <a:schemeClr val="dk1"/>
                </a:solidFill>
              </a:rPr>
              <a:t>)의 고유 식별자 정의.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>
                <a:solidFill>
                  <a:schemeClr val="dk1"/>
                </a:solidFill>
              </a:rPr>
              <a:t>장치 ID (Charge Point ID)</a:t>
            </a:r>
            <a:r>
              <a:rPr lang="ko">
                <a:solidFill>
                  <a:schemeClr val="dk1"/>
                </a:solidFill>
              </a:rPr>
              <a:t>: 코스텔 충전기 식별자 (</a:t>
            </a:r>
            <a:r>
              <a:rPr lang="ko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CP_1</a:t>
            </a:r>
            <a:r>
              <a:rPr lang="ko">
                <a:solidFill>
                  <a:schemeClr val="dk1"/>
                </a:solidFill>
              </a:rPr>
              <a:t>, </a:t>
            </a:r>
            <a:r>
              <a:rPr lang="ko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CP_2</a:t>
            </a:r>
            <a:r>
              <a:rPr lang="ko">
                <a:solidFill>
                  <a:schemeClr val="dk1"/>
                </a:solidFill>
              </a:rPr>
              <a:t> 등).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>
                <a:solidFill>
                  <a:schemeClr val="dk1"/>
                </a:solidFill>
              </a:rPr>
              <a:t>비밀번호 (Authorization Key)</a:t>
            </a:r>
            <a:r>
              <a:rPr lang="ko">
                <a:solidFill>
                  <a:schemeClr val="dk1"/>
                </a:solidFill>
              </a:rPr>
              <a:t>: OCPP 보안 가이드라인(WSS 프로파일)에 따른 기기별 고유 인증 키. 최초 접속 시 서버에서 동적 발급되어 하드웨어 비비발성 메모리에 저장됨.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구조 재확인 - 인증하는 절차 그리기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시퀀스 다이어그램?으로 구성하기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e3eeafdeef_1_219:notes"/>
          <p:cNvSpPr/>
          <p:nvPr>
            <p:ph idx="2" type="sldImg"/>
          </p:nvPr>
        </p:nvSpPr>
        <p:spPr>
          <a:xfrm>
            <a:off x="2794347" y="685800"/>
            <a:ext cx="1270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e3eeafdeef_1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e334890583_0_374:notes"/>
          <p:cNvSpPr/>
          <p:nvPr>
            <p:ph idx="2" type="sldImg"/>
          </p:nvPr>
        </p:nvSpPr>
        <p:spPr>
          <a:xfrm>
            <a:off x="2794347" y="685800"/>
            <a:ext cx="1270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e334890583_0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e334890583_0_379:notes"/>
          <p:cNvSpPr/>
          <p:nvPr>
            <p:ph idx="2" type="sldImg"/>
          </p:nvPr>
        </p:nvSpPr>
        <p:spPr>
          <a:xfrm>
            <a:off x="2794347" y="685800"/>
            <a:ext cx="1270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e334890583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e334890583_0_384:notes"/>
          <p:cNvSpPr/>
          <p:nvPr>
            <p:ph idx="2" type="sldImg"/>
          </p:nvPr>
        </p:nvSpPr>
        <p:spPr>
          <a:xfrm>
            <a:off x="2794347" y="685800"/>
            <a:ext cx="1270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e334890583_0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>
                <a:solidFill>
                  <a:schemeClr val="dk1"/>
                </a:solidFill>
              </a:rPr>
              <a:t>결제 없이 무조건 '가승인 결제 프로세스'를 먼저 수행</a:t>
            </a:r>
            <a:r>
              <a:rPr lang="ko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결제가 확인된 안전한 유저에게만 충전 명령(</a:t>
            </a:r>
            <a:r>
              <a:rPr lang="ko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RemoteStartTransaction</a:t>
            </a:r>
            <a:r>
              <a:rPr lang="ko">
                <a:solidFill>
                  <a:schemeClr val="dk1"/>
                </a:solidFill>
              </a:rPr>
              <a:t>)을 내리도록 설계함.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</a:rPr>
              <a:t>후스캔 </a:t>
            </a:r>
            <a:r>
              <a:rPr lang="ko">
                <a:solidFill>
                  <a:schemeClr val="dk1"/>
                </a:solidFill>
              </a:rPr>
              <a:t>: </a:t>
            </a:r>
            <a:r>
              <a:rPr b="1" lang="ko">
                <a:solidFill>
                  <a:schemeClr val="dk1"/>
                </a:solidFill>
              </a:rPr>
              <a:t>차량 연결(</a:t>
            </a:r>
            <a:r>
              <a:rPr b="1" lang="ko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Preparing</a:t>
            </a:r>
            <a:r>
              <a:rPr b="1" lang="ko">
                <a:solidFill>
                  <a:schemeClr val="dk1"/>
                </a:solidFill>
              </a:rPr>
              <a:t>) 확인 후 결제</a:t>
            </a:r>
            <a:r>
              <a:rPr lang="ko">
                <a:solidFill>
                  <a:schemeClr val="dk1"/>
                </a:solidFill>
              </a:rPr>
              <a:t> 진행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차량에 커넥터를 </a:t>
            </a:r>
            <a:r>
              <a:rPr b="1" lang="ko">
                <a:solidFill>
                  <a:schemeClr val="dk1"/>
                </a:solidFill>
              </a:rPr>
              <a:t>먼저</a:t>
            </a:r>
            <a:r>
              <a:rPr lang="ko">
                <a:solidFill>
                  <a:schemeClr val="dk1"/>
                </a:solidFill>
              </a:rPr>
              <a:t> 꽂았기 때문에, 하드웨어가 이미 서버에 </a:t>
            </a:r>
            <a:r>
              <a:rPr lang="ko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Preparing</a:t>
            </a:r>
            <a:r>
              <a:rPr lang="ko">
                <a:solidFill>
                  <a:schemeClr val="dk1"/>
                </a:solidFill>
              </a:rPr>
              <a:t> 상태를 보낸 직후임. 따라서 QR을 찍었을 때 서버는 "이 충전기가 현재 </a:t>
            </a:r>
            <a:r>
              <a:rPr lang="ko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Preparing</a:t>
            </a:r>
            <a:r>
              <a:rPr lang="ko">
                <a:solidFill>
                  <a:schemeClr val="dk1"/>
                </a:solidFill>
              </a:rPr>
              <a:t> 상태가 맞는가?"를 확인함. 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e3eeafdeef_1_62:notes"/>
          <p:cNvSpPr/>
          <p:nvPr>
            <p:ph idx="2" type="sldImg"/>
          </p:nvPr>
        </p:nvSpPr>
        <p:spPr>
          <a:xfrm>
            <a:off x="2794347" y="685800"/>
            <a:ext cx="1270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3e3eeafdeef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플로우 차트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e334890583_0_389:notes"/>
          <p:cNvSpPr/>
          <p:nvPr>
            <p:ph idx="2" type="sldImg"/>
          </p:nvPr>
        </p:nvSpPr>
        <p:spPr>
          <a:xfrm>
            <a:off x="2794347" y="685800"/>
            <a:ext cx="1270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3e334890583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>
                <a:solidFill>
                  <a:schemeClr val="dk1"/>
                </a:solidFill>
              </a:rPr>
              <a:t>결제 없이 무조건 '가승인 결제 프로세스'를 먼저 수행</a:t>
            </a:r>
            <a:r>
              <a:rPr lang="ko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결제가 확인된 안전한 유저에게만 충전 명령(</a:t>
            </a:r>
            <a:r>
              <a:rPr lang="ko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RemoteStartTransaction</a:t>
            </a:r>
            <a:r>
              <a:rPr lang="ko">
                <a:solidFill>
                  <a:schemeClr val="dk1"/>
                </a:solidFill>
              </a:rPr>
              <a:t>)을 내리도록 설계함.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</a:rPr>
              <a:t>선스캔 </a:t>
            </a:r>
            <a:r>
              <a:rPr lang="ko">
                <a:solidFill>
                  <a:schemeClr val="dk1"/>
                </a:solidFill>
              </a:rPr>
              <a:t>: 결제를 먼저 열어주고 차량 연결을 기다리는 구조(</a:t>
            </a:r>
            <a:r>
              <a:rPr lang="ko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Available</a:t>
            </a:r>
            <a:r>
              <a:rPr lang="ko">
                <a:solidFill>
                  <a:schemeClr val="dk1"/>
                </a:solidFill>
              </a:rPr>
              <a:t>) - 사용자가 커넥터를 꽂지 않고 이탈할 때를 대비한 '시간 초과(Timeout) 및 가승인 취소 루틴'을 추가함.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아직 아무것도 연결하지 않고 QR을 </a:t>
            </a:r>
            <a:r>
              <a:rPr b="1" lang="ko">
                <a:solidFill>
                  <a:schemeClr val="dk1"/>
                </a:solidFill>
              </a:rPr>
              <a:t>먼저</a:t>
            </a:r>
            <a:r>
              <a:rPr lang="ko">
                <a:solidFill>
                  <a:schemeClr val="dk1"/>
                </a:solidFill>
              </a:rPr>
              <a:t> 찍었기 때문에, 충전기는 대기 상태여야 함. 따라서 서버는 "이 충전기가 지금 아무도 안 쓰는 </a:t>
            </a:r>
            <a:r>
              <a:rPr lang="ko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Available</a:t>
            </a:r>
            <a:r>
              <a:rPr lang="ko">
                <a:solidFill>
                  <a:schemeClr val="dk1"/>
                </a:solidFill>
              </a:rPr>
              <a:t> 상태가 맞는가?"를 검증함.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만약 다른 사람이 충전 중(</a:t>
            </a:r>
            <a:r>
              <a:rPr lang="ko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Charging</a:t>
            </a:r>
            <a:r>
              <a:rPr lang="ko">
                <a:solidFill>
                  <a:schemeClr val="dk1"/>
                </a:solidFill>
              </a:rPr>
              <a:t>)이라면 여기서 바로 실패 처리하여 오작동을 막음.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제한 시간 내에 커넥터가 연결되었는가?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ko">
                <a:solidFill>
                  <a:schemeClr val="dk1"/>
                </a:solidFill>
              </a:rPr>
              <a:t>사용자가 QR을 찍고 가승인까지 났는데, 차량에 커넥터를 안 꽂고 도망가거나 오래 기다리게 하면 서버 세션이 낭비되고 충전기는 먹통이 됨.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ko">
                <a:solidFill>
                  <a:schemeClr val="dk1"/>
                </a:solidFill>
              </a:rPr>
              <a:t>이를 막기 위해 "60초(제한 시간) 내에 안 꽂으면 가승인을 강제로 취소하고 세션을 종료한다"는 타임아웃 방어 로직이 필요함.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e3eeafdeef_1_172:notes"/>
          <p:cNvSpPr/>
          <p:nvPr>
            <p:ph idx="2" type="sldImg"/>
          </p:nvPr>
        </p:nvSpPr>
        <p:spPr>
          <a:xfrm>
            <a:off x="2794347" y="685800"/>
            <a:ext cx="1270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3e3eeafdeef_1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e334890583_0_404:notes"/>
          <p:cNvSpPr/>
          <p:nvPr>
            <p:ph idx="2" type="sldImg"/>
          </p:nvPr>
        </p:nvSpPr>
        <p:spPr>
          <a:xfrm>
            <a:off x="2794347" y="685800"/>
            <a:ext cx="1270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3e334890583_0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3e334890583_0_239:notes"/>
          <p:cNvSpPr/>
          <p:nvPr>
            <p:ph idx="2" type="sldImg"/>
          </p:nvPr>
        </p:nvSpPr>
        <p:spPr>
          <a:xfrm>
            <a:off x="2794347" y="685800"/>
            <a:ext cx="1270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5" name="Google Shape;795;g3e334890583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[정의]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1. ChargePoint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충전기 장치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어떤 충전기인지 식별하기 위해 사용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2. Subprotocol	WebSocket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안에서 사용할 통신 규칙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OCPP 1.6 방식으로 통신용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3. alt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흐름도 조건 분기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성공/실패 케이스 분류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4. 경로 /ocpp 아님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잘못된 WebSocket 접속 주소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OCPP 통신 경로만 허용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5. BootNotification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충전기의 최초 접속/부팅 알림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장치 정보 등록 및 서버 승인 요청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6. vendor/model/serial/firmware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제조사/모델/시리얼/펌웨어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장치 식별과 관리 목적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7. BootNotification.conf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서버의 부팅 알림 응답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충전기 접속 허용 여부 전달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8. Accepted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접속 승인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서버가 해당 충전기를 받아들였다는 의미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9. interval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연결 유지 주기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Heartbeat 등 주기 통신 기준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10. currentTime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서버 현재 시간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충전기와 서버 시간 동기화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11. Charge Point 저장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충전기 정보 저장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장치 관리, 장애 추적, QR 매핑을 위해 사용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e334890583_0_22:notes"/>
          <p:cNvSpPr/>
          <p:nvPr>
            <p:ph idx="2" type="sldImg"/>
          </p:nvPr>
        </p:nvSpPr>
        <p:spPr>
          <a:xfrm>
            <a:off x="2794347" y="685800"/>
            <a:ext cx="1270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7" name="Google Shape;857;g3e33489058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1. 용어 정리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- Security Profile 2: 데이터 감청 및 변조를 막기 위해 **TLS(암호화 통신)**와 **Basic Auth(ID/PW 인증)**를 동시에 적용하는 OCPP 고수준 보안 표준.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 - BootNotification: 충전기가 전원이 켜지거나 재부팅될 때 서버에 보내는 첫 통신 패킷 (제조사, 모델명, 펌웨어 버전 등 포함).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 - Heartbeat (또는 Ping/Pong): 기기와 서버가 서로 연결이 끊어지지 않았음을 주기적(예: 60초)으로 확인하는 '생존 신고' 신호.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 - RemoteStartTransaction: 사용자가 충전기를 직접 조작하지 않고, 서버(App)가 충전기에게 원격으로 "충전을 시작하라"고 내리는 제어 명령.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 - Store &amp; Forward: 인터넷 통신이 끊긴 오프라인 상태에서 발생한 충전/종료 데이터를 기기 내부 메모리에 임시 저장(Store)했다가, 통신이 복구되면 서버로 일괄 전송(Forward)하여 과금 누락을 방지하는 기능.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2. 단계별 흐름 상세 설명 및 검증 포인트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[Phase 1] 현장 설치 및 하드웨어 설정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ko"/>
              <a:t>기기를 물리적 네트워크에 연결하고, 타사(제조사) 클라우드를 배제한 채 자사 서버와 1:1로 연결되도록 초기값을 세팅하는 단계.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상세 설명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지하 주차장 등 통신 음영 지역의 리스크를 피하기 위해 Wi-Fi나 LTE 모뎀 대신 안정적인 **유선 LAN(이더넷)**을 기본 통신망으로 채택함.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- </a:t>
            </a:r>
            <a:r>
              <a:rPr lang="ko"/>
              <a:t>플랫폼 비즈니스(App 중심 결제)의 사용자 락인(Lock-in)을 위해 기기 자체의 실물 카드 결제를 원천 차단함. 이를 위해 소프트웨어적 거부가 아닌, 관리자 모드에서 **RFID 리더기를 하드웨어적으로 비활성화(Off)**하는 방식을 채택.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- </a:t>
            </a:r>
            <a:r>
              <a:rPr lang="ko"/>
              <a:t>COSTEL 검증/질의 사항: 관리자 모드 내 RFID 리더기 모듈의 완전 비활성화(Off) 옵션 지원 여부.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[Phase 2] 보안 웹소켓 연결 (OCPP 1.6J)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ko"/>
              <a:t>흐름 의미: 기기와 서버 간의 안전한 실시간 데이터 통신 터널을 개통하고 상태를 동기화하는 단계.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- 상세 설명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 - 결제 데이터가 오가는 환경이므로 Security Profile 2를 적용해 금융권 수준의 통신 보안을 확립함.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 - 연결이 성립되면 기기는 BootNotification을 보내고, 이후 지속적인 Heartbeat 교환을 통해 기기의 현재 상태(대기, 충전 중, 고장 등)를 서버에 실시간으로 보고함. 이를 통해 앱 UI에 즉각적인 상태 반영이 가능해짐.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 - COSTEL 검증/질의 사항: TLS 기반 보안 연결 시, 기기 내부에 범용 Root CA 인증서(Let's Encrypt 등)가 사전 탑재되어 있어 서버 URL 주입만으로 자동 Handshake가 가능한지 여부.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[Phase 3] App &amp; QR 전용 충전 시나리오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ko"/>
              <a:t>현장 결제 없이 오직 모바일 App을 통한 원격 제어로 충전 서비스를 제공하는 핵심 비즈니스 로직.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- 상세 설명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 - 사용자가 앱으로 QR을 스캔하고 결제를 완료하면, 서버가 주도권을 쥐고 충전기에 RemoteStartTransaction 명령을 하달함.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 - 기기는 해당 명령을 수신한 즉시 물리적 릴레이(Relay)를 동작시켜 차량에 전력을 공급하며, 완속 모델의 경우 화면이 없는 대신 LED 상태등을 청색(충전 중)으로 변경하여 사용자에게 시각적 피드백을 제공함.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 - COSTEL 검증/질의 사항: 서버의 Remote 명령 수신 시점부터 기기가 실제 전력 공급 및 LED 색상을 변경하기까지 소요되는 지연 시간(Latency) 확인 (앱 UI 로딩 화면 설계용).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[Phase 4] 예외/장애 시나리오 (Edge Case)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ko"/>
              <a:t>안전사고 및 네트워크 인프라 장애 발생 시 시스템과 사용자를 보호하기 위한 예외 처리 단계.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- 상세 설명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 - 비상 버튼(안전 사고): 기기 측면의 물리적 비상 정지 버튼이 눌릴 경우, 기기는 즉시 하드웨어 전력을 차단하고 서버에 EmergencyStop 상태 코드를 전송함. 서버는 이를 수신하여 앱 화면에 '점검 중/비상 정지' 팝업을 즉시 노출함.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 - 통신 단절(데이터 보존): 유선 통신망에 일시적 장애가 발생해도 충전은 중단되지 않음. 통신 단절 기간 중 발생한 충전 종료 및 과금 데이터는 과금 누락 방지를 위해 기기 내부 메모리에 보존(Store &amp; Forward)됨.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 - COSTEL 검증/질의 사항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 - 비상 버튼 작동 시 서버로 전송되는 정확한 상태(Status) 코드 명칭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 - 통신 단절 시 기기 내부 메모리에 보존 가능한 최대 오프라인 트랜잭션 건수 한도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45440" y="2814142"/>
            <a:ext cx="6709200" cy="7757400"/>
          </a:xfrm>
          <a:prstGeom prst="rect">
            <a:avLst/>
          </a:prstGeom>
        </p:spPr>
        <p:txBody>
          <a:bodyPr anchorCtr="0" anchor="b" bIns="76950" lIns="76950" spcFirstLastPara="1" rIns="76950" wrap="square" tIns="76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76"/>
              <a:buNone/>
              <a:defRPr sz="4376"/>
            </a:lvl1pPr>
            <a:lvl2pPr lvl="1" algn="ctr">
              <a:spcBef>
                <a:spcPts val="0"/>
              </a:spcBef>
              <a:spcAft>
                <a:spcPts val="0"/>
              </a:spcAft>
              <a:buSzPts val="4376"/>
              <a:buNone/>
              <a:defRPr sz="4376"/>
            </a:lvl2pPr>
            <a:lvl3pPr lvl="2" algn="ctr">
              <a:spcBef>
                <a:spcPts val="0"/>
              </a:spcBef>
              <a:spcAft>
                <a:spcPts val="0"/>
              </a:spcAft>
              <a:buSzPts val="4376"/>
              <a:buNone/>
              <a:defRPr sz="4376"/>
            </a:lvl3pPr>
            <a:lvl4pPr lvl="3" algn="ctr">
              <a:spcBef>
                <a:spcPts val="0"/>
              </a:spcBef>
              <a:spcAft>
                <a:spcPts val="0"/>
              </a:spcAft>
              <a:buSzPts val="4376"/>
              <a:buNone/>
              <a:defRPr sz="4376"/>
            </a:lvl4pPr>
            <a:lvl5pPr lvl="4" algn="ctr">
              <a:spcBef>
                <a:spcPts val="0"/>
              </a:spcBef>
              <a:spcAft>
                <a:spcPts val="0"/>
              </a:spcAft>
              <a:buSzPts val="4376"/>
              <a:buNone/>
              <a:defRPr sz="4376"/>
            </a:lvl5pPr>
            <a:lvl6pPr lvl="5" algn="ctr">
              <a:spcBef>
                <a:spcPts val="0"/>
              </a:spcBef>
              <a:spcAft>
                <a:spcPts val="0"/>
              </a:spcAft>
              <a:buSzPts val="4376"/>
              <a:buNone/>
              <a:defRPr sz="4376"/>
            </a:lvl6pPr>
            <a:lvl7pPr lvl="6" algn="ctr">
              <a:spcBef>
                <a:spcPts val="0"/>
              </a:spcBef>
              <a:spcAft>
                <a:spcPts val="0"/>
              </a:spcAft>
              <a:buSzPts val="4376"/>
              <a:buNone/>
              <a:defRPr sz="4376"/>
            </a:lvl7pPr>
            <a:lvl8pPr lvl="7" algn="ctr">
              <a:spcBef>
                <a:spcPts val="0"/>
              </a:spcBef>
              <a:spcAft>
                <a:spcPts val="0"/>
              </a:spcAft>
              <a:buSzPts val="4376"/>
              <a:buNone/>
              <a:defRPr sz="4376"/>
            </a:lvl8pPr>
            <a:lvl9pPr lvl="8" algn="ctr">
              <a:spcBef>
                <a:spcPts val="0"/>
              </a:spcBef>
              <a:spcAft>
                <a:spcPts val="0"/>
              </a:spcAft>
              <a:buSzPts val="4376"/>
              <a:buNone/>
              <a:defRPr sz="4376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45433" y="10711654"/>
            <a:ext cx="6709200" cy="2996100"/>
          </a:xfrm>
          <a:prstGeom prst="rect">
            <a:avLst/>
          </a:prstGeom>
        </p:spPr>
        <p:txBody>
          <a:bodyPr anchorCtr="0" anchor="t" bIns="76950" lIns="76950" spcFirstLastPara="1" rIns="76950" wrap="square" tIns="769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56"/>
              <a:buNone/>
              <a:defRPr sz="2356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56"/>
              <a:buNone/>
              <a:defRPr sz="2356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56"/>
              <a:buNone/>
              <a:defRPr sz="2356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56"/>
              <a:buNone/>
              <a:defRPr sz="2356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56"/>
              <a:buNone/>
              <a:defRPr sz="2356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56"/>
              <a:buNone/>
              <a:defRPr sz="2356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56"/>
              <a:buNone/>
              <a:defRPr sz="2356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56"/>
              <a:buNone/>
              <a:defRPr sz="2356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56"/>
              <a:buNone/>
              <a:defRPr sz="2356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6671227" y="17624756"/>
            <a:ext cx="432000" cy="1487100"/>
          </a:xfrm>
          <a:prstGeom prst="rect">
            <a:avLst/>
          </a:prstGeom>
        </p:spPr>
        <p:txBody>
          <a:bodyPr anchorCtr="0" anchor="ctr" bIns="76950" lIns="76950" spcFirstLastPara="1" rIns="76950" wrap="square" tIns="76950">
            <a:normAutofit/>
          </a:bodyPr>
          <a:lstStyle>
            <a:lvl1pPr lvl="0">
              <a:buNone/>
              <a:defRPr sz="842"/>
            </a:lvl1pPr>
            <a:lvl2pPr lvl="1">
              <a:buNone/>
              <a:defRPr sz="842"/>
            </a:lvl2pPr>
            <a:lvl3pPr lvl="2">
              <a:buNone/>
              <a:defRPr sz="842"/>
            </a:lvl3pPr>
            <a:lvl4pPr lvl="3">
              <a:buNone/>
              <a:defRPr sz="842"/>
            </a:lvl4pPr>
            <a:lvl5pPr lvl="4">
              <a:buNone/>
              <a:defRPr sz="842"/>
            </a:lvl5pPr>
            <a:lvl6pPr lvl="5">
              <a:buNone/>
              <a:defRPr sz="842"/>
            </a:lvl6pPr>
            <a:lvl7pPr lvl="6">
              <a:buNone/>
              <a:defRPr sz="842"/>
            </a:lvl7pPr>
            <a:lvl8pPr lvl="7">
              <a:buNone/>
              <a:defRPr sz="842"/>
            </a:lvl8pPr>
            <a:lvl9pPr lvl="8">
              <a:buNone/>
              <a:defRPr sz="84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45433" y="8129197"/>
            <a:ext cx="6709200" cy="3181800"/>
          </a:xfrm>
          <a:prstGeom prst="rect">
            <a:avLst/>
          </a:prstGeom>
        </p:spPr>
        <p:txBody>
          <a:bodyPr anchorCtr="0" anchor="ctr" bIns="76950" lIns="76950" spcFirstLastPara="1" rIns="76950" wrap="square" tIns="76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30"/>
              <a:buNone/>
              <a:defRPr sz="3030"/>
            </a:lvl1pPr>
            <a:lvl2pPr lvl="1" algn="ctr">
              <a:spcBef>
                <a:spcPts val="0"/>
              </a:spcBef>
              <a:spcAft>
                <a:spcPts val="0"/>
              </a:spcAft>
              <a:buSzPts val="3030"/>
              <a:buNone/>
              <a:defRPr sz="3030"/>
            </a:lvl2pPr>
            <a:lvl3pPr lvl="2" algn="ctr">
              <a:spcBef>
                <a:spcPts val="0"/>
              </a:spcBef>
              <a:spcAft>
                <a:spcPts val="0"/>
              </a:spcAft>
              <a:buSzPts val="3030"/>
              <a:buNone/>
              <a:defRPr sz="3030"/>
            </a:lvl3pPr>
            <a:lvl4pPr lvl="3" algn="ctr">
              <a:spcBef>
                <a:spcPts val="0"/>
              </a:spcBef>
              <a:spcAft>
                <a:spcPts val="0"/>
              </a:spcAft>
              <a:buSzPts val="3030"/>
              <a:buNone/>
              <a:defRPr sz="3030"/>
            </a:lvl4pPr>
            <a:lvl5pPr lvl="4" algn="ctr">
              <a:spcBef>
                <a:spcPts val="0"/>
              </a:spcBef>
              <a:spcAft>
                <a:spcPts val="0"/>
              </a:spcAft>
              <a:buSzPts val="3030"/>
              <a:buNone/>
              <a:defRPr sz="3030"/>
            </a:lvl5pPr>
            <a:lvl6pPr lvl="5" algn="ctr">
              <a:spcBef>
                <a:spcPts val="0"/>
              </a:spcBef>
              <a:spcAft>
                <a:spcPts val="0"/>
              </a:spcAft>
              <a:buSzPts val="3030"/>
              <a:buNone/>
              <a:defRPr sz="3030"/>
            </a:lvl6pPr>
            <a:lvl7pPr lvl="6" algn="ctr">
              <a:spcBef>
                <a:spcPts val="0"/>
              </a:spcBef>
              <a:spcAft>
                <a:spcPts val="0"/>
              </a:spcAft>
              <a:buSzPts val="3030"/>
              <a:buNone/>
              <a:defRPr sz="3030"/>
            </a:lvl7pPr>
            <a:lvl8pPr lvl="7" algn="ctr">
              <a:spcBef>
                <a:spcPts val="0"/>
              </a:spcBef>
              <a:spcAft>
                <a:spcPts val="0"/>
              </a:spcAft>
              <a:buSzPts val="3030"/>
              <a:buNone/>
              <a:defRPr sz="3030"/>
            </a:lvl8pPr>
            <a:lvl9pPr lvl="8" algn="ctr">
              <a:spcBef>
                <a:spcPts val="0"/>
              </a:spcBef>
              <a:spcAft>
                <a:spcPts val="0"/>
              </a:spcAft>
              <a:buSzPts val="3030"/>
              <a:buNone/>
              <a:defRPr sz="303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6671227" y="17624756"/>
            <a:ext cx="432000" cy="1487100"/>
          </a:xfrm>
          <a:prstGeom prst="rect">
            <a:avLst/>
          </a:prstGeom>
        </p:spPr>
        <p:txBody>
          <a:bodyPr anchorCtr="0" anchor="ctr" bIns="76950" lIns="76950" spcFirstLastPara="1" rIns="76950" wrap="square" tIns="76950">
            <a:normAutofit/>
          </a:bodyPr>
          <a:lstStyle>
            <a:lvl1pPr lvl="0">
              <a:buNone/>
              <a:defRPr sz="842"/>
            </a:lvl1pPr>
            <a:lvl2pPr lvl="1">
              <a:buNone/>
              <a:defRPr sz="842"/>
            </a:lvl2pPr>
            <a:lvl3pPr lvl="2">
              <a:buNone/>
              <a:defRPr sz="842"/>
            </a:lvl3pPr>
            <a:lvl4pPr lvl="3">
              <a:buNone/>
              <a:defRPr sz="842"/>
            </a:lvl4pPr>
            <a:lvl5pPr lvl="4">
              <a:buNone/>
              <a:defRPr sz="842"/>
            </a:lvl5pPr>
            <a:lvl6pPr lvl="5">
              <a:buNone/>
              <a:defRPr sz="842"/>
            </a:lvl6pPr>
            <a:lvl7pPr lvl="6">
              <a:buNone/>
              <a:defRPr sz="842"/>
            </a:lvl7pPr>
            <a:lvl8pPr lvl="7">
              <a:buNone/>
              <a:defRPr sz="842"/>
            </a:lvl8pPr>
            <a:lvl9pPr lvl="8">
              <a:buNone/>
              <a:defRPr sz="84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45433" y="1681984"/>
            <a:ext cx="6709200" cy="2163900"/>
          </a:xfrm>
          <a:prstGeom prst="rect">
            <a:avLst/>
          </a:prstGeom>
        </p:spPr>
        <p:txBody>
          <a:bodyPr anchorCtr="0" anchor="t" bIns="76950" lIns="76950" spcFirstLastPara="1" rIns="76950" wrap="square" tIns="769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56"/>
              <a:buNone/>
              <a:defRPr sz="2356"/>
            </a:lvl1pPr>
            <a:lvl2pPr lvl="1">
              <a:spcBef>
                <a:spcPts val="0"/>
              </a:spcBef>
              <a:spcAft>
                <a:spcPts val="0"/>
              </a:spcAft>
              <a:buSzPts val="2356"/>
              <a:buNone/>
              <a:defRPr sz="2356"/>
            </a:lvl2pPr>
            <a:lvl3pPr lvl="2">
              <a:spcBef>
                <a:spcPts val="0"/>
              </a:spcBef>
              <a:spcAft>
                <a:spcPts val="0"/>
              </a:spcAft>
              <a:buSzPts val="2356"/>
              <a:buNone/>
              <a:defRPr sz="2356"/>
            </a:lvl3pPr>
            <a:lvl4pPr lvl="3">
              <a:spcBef>
                <a:spcPts val="0"/>
              </a:spcBef>
              <a:spcAft>
                <a:spcPts val="0"/>
              </a:spcAft>
              <a:buSzPts val="2356"/>
              <a:buNone/>
              <a:defRPr sz="2356"/>
            </a:lvl4pPr>
            <a:lvl5pPr lvl="4">
              <a:spcBef>
                <a:spcPts val="0"/>
              </a:spcBef>
              <a:spcAft>
                <a:spcPts val="0"/>
              </a:spcAft>
              <a:buSzPts val="2356"/>
              <a:buNone/>
              <a:defRPr sz="2356"/>
            </a:lvl5pPr>
            <a:lvl6pPr lvl="5">
              <a:spcBef>
                <a:spcPts val="0"/>
              </a:spcBef>
              <a:spcAft>
                <a:spcPts val="0"/>
              </a:spcAft>
              <a:buSzPts val="2356"/>
              <a:buNone/>
              <a:defRPr sz="2356"/>
            </a:lvl6pPr>
            <a:lvl7pPr lvl="6">
              <a:spcBef>
                <a:spcPts val="0"/>
              </a:spcBef>
              <a:spcAft>
                <a:spcPts val="0"/>
              </a:spcAft>
              <a:buSzPts val="2356"/>
              <a:buNone/>
              <a:defRPr sz="2356"/>
            </a:lvl7pPr>
            <a:lvl8pPr lvl="7">
              <a:spcBef>
                <a:spcPts val="0"/>
              </a:spcBef>
              <a:spcAft>
                <a:spcPts val="0"/>
              </a:spcAft>
              <a:buSzPts val="2356"/>
              <a:buNone/>
              <a:defRPr sz="2356"/>
            </a:lvl8pPr>
            <a:lvl9pPr lvl="8">
              <a:spcBef>
                <a:spcPts val="0"/>
              </a:spcBef>
              <a:spcAft>
                <a:spcPts val="0"/>
              </a:spcAft>
              <a:buSzPts val="2356"/>
              <a:buNone/>
              <a:defRPr sz="2356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45433" y="4355811"/>
            <a:ext cx="6709200" cy="12912000"/>
          </a:xfrm>
          <a:prstGeom prst="rect">
            <a:avLst/>
          </a:prstGeom>
        </p:spPr>
        <p:txBody>
          <a:bodyPr anchorCtr="0" anchor="t" bIns="76950" lIns="76950" spcFirstLastPara="1" rIns="76950" wrap="square" tIns="76950">
            <a:normAutofit/>
          </a:bodyPr>
          <a:lstStyle>
            <a:lvl1pPr indent="-324795" lvl="0" marL="457200">
              <a:spcBef>
                <a:spcPts val="0"/>
              </a:spcBef>
              <a:spcAft>
                <a:spcPts val="0"/>
              </a:spcAft>
              <a:buSzPts val="1515"/>
              <a:buChar char="●"/>
              <a:defRPr sz="1515"/>
            </a:lvl1pPr>
            <a:lvl2pPr indent="-303418" lvl="1" marL="914400">
              <a:spcBef>
                <a:spcPts val="0"/>
              </a:spcBef>
              <a:spcAft>
                <a:spcPts val="0"/>
              </a:spcAft>
              <a:buSzPts val="1178"/>
              <a:buChar char="○"/>
              <a:defRPr sz="1178"/>
            </a:lvl2pPr>
            <a:lvl3pPr indent="-303418" lvl="2" marL="1371600">
              <a:spcBef>
                <a:spcPts val="0"/>
              </a:spcBef>
              <a:spcAft>
                <a:spcPts val="0"/>
              </a:spcAft>
              <a:buSzPts val="1178"/>
              <a:buChar char="■"/>
              <a:defRPr sz="1178"/>
            </a:lvl3pPr>
            <a:lvl4pPr indent="-303418" lvl="3" marL="1828800">
              <a:spcBef>
                <a:spcPts val="0"/>
              </a:spcBef>
              <a:spcAft>
                <a:spcPts val="0"/>
              </a:spcAft>
              <a:buSzPts val="1178"/>
              <a:buChar char="●"/>
              <a:defRPr sz="1178"/>
            </a:lvl4pPr>
            <a:lvl5pPr indent="-303418" lvl="4" marL="2286000">
              <a:spcBef>
                <a:spcPts val="0"/>
              </a:spcBef>
              <a:spcAft>
                <a:spcPts val="0"/>
              </a:spcAft>
              <a:buSzPts val="1178"/>
              <a:buChar char="○"/>
              <a:defRPr sz="1178"/>
            </a:lvl5pPr>
            <a:lvl6pPr indent="-303418" lvl="5" marL="2743200">
              <a:spcBef>
                <a:spcPts val="0"/>
              </a:spcBef>
              <a:spcAft>
                <a:spcPts val="0"/>
              </a:spcAft>
              <a:buSzPts val="1178"/>
              <a:buChar char="■"/>
              <a:defRPr sz="1178"/>
            </a:lvl6pPr>
            <a:lvl7pPr indent="-303418" lvl="6" marL="3200400">
              <a:spcBef>
                <a:spcPts val="0"/>
              </a:spcBef>
              <a:spcAft>
                <a:spcPts val="0"/>
              </a:spcAft>
              <a:buSzPts val="1178"/>
              <a:buChar char="●"/>
              <a:defRPr sz="1178"/>
            </a:lvl7pPr>
            <a:lvl8pPr indent="-303418" lvl="7" marL="3657600">
              <a:spcBef>
                <a:spcPts val="0"/>
              </a:spcBef>
              <a:spcAft>
                <a:spcPts val="0"/>
              </a:spcAft>
              <a:buSzPts val="1178"/>
              <a:buChar char="○"/>
              <a:defRPr sz="1178"/>
            </a:lvl8pPr>
            <a:lvl9pPr indent="-303418" lvl="8" marL="4114800">
              <a:spcBef>
                <a:spcPts val="0"/>
              </a:spcBef>
              <a:spcAft>
                <a:spcPts val="0"/>
              </a:spcAft>
              <a:buSzPts val="1178"/>
              <a:buChar char="■"/>
              <a:defRPr sz="1178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671227" y="17624756"/>
            <a:ext cx="432000" cy="1487100"/>
          </a:xfrm>
          <a:prstGeom prst="rect">
            <a:avLst/>
          </a:prstGeom>
        </p:spPr>
        <p:txBody>
          <a:bodyPr anchorCtr="0" anchor="ctr" bIns="76950" lIns="76950" spcFirstLastPara="1" rIns="76950" wrap="square" tIns="76950">
            <a:normAutofit/>
          </a:bodyPr>
          <a:lstStyle>
            <a:lvl1pPr lvl="0">
              <a:buNone/>
              <a:defRPr sz="842"/>
            </a:lvl1pPr>
            <a:lvl2pPr lvl="1">
              <a:buNone/>
              <a:defRPr sz="842"/>
            </a:lvl2pPr>
            <a:lvl3pPr lvl="2">
              <a:buNone/>
              <a:defRPr sz="842"/>
            </a:lvl3pPr>
            <a:lvl4pPr lvl="3">
              <a:buNone/>
              <a:defRPr sz="842"/>
            </a:lvl4pPr>
            <a:lvl5pPr lvl="4">
              <a:buNone/>
              <a:defRPr sz="842"/>
            </a:lvl5pPr>
            <a:lvl6pPr lvl="5">
              <a:buNone/>
              <a:defRPr sz="842"/>
            </a:lvl6pPr>
            <a:lvl7pPr lvl="6">
              <a:buNone/>
              <a:defRPr sz="842"/>
            </a:lvl7pPr>
            <a:lvl8pPr lvl="7">
              <a:buNone/>
              <a:defRPr sz="842"/>
            </a:lvl8pPr>
            <a:lvl9pPr lvl="8">
              <a:buNone/>
              <a:defRPr sz="84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45433" y="1681984"/>
            <a:ext cx="6709200" cy="2163900"/>
          </a:xfrm>
          <a:prstGeom prst="rect">
            <a:avLst/>
          </a:prstGeom>
        </p:spPr>
        <p:txBody>
          <a:bodyPr anchorCtr="0" anchor="t" bIns="76950" lIns="76950" spcFirstLastPara="1" rIns="76950" wrap="square" tIns="769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56"/>
              <a:buNone/>
              <a:defRPr sz="2356"/>
            </a:lvl1pPr>
            <a:lvl2pPr lvl="1">
              <a:spcBef>
                <a:spcPts val="0"/>
              </a:spcBef>
              <a:spcAft>
                <a:spcPts val="0"/>
              </a:spcAft>
              <a:buSzPts val="2356"/>
              <a:buNone/>
              <a:defRPr sz="2356"/>
            </a:lvl2pPr>
            <a:lvl3pPr lvl="2">
              <a:spcBef>
                <a:spcPts val="0"/>
              </a:spcBef>
              <a:spcAft>
                <a:spcPts val="0"/>
              </a:spcAft>
              <a:buSzPts val="2356"/>
              <a:buNone/>
              <a:defRPr sz="2356"/>
            </a:lvl3pPr>
            <a:lvl4pPr lvl="3">
              <a:spcBef>
                <a:spcPts val="0"/>
              </a:spcBef>
              <a:spcAft>
                <a:spcPts val="0"/>
              </a:spcAft>
              <a:buSzPts val="2356"/>
              <a:buNone/>
              <a:defRPr sz="2356"/>
            </a:lvl4pPr>
            <a:lvl5pPr lvl="4">
              <a:spcBef>
                <a:spcPts val="0"/>
              </a:spcBef>
              <a:spcAft>
                <a:spcPts val="0"/>
              </a:spcAft>
              <a:buSzPts val="2356"/>
              <a:buNone/>
              <a:defRPr sz="2356"/>
            </a:lvl5pPr>
            <a:lvl6pPr lvl="5">
              <a:spcBef>
                <a:spcPts val="0"/>
              </a:spcBef>
              <a:spcAft>
                <a:spcPts val="0"/>
              </a:spcAft>
              <a:buSzPts val="2356"/>
              <a:buNone/>
              <a:defRPr sz="2356"/>
            </a:lvl6pPr>
            <a:lvl7pPr lvl="6">
              <a:spcBef>
                <a:spcPts val="0"/>
              </a:spcBef>
              <a:spcAft>
                <a:spcPts val="0"/>
              </a:spcAft>
              <a:buSzPts val="2356"/>
              <a:buNone/>
              <a:defRPr sz="2356"/>
            </a:lvl7pPr>
            <a:lvl8pPr lvl="7">
              <a:spcBef>
                <a:spcPts val="0"/>
              </a:spcBef>
              <a:spcAft>
                <a:spcPts val="0"/>
              </a:spcAft>
              <a:buSzPts val="2356"/>
              <a:buNone/>
              <a:defRPr sz="2356"/>
            </a:lvl8pPr>
            <a:lvl9pPr lvl="8">
              <a:spcBef>
                <a:spcPts val="0"/>
              </a:spcBef>
              <a:spcAft>
                <a:spcPts val="0"/>
              </a:spcAft>
              <a:buSzPts val="2356"/>
              <a:buNone/>
              <a:defRPr sz="2356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45433" y="4355811"/>
            <a:ext cx="3149400" cy="12912000"/>
          </a:xfrm>
          <a:prstGeom prst="rect">
            <a:avLst/>
          </a:prstGeom>
        </p:spPr>
        <p:txBody>
          <a:bodyPr anchorCtr="0" anchor="t" bIns="76950" lIns="76950" spcFirstLastPara="1" rIns="76950" wrap="square" tIns="76950">
            <a:normAutofit/>
          </a:bodyPr>
          <a:lstStyle>
            <a:lvl1pPr indent="-303418" lvl="0" marL="457200">
              <a:spcBef>
                <a:spcPts val="0"/>
              </a:spcBef>
              <a:spcAft>
                <a:spcPts val="0"/>
              </a:spcAft>
              <a:buSzPts val="1178"/>
              <a:buChar char="●"/>
              <a:defRPr sz="1178"/>
            </a:lvl1pPr>
            <a:lvl2pPr indent="-292730" lvl="1" marL="914400">
              <a:spcBef>
                <a:spcPts val="0"/>
              </a:spcBef>
              <a:spcAft>
                <a:spcPts val="0"/>
              </a:spcAft>
              <a:buSzPts val="1010"/>
              <a:buChar char="○"/>
              <a:defRPr sz="1010"/>
            </a:lvl2pPr>
            <a:lvl3pPr indent="-292730" lvl="2" marL="1371600">
              <a:spcBef>
                <a:spcPts val="0"/>
              </a:spcBef>
              <a:spcAft>
                <a:spcPts val="0"/>
              </a:spcAft>
              <a:buSzPts val="1010"/>
              <a:buChar char="■"/>
              <a:defRPr sz="1010"/>
            </a:lvl3pPr>
            <a:lvl4pPr indent="-292730" lvl="3" marL="1828800">
              <a:spcBef>
                <a:spcPts val="0"/>
              </a:spcBef>
              <a:spcAft>
                <a:spcPts val="0"/>
              </a:spcAft>
              <a:buSzPts val="1010"/>
              <a:buChar char="●"/>
              <a:defRPr sz="1010"/>
            </a:lvl4pPr>
            <a:lvl5pPr indent="-292730" lvl="4" marL="2286000">
              <a:spcBef>
                <a:spcPts val="0"/>
              </a:spcBef>
              <a:spcAft>
                <a:spcPts val="0"/>
              </a:spcAft>
              <a:buSzPts val="1010"/>
              <a:buChar char="○"/>
              <a:defRPr sz="1010"/>
            </a:lvl5pPr>
            <a:lvl6pPr indent="-292730" lvl="5" marL="2743200">
              <a:spcBef>
                <a:spcPts val="0"/>
              </a:spcBef>
              <a:spcAft>
                <a:spcPts val="0"/>
              </a:spcAft>
              <a:buSzPts val="1010"/>
              <a:buChar char="■"/>
              <a:defRPr sz="1010"/>
            </a:lvl6pPr>
            <a:lvl7pPr indent="-292730" lvl="6" marL="3200400">
              <a:spcBef>
                <a:spcPts val="0"/>
              </a:spcBef>
              <a:spcAft>
                <a:spcPts val="0"/>
              </a:spcAft>
              <a:buSzPts val="1010"/>
              <a:buChar char="●"/>
              <a:defRPr sz="1010"/>
            </a:lvl7pPr>
            <a:lvl8pPr indent="-292730" lvl="7" marL="3657600">
              <a:spcBef>
                <a:spcPts val="0"/>
              </a:spcBef>
              <a:spcAft>
                <a:spcPts val="0"/>
              </a:spcAft>
              <a:buSzPts val="1010"/>
              <a:buChar char="○"/>
              <a:defRPr sz="1010"/>
            </a:lvl8pPr>
            <a:lvl9pPr indent="-292730" lvl="8" marL="4114800">
              <a:spcBef>
                <a:spcPts val="0"/>
              </a:spcBef>
              <a:spcAft>
                <a:spcPts val="0"/>
              </a:spcAft>
              <a:buSzPts val="1010"/>
              <a:buChar char="■"/>
              <a:defRPr sz="101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3805039" y="4355811"/>
            <a:ext cx="3149400" cy="12912000"/>
          </a:xfrm>
          <a:prstGeom prst="rect">
            <a:avLst/>
          </a:prstGeom>
        </p:spPr>
        <p:txBody>
          <a:bodyPr anchorCtr="0" anchor="t" bIns="76950" lIns="76950" spcFirstLastPara="1" rIns="76950" wrap="square" tIns="76950">
            <a:normAutofit/>
          </a:bodyPr>
          <a:lstStyle>
            <a:lvl1pPr indent="-303418" lvl="0" marL="457200">
              <a:spcBef>
                <a:spcPts val="0"/>
              </a:spcBef>
              <a:spcAft>
                <a:spcPts val="0"/>
              </a:spcAft>
              <a:buSzPts val="1178"/>
              <a:buChar char="●"/>
              <a:defRPr sz="1178"/>
            </a:lvl1pPr>
            <a:lvl2pPr indent="-292730" lvl="1" marL="914400">
              <a:spcBef>
                <a:spcPts val="0"/>
              </a:spcBef>
              <a:spcAft>
                <a:spcPts val="0"/>
              </a:spcAft>
              <a:buSzPts val="1010"/>
              <a:buChar char="○"/>
              <a:defRPr sz="1010"/>
            </a:lvl2pPr>
            <a:lvl3pPr indent="-292730" lvl="2" marL="1371600">
              <a:spcBef>
                <a:spcPts val="0"/>
              </a:spcBef>
              <a:spcAft>
                <a:spcPts val="0"/>
              </a:spcAft>
              <a:buSzPts val="1010"/>
              <a:buChar char="■"/>
              <a:defRPr sz="1010"/>
            </a:lvl3pPr>
            <a:lvl4pPr indent="-292730" lvl="3" marL="1828800">
              <a:spcBef>
                <a:spcPts val="0"/>
              </a:spcBef>
              <a:spcAft>
                <a:spcPts val="0"/>
              </a:spcAft>
              <a:buSzPts val="1010"/>
              <a:buChar char="●"/>
              <a:defRPr sz="1010"/>
            </a:lvl4pPr>
            <a:lvl5pPr indent="-292730" lvl="4" marL="2286000">
              <a:spcBef>
                <a:spcPts val="0"/>
              </a:spcBef>
              <a:spcAft>
                <a:spcPts val="0"/>
              </a:spcAft>
              <a:buSzPts val="1010"/>
              <a:buChar char="○"/>
              <a:defRPr sz="1010"/>
            </a:lvl5pPr>
            <a:lvl6pPr indent="-292730" lvl="5" marL="2743200">
              <a:spcBef>
                <a:spcPts val="0"/>
              </a:spcBef>
              <a:spcAft>
                <a:spcPts val="0"/>
              </a:spcAft>
              <a:buSzPts val="1010"/>
              <a:buChar char="■"/>
              <a:defRPr sz="1010"/>
            </a:lvl6pPr>
            <a:lvl7pPr indent="-292730" lvl="6" marL="3200400">
              <a:spcBef>
                <a:spcPts val="0"/>
              </a:spcBef>
              <a:spcAft>
                <a:spcPts val="0"/>
              </a:spcAft>
              <a:buSzPts val="1010"/>
              <a:buChar char="●"/>
              <a:defRPr sz="1010"/>
            </a:lvl7pPr>
            <a:lvl8pPr indent="-292730" lvl="7" marL="3657600">
              <a:spcBef>
                <a:spcPts val="0"/>
              </a:spcBef>
              <a:spcAft>
                <a:spcPts val="0"/>
              </a:spcAft>
              <a:buSzPts val="1010"/>
              <a:buChar char="○"/>
              <a:defRPr sz="1010"/>
            </a:lvl8pPr>
            <a:lvl9pPr indent="-292730" lvl="8" marL="4114800">
              <a:spcBef>
                <a:spcPts val="0"/>
              </a:spcBef>
              <a:spcAft>
                <a:spcPts val="0"/>
              </a:spcAft>
              <a:buSzPts val="1010"/>
              <a:buChar char="■"/>
              <a:defRPr sz="101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6671227" y="17624756"/>
            <a:ext cx="432000" cy="1487100"/>
          </a:xfrm>
          <a:prstGeom prst="rect">
            <a:avLst/>
          </a:prstGeom>
        </p:spPr>
        <p:txBody>
          <a:bodyPr anchorCtr="0" anchor="ctr" bIns="76950" lIns="76950" spcFirstLastPara="1" rIns="76950" wrap="square" tIns="76950">
            <a:normAutofit/>
          </a:bodyPr>
          <a:lstStyle>
            <a:lvl1pPr lvl="0">
              <a:buNone/>
              <a:defRPr sz="842"/>
            </a:lvl1pPr>
            <a:lvl2pPr lvl="1">
              <a:buNone/>
              <a:defRPr sz="842"/>
            </a:lvl2pPr>
            <a:lvl3pPr lvl="2">
              <a:buNone/>
              <a:defRPr sz="842"/>
            </a:lvl3pPr>
            <a:lvl4pPr lvl="3">
              <a:buNone/>
              <a:defRPr sz="842"/>
            </a:lvl4pPr>
            <a:lvl5pPr lvl="4">
              <a:buNone/>
              <a:defRPr sz="842"/>
            </a:lvl5pPr>
            <a:lvl6pPr lvl="5">
              <a:buNone/>
              <a:defRPr sz="842"/>
            </a:lvl6pPr>
            <a:lvl7pPr lvl="6">
              <a:buNone/>
              <a:defRPr sz="842"/>
            </a:lvl7pPr>
            <a:lvl8pPr lvl="7">
              <a:buNone/>
              <a:defRPr sz="842"/>
            </a:lvl8pPr>
            <a:lvl9pPr lvl="8">
              <a:buNone/>
              <a:defRPr sz="84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45433" y="1681984"/>
            <a:ext cx="6709200" cy="2163900"/>
          </a:xfrm>
          <a:prstGeom prst="rect">
            <a:avLst/>
          </a:prstGeom>
        </p:spPr>
        <p:txBody>
          <a:bodyPr anchorCtr="0" anchor="t" bIns="76950" lIns="76950" spcFirstLastPara="1" rIns="76950" wrap="square" tIns="769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56"/>
              <a:buNone/>
              <a:defRPr sz="2356"/>
            </a:lvl1pPr>
            <a:lvl2pPr lvl="1">
              <a:spcBef>
                <a:spcPts val="0"/>
              </a:spcBef>
              <a:spcAft>
                <a:spcPts val="0"/>
              </a:spcAft>
              <a:buSzPts val="2356"/>
              <a:buNone/>
              <a:defRPr sz="2356"/>
            </a:lvl2pPr>
            <a:lvl3pPr lvl="2">
              <a:spcBef>
                <a:spcPts val="0"/>
              </a:spcBef>
              <a:spcAft>
                <a:spcPts val="0"/>
              </a:spcAft>
              <a:buSzPts val="2356"/>
              <a:buNone/>
              <a:defRPr sz="2356"/>
            </a:lvl3pPr>
            <a:lvl4pPr lvl="3">
              <a:spcBef>
                <a:spcPts val="0"/>
              </a:spcBef>
              <a:spcAft>
                <a:spcPts val="0"/>
              </a:spcAft>
              <a:buSzPts val="2356"/>
              <a:buNone/>
              <a:defRPr sz="2356"/>
            </a:lvl4pPr>
            <a:lvl5pPr lvl="4">
              <a:spcBef>
                <a:spcPts val="0"/>
              </a:spcBef>
              <a:spcAft>
                <a:spcPts val="0"/>
              </a:spcAft>
              <a:buSzPts val="2356"/>
              <a:buNone/>
              <a:defRPr sz="2356"/>
            </a:lvl5pPr>
            <a:lvl6pPr lvl="5">
              <a:spcBef>
                <a:spcPts val="0"/>
              </a:spcBef>
              <a:spcAft>
                <a:spcPts val="0"/>
              </a:spcAft>
              <a:buSzPts val="2356"/>
              <a:buNone/>
              <a:defRPr sz="2356"/>
            </a:lvl6pPr>
            <a:lvl7pPr lvl="6">
              <a:spcBef>
                <a:spcPts val="0"/>
              </a:spcBef>
              <a:spcAft>
                <a:spcPts val="0"/>
              </a:spcAft>
              <a:buSzPts val="2356"/>
              <a:buNone/>
              <a:defRPr sz="2356"/>
            </a:lvl7pPr>
            <a:lvl8pPr lvl="7">
              <a:spcBef>
                <a:spcPts val="0"/>
              </a:spcBef>
              <a:spcAft>
                <a:spcPts val="0"/>
              </a:spcAft>
              <a:buSzPts val="2356"/>
              <a:buNone/>
              <a:defRPr sz="2356"/>
            </a:lvl8pPr>
            <a:lvl9pPr lvl="8">
              <a:spcBef>
                <a:spcPts val="0"/>
              </a:spcBef>
              <a:spcAft>
                <a:spcPts val="0"/>
              </a:spcAft>
              <a:buSzPts val="2356"/>
              <a:buNone/>
              <a:defRPr sz="2356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6671227" y="17624756"/>
            <a:ext cx="432000" cy="1487100"/>
          </a:xfrm>
          <a:prstGeom prst="rect">
            <a:avLst/>
          </a:prstGeom>
        </p:spPr>
        <p:txBody>
          <a:bodyPr anchorCtr="0" anchor="ctr" bIns="76950" lIns="76950" spcFirstLastPara="1" rIns="76950" wrap="square" tIns="76950">
            <a:normAutofit/>
          </a:bodyPr>
          <a:lstStyle>
            <a:lvl1pPr lvl="0">
              <a:buNone/>
              <a:defRPr sz="842"/>
            </a:lvl1pPr>
            <a:lvl2pPr lvl="1">
              <a:buNone/>
              <a:defRPr sz="842"/>
            </a:lvl2pPr>
            <a:lvl3pPr lvl="2">
              <a:buNone/>
              <a:defRPr sz="842"/>
            </a:lvl3pPr>
            <a:lvl4pPr lvl="3">
              <a:buNone/>
              <a:defRPr sz="842"/>
            </a:lvl4pPr>
            <a:lvl5pPr lvl="4">
              <a:buNone/>
              <a:defRPr sz="842"/>
            </a:lvl5pPr>
            <a:lvl6pPr lvl="5">
              <a:buNone/>
              <a:defRPr sz="842"/>
            </a:lvl6pPr>
            <a:lvl7pPr lvl="6">
              <a:buNone/>
              <a:defRPr sz="842"/>
            </a:lvl7pPr>
            <a:lvl8pPr lvl="7">
              <a:buNone/>
              <a:defRPr sz="842"/>
            </a:lvl8pPr>
            <a:lvl9pPr lvl="8">
              <a:buNone/>
              <a:defRPr sz="84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45433" y="2099906"/>
            <a:ext cx="2211000" cy="2856000"/>
          </a:xfrm>
          <a:prstGeom prst="rect">
            <a:avLst/>
          </a:prstGeom>
        </p:spPr>
        <p:txBody>
          <a:bodyPr anchorCtr="0" anchor="b" bIns="76950" lIns="76950" spcFirstLastPara="1" rIns="76950" wrap="square" tIns="769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20"/>
              <a:buNone/>
              <a:defRPr sz="2020"/>
            </a:lvl1pPr>
            <a:lvl2pPr lvl="1">
              <a:spcBef>
                <a:spcPts val="0"/>
              </a:spcBef>
              <a:spcAft>
                <a:spcPts val="0"/>
              </a:spcAft>
              <a:buSzPts val="2020"/>
              <a:buNone/>
              <a:defRPr sz="2020"/>
            </a:lvl2pPr>
            <a:lvl3pPr lvl="2">
              <a:spcBef>
                <a:spcPts val="0"/>
              </a:spcBef>
              <a:spcAft>
                <a:spcPts val="0"/>
              </a:spcAft>
              <a:buSzPts val="2020"/>
              <a:buNone/>
              <a:defRPr sz="2020"/>
            </a:lvl3pPr>
            <a:lvl4pPr lvl="3">
              <a:spcBef>
                <a:spcPts val="0"/>
              </a:spcBef>
              <a:spcAft>
                <a:spcPts val="0"/>
              </a:spcAft>
              <a:buSzPts val="2020"/>
              <a:buNone/>
              <a:defRPr sz="2020"/>
            </a:lvl4pPr>
            <a:lvl5pPr lvl="4">
              <a:spcBef>
                <a:spcPts val="0"/>
              </a:spcBef>
              <a:spcAft>
                <a:spcPts val="0"/>
              </a:spcAft>
              <a:buSzPts val="2020"/>
              <a:buNone/>
              <a:defRPr sz="2020"/>
            </a:lvl5pPr>
            <a:lvl6pPr lvl="5">
              <a:spcBef>
                <a:spcPts val="0"/>
              </a:spcBef>
              <a:spcAft>
                <a:spcPts val="0"/>
              </a:spcAft>
              <a:buSzPts val="2020"/>
              <a:buNone/>
              <a:defRPr sz="2020"/>
            </a:lvl6pPr>
            <a:lvl7pPr lvl="6">
              <a:spcBef>
                <a:spcPts val="0"/>
              </a:spcBef>
              <a:spcAft>
                <a:spcPts val="0"/>
              </a:spcAft>
              <a:buSzPts val="2020"/>
              <a:buNone/>
              <a:defRPr sz="2020"/>
            </a:lvl7pPr>
            <a:lvl8pPr lvl="7">
              <a:spcBef>
                <a:spcPts val="0"/>
              </a:spcBef>
              <a:spcAft>
                <a:spcPts val="0"/>
              </a:spcAft>
              <a:buSzPts val="2020"/>
              <a:buNone/>
              <a:defRPr sz="2020"/>
            </a:lvl8pPr>
            <a:lvl9pPr lvl="8">
              <a:spcBef>
                <a:spcPts val="0"/>
              </a:spcBef>
              <a:spcAft>
                <a:spcPts val="0"/>
              </a:spcAft>
              <a:buSzPts val="2020"/>
              <a:buNone/>
              <a:defRPr sz="202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45433" y="5252031"/>
            <a:ext cx="2211000" cy="12016800"/>
          </a:xfrm>
          <a:prstGeom prst="rect">
            <a:avLst/>
          </a:prstGeom>
        </p:spPr>
        <p:txBody>
          <a:bodyPr anchorCtr="0" anchor="t" bIns="76950" lIns="76950" spcFirstLastPara="1" rIns="76950" wrap="square" tIns="76950">
            <a:normAutofit/>
          </a:bodyPr>
          <a:lstStyle>
            <a:lvl1pPr indent="-292730" lvl="0" marL="457200">
              <a:spcBef>
                <a:spcPts val="0"/>
              </a:spcBef>
              <a:spcAft>
                <a:spcPts val="0"/>
              </a:spcAft>
              <a:buSzPts val="1010"/>
              <a:buChar char="●"/>
              <a:defRPr sz="1010"/>
            </a:lvl1pPr>
            <a:lvl2pPr indent="-292730" lvl="1" marL="914400">
              <a:spcBef>
                <a:spcPts val="0"/>
              </a:spcBef>
              <a:spcAft>
                <a:spcPts val="0"/>
              </a:spcAft>
              <a:buSzPts val="1010"/>
              <a:buChar char="○"/>
              <a:defRPr sz="1010"/>
            </a:lvl2pPr>
            <a:lvl3pPr indent="-292730" lvl="2" marL="1371600">
              <a:spcBef>
                <a:spcPts val="0"/>
              </a:spcBef>
              <a:spcAft>
                <a:spcPts val="0"/>
              </a:spcAft>
              <a:buSzPts val="1010"/>
              <a:buChar char="■"/>
              <a:defRPr sz="1010"/>
            </a:lvl3pPr>
            <a:lvl4pPr indent="-292730" lvl="3" marL="1828800">
              <a:spcBef>
                <a:spcPts val="0"/>
              </a:spcBef>
              <a:spcAft>
                <a:spcPts val="0"/>
              </a:spcAft>
              <a:buSzPts val="1010"/>
              <a:buChar char="●"/>
              <a:defRPr sz="1010"/>
            </a:lvl4pPr>
            <a:lvl5pPr indent="-292730" lvl="4" marL="2286000">
              <a:spcBef>
                <a:spcPts val="0"/>
              </a:spcBef>
              <a:spcAft>
                <a:spcPts val="0"/>
              </a:spcAft>
              <a:buSzPts val="1010"/>
              <a:buChar char="○"/>
              <a:defRPr sz="1010"/>
            </a:lvl5pPr>
            <a:lvl6pPr indent="-292730" lvl="5" marL="2743200">
              <a:spcBef>
                <a:spcPts val="0"/>
              </a:spcBef>
              <a:spcAft>
                <a:spcPts val="0"/>
              </a:spcAft>
              <a:buSzPts val="1010"/>
              <a:buChar char="■"/>
              <a:defRPr sz="1010"/>
            </a:lvl6pPr>
            <a:lvl7pPr indent="-292730" lvl="6" marL="3200400">
              <a:spcBef>
                <a:spcPts val="0"/>
              </a:spcBef>
              <a:spcAft>
                <a:spcPts val="0"/>
              </a:spcAft>
              <a:buSzPts val="1010"/>
              <a:buChar char="●"/>
              <a:defRPr sz="1010"/>
            </a:lvl7pPr>
            <a:lvl8pPr indent="-292730" lvl="7" marL="3657600">
              <a:spcBef>
                <a:spcPts val="0"/>
              </a:spcBef>
              <a:spcAft>
                <a:spcPts val="0"/>
              </a:spcAft>
              <a:buSzPts val="1010"/>
              <a:buChar char="○"/>
              <a:defRPr sz="1010"/>
            </a:lvl8pPr>
            <a:lvl9pPr indent="-292730" lvl="8" marL="4114800">
              <a:spcBef>
                <a:spcPts val="0"/>
              </a:spcBef>
              <a:spcAft>
                <a:spcPts val="0"/>
              </a:spcAft>
              <a:buSzPts val="1010"/>
              <a:buChar char="■"/>
              <a:defRPr sz="101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6671227" y="17624756"/>
            <a:ext cx="432000" cy="1487100"/>
          </a:xfrm>
          <a:prstGeom prst="rect">
            <a:avLst/>
          </a:prstGeom>
        </p:spPr>
        <p:txBody>
          <a:bodyPr anchorCtr="0" anchor="ctr" bIns="76950" lIns="76950" spcFirstLastPara="1" rIns="76950" wrap="square" tIns="76950">
            <a:normAutofit/>
          </a:bodyPr>
          <a:lstStyle>
            <a:lvl1pPr lvl="0">
              <a:buNone/>
              <a:defRPr sz="842"/>
            </a:lvl1pPr>
            <a:lvl2pPr lvl="1">
              <a:buNone/>
              <a:defRPr sz="842"/>
            </a:lvl2pPr>
            <a:lvl3pPr lvl="2">
              <a:buNone/>
              <a:defRPr sz="842"/>
            </a:lvl3pPr>
            <a:lvl4pPr lvl="3">
              <a:buNone/>
              <a:defRPr sz="842"/>
            </a:lvl4pPr>
            <a:lvl5pPr lvl="4">
              <a:buNone/>
              <a:defRPr sz="842"/>
            </a:lvl5pPr>
            <a:lvl6pPr lvl="5">
              <a:buNone/>
              <a:defRPr sz="842"/>
            </a:lvl6pPr>
            <a:lvl7pPr lvl="6">
              <a:buNone/>
              <a:defRPr sz="842"/>
            </a:lvl7pPr>
            <a:lvl8pPr lvl="7">
              <a:buNone/>
              <a:defRPr sz="842"/>
            </a:lvl8pPr>
            <a:lvl9pPr lvl="8">
              <a:buNone/>
              <a:defRPr sz="84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386024" y="1701354"/>
            <a:ext cx="5013900" cy="15461700"/>
          </a:xfrm>
          <a:prstGeom prst="rect">
            <a:avLst/>
          </a:prstGeom>
        </p:spPr>
        <p:txBody>
          <a:bodyPr anchorCtr="0" anchor="ctr" bIns="76950" lIns="76950" spcFirstLastPara="1" rIns="76950" wrap="square" tIns="769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40"/>
              <a:buNone/>
              <a:defRPr sz="4040"/>
            </a:lvl1pPr>
            <a:lvl2pPr lvl="1">
              <a:spcBef>
                <a:spcPts val="0"/>
              </a:spcBef>
              <a:spcAft>
                <a:spcPts val="0"/>
              </a:spcAft>
              <a:buSzPts val="4040"/>
              <a:buNone/>
              <a:defRPr sz="4040"/>
            </a:lvl2pPr>
            <a:lvl3pPr lvl="2">
              <a:spcBef>
                <a:spcPts val="0"/>
              </a:spcBef>
              <a:spcAft>
                <a:spcPts val="0"/>
              </a:spcAft>
              <a:buSzPts val="4040"/>
              <a:buNone/>
              <a:defRPr sz="4040"/>
            </a:lvl3pPr>
            <a:lvl4pPr lvl="3">
              <a:spcBef>
                <a:spcPts val="0"/>
              </a:spcBef>
              <a:spcAft>
                <a:spcPts val="0"/>
              </a:spcAft>
              <a:buSzPts val="4040"/>
              <a:buNone/>
              <a:defRPr sz="4040"/>
            </a:lvl4pPr>
            <a:lvl5pPr lvl="4">
              <a:spcBef>
                <a:spcPts val="0"/>
              </a:spcBef>
              <a:spcAft>
                <a:spcPts val="0"/>
              </a:spcAft>
              <a:buSzPts val="4040"/>
              <a:buNone/>
              <a:defRPr sz="4040"/>
            </a:lvl5pPr>
            <a:lvl6pPr lvl="5">
              <a:spcBef>
                <a:spcPts val="0"/>
              </a:spcBef>
              <a:spcAft>
                <a:spcPts val="0"/>
              </a:spcAft>
              <a:buSzPts val="4040"/>
              <a:buNone/>
              <a:defRPr sz="4040"/>
            </a:lvl6pPr>
            <a:lvl7pPr lvl="6">
              <a:spcBef>
                <a:spcPts val="0"/>
              </a:spcBef>
              <a:spcAft>
                <a:spcPts val="0"/>
              </a:spcAft>
              <a:buSzPts val="4040"/>
              <a:buNone/>
              <a:defRPr sz="4040"/>
            </a:lvl7pPr>
            <a:lvl8pPr lvl="7">
              <a:spcBef>
                <a:spcPts val="0"/>
              </a:spcBef>
              <a:spcAft>
                <a:spcPts val="0"/>
              </a:spcAft>
              <a:buSzPts val="4040"/>
              <a:buNone/>
              <a:defRPr sz="4040"/>
            </a:lvl8pPr>
            <a:lvl9pPr lvl="8">
              <a:spcBef>
                <a:spcPts val="0"/>
              </a:spcBef>
              <a:spcAft>
                <a:spcPts val="0"/>
              </a:spcAft>
              <a:buSzPts val="4040"/>
              <a:buNone/>
              <a:defRPr sz="404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6671227" y="17624756"/>
            <a:ext cx="432000" cy="1487100"/>
          </a:xfrm>
          <a:prstGeom prst="rect">
            <a:avLst/>
          </a:prstGeom>
        </p:spPr>
        <p:txBody>
          <a:bodyPr anchorCtr="0" anchor="ctr" bIns="76950" lIns="76950" spcFirstLastPara="1" rIns="76950" wrap="square" tIns="76950">
            <a:normAutofit/>
          </a:bodyPr>
          <a:lstStyle>
            <a:lvl1pPr lvl="0">
              <a:buNone/>
              <a:defRPr sz="842"/>
            </a:lvl1pPr>
            <a:lvl2pPr lvl="1">
              <a:buNone/>
              <a:defRPr sz="842"/>
            </a:lvl2pPr>
            <a:lvl3pPr lvl="2">
              <a:buNone/>
              <a:defRPr sz="842"/>
            </a:lvl3pPr>
            <a:lvl4pPr lvl="3">
              <a:buNone/>
              <a:defRPr sz="842"/>
            </a:lvl4pPr>
            <a:lvl5pPr lvl="4">
              <a:buNone/>
              <a:defRPr sz="842"/>
            </a:lvl5pPr>
            <a:lvl6pPr lvl="5">
              <a:buNone/>
              <a:defRPr sz="842"/>
            </a:lvl6pPr>
            <a:lvl7pPr lvl="6">
              <a:buNone/>
              <a:defRPr sz="842"/>
            </a:lvl7pPr>
            <a:lvl8pPr lvl="7">
              <a:buNone/>
              <a:defRPr sz="842"/>
            </a:lvl8pPr>
            <a:lvl9pPr lvl="8">
              <a:buNone/>
              <a:defRPr sz="84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600000" y="-472"/>
            <a:ext cx="3600000" cy="1944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76950" lIns="76950" spcFirstLastPara="1" rIns="76950" wrap="square" tIns="76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09055" y="4660819"/>
            <a:ext cx="3185100" cy="5602200"/>
          </a:xfrm>
          <a:prstGeom prst="rect">
            <a:avLst/>
          </a:prstGeom>
        </p:spPr>
        <p:txBody>
          <a:bodyPr anchorCtr="0" anchor="b" bIns="76950" lIns="76950" spcFirstLastPara="1" rIns="76950" wrap="square" tIns="76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35"/>
              <a:buNone/>
              <a:defRPr sz="3535"/>
            </a:lvl1pPr>
            <a:lvl2pPr lvl="1" algn="ctr">
              <a:spcBef>
                <a:spcPts val="0"/>
              </a:spcBef>
              <a:spcAft>
                <a:spcPts val="0"/>
              </a:spcAft>
              <a:buSzPts val="3535"/>
              <a:buNone/>
              <a:defRPr sz="3535"/>
            </a:lvl2pPr>
            <a:lvl3pPr lvl="2" algn="ctr">
              <a:spcBef>
                <a:spcPts val="0"/>
              </a:spcBef>
              <a:spcAft>
                <a:spcPts val="0"/>
              </a:spcAft>
              <a:buSzPts val="3535"/>
              <a:buNone/>
              <a:defRPr sz="3535"/>
            </a:lvl3pPr>
            <a:lvl4pPr lvl="3" algn="ctr">
              <a:spcBef>
                <a:spcPts val="0"/>
              </a:spcBef>
              <a:spcAft>
                <a:spcPts val="0"/>
              </a:spcAft>
              <a:buSzPts val="3535"/>
              <a:buNone/>
              <a:defRPr sz="3535"/>
            </a:lvl4pPr>
            <a:lvl5pPr lvl="4" algn="ctr">
              <a:spcBef>
                <a:spcPts val="0"/>
              </a:spcBef>
              <a:spcAft>
                <a:spcPts val="0"/>
              </a:spcAft>
              <a:buSzPts val="3535"/>
              <a:buNone/>
              <a:defRPr sz="3535"/>
            </a:lvl5pPr>
            <a:lvl6pPr lvl="5" algn="ctr">
              <a:spcBef>
                <a:spcPts val="0"/>
              </a:spcBef>
              <a:spcAft>
                <a:spcPts val="0"/>
              </a:spcAft>
              <a:buSzPts val="3535"/>
              <a:buNone/>
              <a:defRPr sz="3535"/>
            </a:lvl6pPr>
            <a:lvl7pPr lvl="6" algn="ctr">
              <a:spcBef>
                <a:spcPts val="0"/>
              </a:spcBef>
              <a:spcAft>
                <a:spcPts val="0"/>
              </a:spcAft>
              <a:buSzPts val="3535"/>
              <a:buNone/>
              <a:defRPr sz="3535"/>
            </a:lvl7pPr>
            <a:lvl8pPr lvl="7" algn="ctr">
              <a:spcBef>
                <a:spcPts val="0"/>
              </a:spcBef>
              <a:spcAft>
                <a:spcPts val="0"/>
              </a:spcAft>
              <a:buSzPts val="3535"/>
              <a:buNone/>
              <a:defRPr sz="3535"/>
            </a:lvl8pPr>
            <a:lvl9pPr lvl="8" algn="ctr">
              <a:spcBef>
                <a:spcPts val="0"/>
              </a:spcBef>
              <a:spcAft>
                <a:spcPts val="0"/>
              </a:spcAft>
              <a:buSzPts val="3535"/>
              <a:buNone/>
              <a:defRPr sz="3535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09055" y="10594299"/>
            <a:ext cx="3185100" cy="4668300"/>
          </a:xfrm>
          <a:prstGeom prst="rect">
            <a:avLst/>
          </a:prstGeom>
        </p:spPr>
        <p:txBody>
          <a:bodyPr anchorCtr="0" anchor="t" bIns="76950" lIns="76950" spcFirstLastPara="1" rIns="76950" wrap="square" tIns="769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67"/>
              <a:buNone/>
              <a:defRPr sz="176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67"/>
              <a:buNone/>
              <a:defRPr sz="1767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67"/>
              <a:buNone/>
              <a:defRPr sz="176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67"/>
              <a:buNone/>
              <a:defRPr sz="1767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67"/>
              <a:buNone/>
              <a:defRPr sz="1767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67"/>
              <a:buNone/>
              <a:defRPr sz="1767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67"/>
              <a:buNone/>
              <a:defRPr sz="1767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67"/>
              <a:buNone/>
              <a:defRPr sz="1767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67"/>
              <a:buNone/>
              <a:defRPr sz="1767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3889370" y="2736661"/>
            <a:ext cx="3021300" cy="13965300"/>
          </a:xfrm>
          <a:prstGeom prst="rect">
            <a:avLst/>
          </a:prstGeom>
        </p:spPr>
        <p:txBody>
          <a:bodyPr anchorCtr="0" anchor="ctr" bIns="76950" lIns="76950" spcFirstLastPara="1" rIns="76950" wrap="square" tIns="76950">
            <a:normAutofit/>
          </a:bodyPr>
          <a:lstStyle>
            <a:lvl1pPr indent="-324795" lvl="0" marL="457200">
              <a:spcBef>
                <a:spcPts val="0"/>
              </a:spcBef>
              <a:spcAft>
                <a:spcPts val="0"/>
              </a:spcAft>
              <a:buSzPts val="1515"/>
              <a:buChar char="●"/>
              <a:defRPr sz="1515"/>
            </a:lvl1pPr>
            <a:lvl2pPr indent="-303418" lvl="1" marL="914400">
              <a:spcBef>
                <a:spcPts val="0"/>
              </a:spcBef>
              <a:spcAft>
                <a:spcPts val="0"/>
              </a:spcAft>
              <a:buSzPts val="1178"/>
              <a:buChar char="○"/>
              <a:defRPr sz="1178"/>
            </a:lvl2pPr>
            <a:lvl3pPr indent="-303418" lvl="2" marL="1371600">
              <a:spcBef>
                <a:spcPts val="0"/>
              </a:spcBef>
              <a:spcAft>
                <a:spcPts val="0"/>
              </a:spcAft>
              <a:buSzPts val="1178"/>
              <a:buChar char="■"/>
              <a:defRPr sz="1178"/>
            </a:lvl3pPr>
            <a:lvl4pPr indent="-303418" lvl="3" marL="1828800">
              <a:spcBef>
                <a:spcPts val="0"/>
              </a:spcBef>
              <a:spcAft>
                <a:spcPts val="0"/>
              </a:spcAft>
              <a:buSzPts val="1178"/>
              <a:buChar char="●"/>
              <a:defRPr sz="1178"/>
            </a:lvl4pPr>
            <a:lvl5pPr indent="-303418" lvl="4" marL="2286000">
              <a:spcBef>
                <a:spcPts val="0"/>
              </a:spcBef>
              <a:spcAft>
                <a:spcPts val="0"/>
              </a:spcAft>
              <a:buSzPts val="1178"/>
              <a:buChar char="○"/>
              <a:defRPr sz="1178"/>
            </a:lvl5pPr>
            <a:lvl6pPr indent="-303418" lvl="5" marL="2743200">
              <a:spcBef>
                <a:spcPts val="0"/>
              </a:spcBef>
              <a:spcAft>
                <a:spcPts val="0"/>
              </a:spcAft>
              <a:buSzPts val="1178"/>
              <a:buChar char="■"/>
              <a:defRPr sz="1178"/>
            </a:lvl6pPr>
            <a:lvl7pPr indent="-303418" lvl="6" marL="3200400">
              <a:spcBef>
                <a:spcPts val="0"/>
              </a:spcBef>
              <a:spcAft>
                <a:spcPts val="0"/>
              </a:spcAft>
              <a:buSzPts val="1178"/>
              <a:buChar char="●"/>
              <a:defRPr sz="1178"/>
            </a:lvl7pPr>
            <a:lvl8pPr indent="-303418" lvl="7" marL="3657600">
              <a:spcBef>
                <a:spcPts val="0"/>
              </a:spcBef>
              <a:spcAft>
                <a:spcPts val="0"/>
              </a:spcAft>
              <a:buSzPts val="1178"/>
              <a:buChar char="○"/>
              <a:defRPr sz="1178"/>
            </a:lvl8pPr>
            <a:lvl9pPr indent="-303418" lvl="8" marL="4114800">
              <a:spcBef>
                <a:spcPts val="0"/>
              </a:spcBef>
              <a:spcAft>
                <a:spcPts val="0"/>
              </a:spcAft>
              <a:buSzPts val="1178"/>
              <a:buChar char="■"/>
              <a:defRPr sz="1178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6671227" y="17624756"/>
            <a:ext cx="432000" cy="1487100"/>
          </a:xfrm>
          <a:prstGeom prst="rect">
            <a:avLst/>
          </a:prstGeom>
        </p:spPr>
        <p:txBody>
          <a:bodyPr anchorCtr="0" anchor="ctr" bIns="76950" lIns="76950" spcFirstLastPara="1" rIns="76950" wrap="square" tIns="76950">
            <a:normAutofit/>
          </a:bodyPr>
          <a:lstStyle>
            <a:lvl1pPr lvl="0">
              <a:buNone/>
              <a:defRPr sz="842"/>
            </a:lvl1pPr>
            <a:lvl2pPr lvl="1">
              <a:buNone/>
              <a:defRPr sz="842"/>
            </a:lvl2pPr>
            <a:lvl3pPr lvl="2">
              <a:buNone/>
              <a:defRPr sz="842"/>
            </a:lvl3pPr>
            <a:lvl4pPr lvl="3">
              <a:buNone/>
              <a:defRPr sz="842"/>
            </a:lvl4pPr>
            <a:lvl5pPr lvl="4">
              <a:buNone/>
              <a:defRPr sz="842"/>
            </a:lvl5pPr>
            <a:lvl6pPr lvl="5">
              <a:buNone/>
              <a:defRPr sz="842"/>
            </a:lvl6pPr>
            <a:lvl7pPr lvl="6">
              <a:buNone/>
              <a:defRPr sz="842"/>
            </a:lvl7pPr>
            <a:lvl8pPr lvl="7">
              <a:buNone/>
              <a:defRPr sz="842"/>
            </a:lvl8pPr>
            <a:lvl9pPr lvl="8">
              <a:buNone/>
              <a:defRPr sz="84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45433" y="15989575"/>
            <a:ext cx="4723500" cy="2287200"/>
          </a:xfrm>
          <a:prstGeom prst="rect">
            <a:avLst/>
          </a:prstGeom>
        </p:spPr>
        <p:txBody>
          <a:bodyPr anchorCtr="0" anchor="ctr" bIns="76950" lIns="76950" spcFirstLastPara="1" rIns="76950" wrap="square" tIns="769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15"/>
              <a:buNone/>
              <a:defRPr sz="1515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6671227" y="17624756"/>
            <a:ext cx="432000" cy="1487100"/>
          </a:xfrm>
          <a:prstGeom prst="rect">
            <a:avLst/>
          </a:prstGeom>
        </p:spPr>
        <p:txBody>
          <a:bodyPr anchorCtr="0" anchor="ctr" bIns="76950" lIns="76950" spcFirstLastPara="1" rIns="76950" wrap="square" tIns="76950">
            <a:normAutofit/>
          </a:bodyPr>
          <a:lstStyle>
            <a:lvl1pPr lvl="0">
              <a:buNone/>
              <a:defRPr sz="842"/>
            </a:lvl1pPr>
            <a:lvl2pPr lvl="1">
              <a:buNone/>
              <a:defRPr sz="842"/>
            </a:lvl2pPr>
            <a:lvl3pPr lvl="2">
              <a:buNone/>
              <a:defRPr sz="842"/>
            </a:lvl3pPr>
            <a:lvl4pPr lvl="3">
              <a:buNone/>
              <a:defRPr sz="842"/>
            </a:lvl4pPr>
            <a:lvl5pPr lvl="4">
              <a:buNone/>
              <a:defRPr sz="842"/>
            </a:lvl5pPr>
            <a:lvl6pPr lvl="5">
              <a:buNone/>
              <a:defRPr sz="842"/>
            </a:lvl6pPr>
            <a:lvl7pPr lvl="6">
              <a:buNone/>
              <a:defRPr sz="842"/>
            </a:lvl7pPr>
            <a:lvl8pPr lvl="7">
              <a:buNone/>
              <a:defRPr sz="842"/>
            </a:lvl8pPr>
            <a:lvl9pPr lvl="8">
              <a:buNone/>
              <a:defRPr sz="84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45433" y="4180630"/>
            <a:ext cx="6709200" cy="7420800"/>
          </a:xfrm>
          <a:prstGeom prst="rect">
            <a:avLst/>
          </a:prstGeom>
        </p:spPr>
        <p:txBody>
          <a:bodyPr anchorCtr="0" anchor="b" bIns="76950" lIns="76950" spcFirstLastPara="1" rIns="76950" wrap="square" tIns="76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99"/>
              <a:buNone/>
              <a:defRPr sz="10099"/>
            </a:lvl1pPr>
            <a:lvl2pPr lvl="1" algn="ctr">
              <a:spcBef>
                <a:spcPts val="0"/>
              </a:spcBef>
              <a:spcAft>
                <a:spcPts val="0"/>
              </a:spcAft>
              <a:buSzPts val="10099"/>
              <a:buNone/>
              <a:defRPr sz="10099"/>
            </a:lvl2pPr>
            <a:lvl3pPr lvl="2" algn="ctr">
              <a:spcBef>
                <a:spcPts val="0"/>
              </a:spcBef>
              <a:spcAft>
                <a:spcPts val="0"/>
              </a:spcAft>
              <a:buSzPts val="10099"/>
              <a:buNone/>
              <a:defRPr sz="10099"/>
            </a:lvl3pPr>
            <a:lvl4pPr lvl="3" algn="ctr">
              <a:spcBef>
                <a:spcPts val="0"/>
              </a:spcBef>
              <a:spcAft>
                <a:spcPts val="0"/>
              </a:spcAft>
              <a:buSzPts val="10099"/>
              <a:buNone/>
              <a:defRPr sz="10099"/>
            </a:lvl4pPr>
            <a:lvl5pPr lvl="4" algn="ctr">
              <a:spcBef>
                <a:spcPts val="0"/>
              </a:spcBef>
              <a:spcAft>
                <a:spcPts val="0"/>
              </a:spcAft>
              <a:buSzPts val="10099"/>
              <a:buNone/>
              <a:defRPr sz="10099"/>
            </a:lvl5pPr>
            <a:lvl6pPr lvl="5" algn="ctr">
              <a:spcBef>
                <a:spcPts val="0"/>
              </a:spcBef>
              <a:spcAft>
                <a:spcPts val="0"/>
              </a:spcAft>
              <a:buSzPts val="10099"/>
              <a:buNone/>
              <a:defRPr sz="10099"/>
            </a:lvl6pPr>
            <a:lvl7pPr lvl="6" algn="ctr">
              <a:spcBef>
                <a:spcPts val="0"/>
              </a:spcBef>
              <a:spcAft>
                <a:spcPts val="0"/>
              </a:spcAft>
              <a:buSzPts val="10099"/>
              <a:buNone/>
              <a:defRPr sz="10099"/>
            </a:lvl7pPr>
            <a:lvl8pPr lvl="7" algn="ctr">
              <a:spcBef>
                <a:spcPts val="0"/>
              </a:spcBef>
              <a:spcAft>
                <a:spcPts val="0"/>
              </a:spcAft>
              <a:buSzPts val="10099"/>
              <a:buNone/>
              <a:defRPr sz="10099"/>
            </a:lvl8pPr>
            <a:lvl9pPr lvl="8" algn="ctr">
              <a:spcBef>
                <a:spcPts val="0"/>
              </a:spcBef>
              <a:spcAft>
                <a:spcPts val="0"/>
              </a:spcAft>
              <a:buSzPts val="10099"/>
              <a:buNone/>
              <a:defRPr sz="10099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45433" y="11913921"/>
            <a:ext cx="6709200" cy="4916400"/>
          </a:xfrm>
          <a:prstGeom prst="rect">
            <a:avLst/>
          </a:prstGeom>
        </p:spPr>
        <p:txBody>
          <a:bodyPr anchorCtr="0" anchor="t" bIns="76950" lIns="76950" spcFirstLastPara="1" rIns="76950" wrap="square" tIns="76950">
            <a:normAutofit/>
          </a:bodyPr>
          <a:lstStyle>
            <a:lvl1pPr indent="-324795" lvl="0" marL="457200" algn="ctr">
              <a:spcBef>
                <a:spcPts val="0"/>
              </a:spcBef>
              <a:spcAft>
                <a:spcPts val="0"/>
              </a:spcAft>
              <a:buSzPts val="1515"/>
              <a:buChar char="●"/>
              <a:defRPr sz="1515"/>
            </a:lvl1pPr>
            <a:lvl2pPr indent="-303418" lvl="1" marL="914400" algn="ctr">
              <a:spcBef>
                <a:spcPts val="0"/>
              </a:spcBef>
              <a:spcAft>
                <a:spcPts val="0"/>
              </a:spcAft>
              <a:buSzPts val="1178"/>
              <a:buChar char="○"/>
              <a:defRPr sz="1178"/>
            </a:lvl2pPr>
            <a:lvl3pPr indent="-303418" lvl="2" marL="1371600" algn="ctr">
              <a:spcBef>
                <a:spcPts val="0"/>
              </a:spcBef>
              <a:spcAft>
                <a:spcPts val="0"/>
              </a:spcAft>
              <a:buSzPts val="1178"/>
              <a:buChar char="■"/>
              <a:defRPr sz="1178"/>
            </a:lvl3pPr>
            <a:lvl4pPr indent="-303418" lvl="3" marL="1828800" algn="ctr">
              <a:spcBef>
                <a:spcPts val="0"/>
              </a:spcBef>
              <a:spcAft>
                <a:spcPts val="0"/>
              </a:spcAft>
              <a:buSzPts val="1178"/>
              <a:buChar char="●"/>
              <a:defRPr sz="1178"/>
            </a:lvl4pPr>
            <a:lvl5pPr indent="-303418" lvl="4" marL="2286000" algn="ctr">
              <a:spcBef>
                <a:spcPts val="0"/>
              </a:spcBef>
              <a:spcAft>
                <a:spcPts val="0"/>
              </a:spcAft>
              <a:buSzPts val="1178"/>
              <a:buChar char="○"/>
              <a:defRPr sz="1178"/>
            </a:lvl5pPr>
            <a:lvl6pPr indent="-303418" lvl="5" marL="2743200" algn="ctr">
              <a:spcBef>
                <a:spcPts val="0"/>
              </a:spcBef>
              <a:spcAft>
                <a:spcPts val="0"/>
              </a:spcAft>
              <a:buSzPts val="1178"/>
              <a:buChar char="■"/>
              <a:defRPr sz="1178"/>
            </a:lvl6pPr>
            <a:lvl7pPr indent="-303418" lvl="6" marL="3200400" algn="ctr">
              <a:spcBef>
                <a:spcPts val="0"/>
              </a:spcBef>
              <a:spcAft>
                <a:spcPts val="0"/>
              </a:spcAft>
              <a:buSzPts val="1178"/>
              <a:buChar char="●"/>
              <a:defRPr sz="1178"/>
            </a:lvl7pPr>
            <a:lvl8pPr indent="-303418" lvl="7" marL="3657600" algn="ctr">
              <a:spcBef>
                <a:spcPts val="0"/>
              </a:spcBef>
              <a:spcAft>
                <a:spcPts val="0"/>
              </a:spcAft>
              <a:buSzPts val="1178"/>
              <a:buChar char="○"/>
              <a:defRPr sz="1178"/>
            </a:lvl8pPr>
            <a:lvl9pPr indent="-303418" lvl="8" marL="4114800" algn="ctr">
              <a:spcBef>
                <a:spcPts val="0"/>
              </a:spcBef>
              <a:spcAft>
                <a:spcPts val="0"/>
              </a:spcAft>
              <a:buSzPts val="1178"/>
              <a:buChar char="■"/>
              <a:defRPr sz="1178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6671227" y="17624756"/>
            <a:ext cx="432000" cy="1487100"/>
          </a:xfrm>
          <a:prstGeom prst="rect">
            <a:avLst/>
          </a:prstGeom>
        </p:spPr>
        <p:txBody>
          <a:bodyPr anchorCtr="0" anchor="ctr" bIns="76950" lIns="76950" spcFirstLastPara="1" rIns="76950" wrap="square" tIns="76950">
            <a:normAutofit/>
          </a:bodyPr>
          <a:lstStyle>
            <a:lvl1pPr lvl="0">
              <a:buNone/>
              <a:defRPr sz="842"/>
            </a:lvl1pPr>
            <a:lvl2pPr lvl="1">
              <a:buNone/>
              <a:defRPr sz="842"/>
            </a:lvl2pPr>
            <a:lvl3pPr lvl="2">
              <a:buNone/>
              <a:defRPr sz="842"/>
            </a:lvl3pPr>
            <a:lvl4pPr lvl="3">
              <a:buNone/>
              <a:defRPr sz="842"/>
            </a:lvl4pPr>
            <a:lvl5pPr lvl="4">
              <a:buNone/>
              <a:defRPr sz="842"/>
            </a:lvl5pPr>
            <a:lvl6pPr lvl="5">
              <a:buNone/>
              <a:defRPr sz="842"/>
            </a:lvl6pPr>
            <a:lvl7pPr lvl="6">
              <a:buNone/>
              <a:defRPr sz="842"/>
            </a:lvl7pPr>
            <a:lvl8pPr lvl="7">
              <a:buNone/>
              <a:defRPr sz="842"/>
            </a:lvl8pPr>
            <a:lvl9pPr lvl="8">
              <a:buNone/>
              <a:defRPr sz="84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6671227" y="17624756"/>
            <a:ext cx="432000" cy="1487100"/>
          </a:xfrm>
          <a:prstGeom prst="rect">
            <a:avLst/>
          </a:prstGeom>
        </p:spPr>
        <p:txBody>
          <a:bodyPr anchorCtr="0" anchor="ctr" bIns="76950" lIns="76950" spcFirstLastPara="1" rIns="76950" wrap="square" tIns="76950">
            <a:normAutofit/>
          </a:bodyPr>
          <a:lstStyle>
            <a:lvl1pPr lvl="0">
              <a:buNone/>
              <a:defRPr sz="842"/>
            </a:lvl1pPr>
            <a:lvl2pPr lvl="1">
              <a:buNone/>
              <a:defRPr sz="842"/>
            </a:lvl2pPr>
            <a:lvl3pPr lvl="2">
              <a:buNone/>
              <a:defRPr sz="842"/>
            </a:lvl3pPr>
            <a:lvl4pPr lvl="3">
              <a:buNone/>
              <a:defRPr sz="842"/>
            </a:lvl4pPr>
            <a:lvl5pPr lvl="4">
              <a:buNone/>
              <a:defRPr sz="842"/>
            </a:lvl5pPr>
            <a:lvl6pPr lvl="5">
              <a:buNone/>
              <a:defRPr sz="842"/>
            </a:lvl6pPr>
            <a:lvl7pPr lvl="6">
              <a:buNone/>
              <a:defRPr sz="842"/>
            </a:lvl7pPr>
            <a:lvl8pPr lvl="7">
              <a:buNone/>
              <a:defRPr sz="842"/>
            </a:lvl8pPr>
            <a:lvl9pPr lvl="8">
              <a:buNone/>
              <a:defRPr sz="84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5433" y="1681984"/>
            <a:ext cx="6709200" cy="21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50" lIns="76950" spcFirstLastPara="1" rIns="76950" wrap="square" tIns="769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56"/>
              <a:buNone/>
              <a:defRPr sz="2356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56"/>
              <a:buNone/>
              <a:defRPr sz="2356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56"/>
              <a:buNone/>
              <a:defRPr sz="2356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56"/>
              <a:buNone/>
              <a:defRPr sz="2356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56"/>
              <a:buNone/>
              <a:defRPr sz="2356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56"/>
              <a:buNone/>
              <a:defRPr sz="2356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56"/>
              <a:buNone/>
              <a:defRPr sz="2356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56"/>
              <a:buNone/>
              <a:defRPr sz="2356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56"/>
              <a:buNone/>
              <a:defRPr sz="2356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5433" y="4355811"/>
            <a:ext cx="6709200" cy="129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50" lIns="76950" spcFirstLastPara="1" rIns="76950" wrap="square" tIns="76950">
            <a:normAutofit/>
          </a:bodyPr>
          <a:lstStyle>
            <a:lvl1pPr indent="-32479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15"/>
              <a:buChar char="●"/>
              <a:defRPr sz="1515">
                <a:solidFill>
                  <a:schemeClr val="dk2"/>
                </a:solidFill>
              </a:defRPr>
            </a:lvl1pPr>
            <a:lvl2pPr indent="-303418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78"/>
              <a:buChar char="○"/>
              <a:defRPr sz="1178">
                <a:solidFill>
                  <a:schemeClr val="dk2"/>
                </a:solidFill>
              </a:defRPr>
            </a:lvl2pPr>
            <a:lvl3pPr indent="-303418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78"/>
              <a:buChar char="■"/>
              <a:defRPr sz="1178">
                <a:solidFill>
                  <a:schemeClr val="dk2"/>
                </a:solidFill>
              </a:defRPr>
            </a:lvl3pPr>
            <a:lvl4pPr indent="-303418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78"/>
              <a:buChar char="●"/>
              <a:defRPr sz="1178">
                <a:solidFill>
                  <a:schemeClr val="dk2"/>
                </a:solidFill>
              </a:defRPr>
            </a:lvl4pPr>
            <a:lvl5pPr indent="-303418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78"/>
              <a:buChar char="○"/>
              <a:defRPr sz="1178">
                <a:solidFill>
                  <a:schemeClr val="dk2"/>
                </a:solidFill>
              </a:defRPr>
            </a:lvl5pPr>
            <a:lvl6pPr indent="-303418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78"/>
              <a:buChar char="■"/>
              <a:defRPr sz="1178">
                <a:solidFill>
                  <a:schemeClr val="dk2"/>
                </a:solidFill>
              </a:defRPr>
            </a:lvl6pPr>
            <a:lvl7pPr indent="-303418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78"/>
              <a:buChar char="●"/>
              <a:defRPr sz="1178">
                <a:solidFill>
                  <a:schemeClr val="dk2"/>
                </a:solidFill>
              </a:defRPr>
            </a:lvl7pPr>
            <a:lvl8pPr indent="-303418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78"/>
              <a:buChar char="○"/>
              <a:defRPr sz="1178">
                <a:solidFill>
                  <a:schemeClr val="dk2"/>
                </a:solidFill>
              </a:defRPr>
            </a:lvl8pPr>
            <a:lvl9pPr indent="-303418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78"/>
              <a:buChar char="■"/>
              <a:defRPr sz="1178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6671227" y="17624756"/>
            <a:ext cx="432000" cy="14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6950" lIns="76950" spcFirstLastPara="1" rIns="76950" wrap="square" tIns="76950">
            <a:normAutofit/>
          </a:bodyPr>
          <a:lstStyle>
            <a:lvl1pPr lvl="0" algn="r">
              <a:buNone/>
              <a:defRPr sz="842">
                <a:solidFill>
                  <a:schemeClr val="dk2"/>
                </a:solidFill>
              </a:defRPr>
            </a:lvl1pPr>
            <a:lvl2pPr lvl="1" algn="r">
              <a:buNone/>
              <a:defRPr sz="842">
                <a:solidFill>
                  <a:schemeClr val="dk2"/>
                </a:solidFill>
              </a:defRPr>
            </a:lvl2pPr>
            <a:lvl3pPr lvl="2" algn="r">
              <a:buNone/>
              <a:defRPr sz="842">
                <a:solidFill>
                  <a:schemeClr val="dk2"/>
                </a:solidFill>
              </a:defRPr>
            </a:lvl3pPr>
            <a:lvl4pPr lvl="3" algn="r">
              <a:buNone/>
              <a:defRPr sz="842">
                <a:solidFill>
                  <a:schemeClr val="dk2"/>
                </a:solidFill>
              </a:defRPr>
            </a:lvl4pPr>
            <a:lvl5pPr lvl="4" algn="r">
              <a:buNone/>
              <a:defRPr sz="842">
                <a:solidFill>
                  <a:schemeClr val="dk2"/>
                </a:solidFill>
              </a:defRPr>
            </a:lvl5pPr>
            <a:lvl6pPr lvl="5" algn="r">
              <a:buNone/>
              <a:defRPr sz="842">
                <a:solidFill>
                  <a:schemeClr val="dk2"/>
                </a:solidFill>
              </a:defRPr>
            </a:lvl6pPr>
            <a:lvl7pPr lvl="6" algn="r">
              <a:buNone/>
              <a:defRPr sz="842">
                <a:solidFill>
                  <a:schemeClr val="dk2"/>
                </a:solidFill>
              </a:defRPr>
            </a:lvl7pPr>
            <a:lvl8pPr lvl="7" algn="r">
              <a:buNone/>
              <a:defRPr sz="842">
                <a:solidFill>
                  <a:schemeClr val="dk2"/>
                </a:solidFill>
              </a:defRPr>
            </a:lvl8pPr>
            <a:lvl9pPr lvl="8" algn="r">
              <a:buNone/>
              <a:defRPr sz="842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911075" y="2491318"/>
            <a:ext cx="2112000" cy="2726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사용자 앱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QR 스캔 / 결제</a:t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634925" y="6993284"/>
            <a:ext cx="2664300" cy="2726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서비스 백엔드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QR 인증 / 결제 / 세션 관리</a:t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634925" y="11519905"/>
            <a:ext cx="5908200" cy="1774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서비스 백엔드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QR 인증 / 결제 / 세션 관리</a:t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634925" y="15094989"/>
            <a:ext cx="5908200" cy="2874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DB </a:t>
            </a:r>
            <a:r>
              <a:rPr lang="ko"/>
              <a:t>로그 저장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charge points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status log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transactions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meter values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…</a:t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3878825" y="6993284"/>
            <a:ext cx="2664300" cy="2726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하드웨어 / 충전기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Charge point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CP_1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CP_2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CP_3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…</a:t>
            </a:r>
            <a:endParaRPr/>
          </a:p>
        </p:txBody>
      </p:sp>
      <p:cxnSp>
        <p:nvCxnSpPr>
          <p:cNvPr id="59" name="Google Shape;59;p13"/>
          <p:cNvCxnSpPr>
            <a:stCxn id="54" idx="2"/>
            <a:endCxn id="55" idx="0"/>
          </p:cNvCxnSpPr>
          <p:nvPr/>
        </p:nvCxnSpPr>
        <p:spPr>
          <a:xfrm>
            <a:off x="1967075" y="5218018"/>
            <a:ext cx="0" cy="177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" name="Google Shape;60;p13"/>
          <p:cNvCxnSpPr>
            <a:stCxn id="55" idx="2"/>
          </p:cNvCxnSpPr>
          <p:nvPr/>
        </p:nvCxnSpPr>
        <p:spPr>
          <a:xfrm>
            <a:off x="1967075" y="9719984"/>
            <a:ext cx="0" cy="183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" name="Google Shape;61;p13"/>
          <p:cNvCxnSpPr>
            <a:stCxn id="56" idx="2"/>
            <a:endCxn id="57" idx="0"/>
          </p:cNvCxnSpPr>
          <p:nvPr/>
        </p:nvCxnSpPr>
        <p:spPr>
          <a:xfrm>
            <a:off x="3589025" y="13294705"/>
            <a:ext cx="0" cy="180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" name="Google Shape;62;p13"/>
          <p:cNvCxnSpPr/>
          <p:nvPr/>
        </p:nvCxnSpPr>
        <p:spPr>
          <a:xfrm>
            <a:off x="4955588" y="9720000"/>
            <a:ext cx="0" cy="183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" name="Google Shape;63;p13"/>
          <p:cNvCxnSpPr/>
          <p:nvPr/>
        </p:nvCxnSpPr>
        <p:spPr>
          <a:xfrm rot="10800000">
            <a:off x="5466363" y="9720237"/>
            <a:ext cx="0" cy="183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" name="Google Shape;64;p13"/>
          <p:cNvSpPr txBox="1"/>
          <p:nvPr/>
        </p:nvSpPr>
        <p:spPr>
          <a:xfrm>
            <a:off x="5466375" y="10385976"/>
            <a:ext cx="2043000" cy="9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15">
                <a:solidFill>
                  <a:schemeClr val="dk2"/>
                </a:solidFill>
              </a:rPr>
              <a:t>OCPP 응답</a:t>
            </a:r>
            <a:endParaRPr sz="1515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15">
                <a:solidFill>
                  <a:schemeClr val="dk2"/>
                </a:solidFill>
              </a:rPr>
              <a:t>또는 명령</a:t>
            </a:r>
            <a:endParaRPr sz="1515">
              <a:solidFill>
                <a:schemeClr val="dk2"/>
              </a:solidFill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2912600" y="9858659"/>
            <a:ext cx="2043000" cy="9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" sz="1515">
                <a:solidFill>
                  <a:schemeClr val="dk2"/>
                </a:solidFill>
              </a:rPr>
              <a:t>WSS WebSocket</a:t>
            </a:r>
            <a:endParaRPr sz="1515">
              <a:solidFill>
                <a:schemeClr val="dk2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" sz="1515">
                <a:solidFill>
                  <a:schemeClr val="dk2"/>
                </a:solidFill>
              </a:rPr>
              <a:t>OCPP 1.6J JSON</a:t>
            </a:r>
            <a:endParaRPr sz="1515">
              <a:solidFill>
                <a:schemeClr val="dk2"/>
              </a:solidFill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163500" y="264671"/>
            <a:ext cx="6873000" cy="461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lt1"/>
                </a:solidFill>
              </a:rPr>
              <a:t>1. 전체 통신 구조 (</a:t>
            </a:r>
            <a:r>
              <a:rPr b="1" lang="ko" sz="1800">
                <a:solidFill>
                  <a:schemeClr val="lt1"/>
                </a:solidFill>
              </a:rPr>
              <a:t>하드웨어 - 서버)</a:t>
            </a:r>
            <a:endParaRPr b="1"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/>
        </p:nvSpPr>
        <p:spPr>
          <a:xfrm>
            <a:off x="163500" y="264671"/>
            <a:ext cx="6873000" cy="461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lt1"/>
                </a:solidFill>
              </a:rPr>
              <a:t>2</a:t>
            </a:r>
            <a:r>
              <a:rPr b="1" lang="ko" sz="1800">
                <a:solidFill>
                  <a:schemeClr val="lt1"/>
                </a:solidFill>
              </a:rPr>
              <a:t>.1 </a:t>
            </a:r>
            <a:r>
              <a:rPr b="1" lang="ko" sz="1800">
                <a:solidFill>
                  <a:schemeClr val="lt1"/>
                </a:solidFill>
              </a:rPr>
              <a:t>하드웨어-서버 접속 프로세스 (최초 1회 접속)</a:t>
            </a:r>
            <a:endParaRPr b="1" sz="1800">
              <a:solidFill>
                <a:schemeClr val="lt1"/>
              </a:solidFill>
            </a:endParaRPr>
          </a:p>
        </p:txBody>
      </p:sp>
      <p:grpSp>
        <p:nvGrpSpPr>
          <p:cNvPr id="72" name="Google Shape;72;p14"/>
          <p:cNvGrpSpPr/>
          <p:nvPr/>
        </p:nvGrpSpPr>
        <p:grpSpPr>
          <a:xfrm>
            <a:off x="170698" y="1306719"/>
            <a:ext cx="6915000" cy="17718275"/>
            <a:chOff x="170698" y="919513"/>
            <a:chExt cx="6915000" cy="12468000"/>
          </a:xfrm>
        </p:grpSpPr>
        <p:grpSp>
          <p:nvGrpSpPr>
            <p:cNvPr id="73" name="Google Shape;73;p14"/>
            <p:cNvGrpSpPr/>
            <p:nvPr/>
          </p:nvGrpSpPr>
          <p:grpSpPr>
            <a:xfrm>
              <a:off x="861969" y="3673525"/>
              <a:ext cx="5557116" cy="8957400"/>
              <a:chOff x="-2312887" y="3250723"/>
              <a:chExt cx="3623104" cy="8957400"/>
            </a:xfrm>
          </p:grpSpPr>
          <p:sp>
            <p:nvSpPr>
              <p:cNvPr id="74" name="Google Shape;74;p14"/>
              <p:cNvSpPr/>
              <p:nvPr/>
            </p:nvSpPr>
            <p:spPr>
              <a:xfrm>
                <a:off x="-2312883" y="3250723"/>
                <a:ext cx="3623100" cy="89574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14"/>
              <p:cNvSpPr/>
              <p:nvPr/>
            </p:nvSpPr>
            <p:spPr>
              <a:xfrm>
                <a:off x="-2312887" y="3254409"/>
                <a:ext cx="582300" cy="1848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" sz="700">
                    <a:solidFill>
                      <a:schemeClr val="lt1"/>
                    </a:solidFill>
                  </a:rPr>
                  <a:t>alt</a:t>
                </a:r>
                <a:endParaRPr b="1" sz="700">
                  <a:solidFill>
                    <a:schemeClr val="lt1"/>
                  </a:solidFill>
                </a:endParaRPr>
              </a:p>
            </p:txBody>
          </p:sp>
        </p:grpSp>
        <p:sp>
          <p:nvSpPr>
            <p:cNvPr id="76" name="Google Shape;76;p14"/>
            <p:cNvSpPr/>
            <p:nvPr/>
          </p:nvSpPr>
          <p:spPr>
            <a:xfrm>
              <a:off x="170698" y="919513"/>
              <a:ext cx="1653000" cy="396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900"/>
                <a:t>하드웨어</a:t>
              </a:r>
              <a:endParaRPr b="1" sz="9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900"/>
                <a:t>(COSTEL)</a:t>
              </a:r>
              <a:endParaRPr b="1" sz="900"/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2801698" y="919513"/>
              <a:ext cx="1653000" cy="396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900"/>
                <a:t>서버</a:t>
              </a:r>
              <a:endParaRPr b="1" sz="9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900"/>
                <a:t>(WebSocket)</a:t>
              </a:r>
              <a:endParaRPr b="1" sz="900"/>
            </a:p>
          </p:txBody>
        </p:sp>
        <p:sp>
          <p:nvSpPr>
            <p:cNvPr id="78" name="Google Shape;78;p14"/>
            <p:cNvSpPr/>
            <p:nvPr/>
          </p:nvSpPr>
          <p:spPr>
            <a:xfrm>
              <a:off x="5432698" y="919513"/>
              <a:ext cx="1653000" cy="396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900"/>
                <a:t>DB</a:t>
              </a:r>
              <a:endParaRPr b="1" sz="900"/>
            </a:p>
          </p:txBody>
        </p:sp>
        <p:sp>
          <p:nvSpPr>
            <p:cNvPr id="79" name="Google Shape;79;p14"/>
            <p:cNvSpPr/>
            <p:nvPr/>
          </p:nvSpPr>
          <p:spPr>
            <a:xfrm>
              <a:off x="170698" y="12990613"/>
              <a:ext cx="1653000" cy="396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900"/>
                <a:t>하드웨어</a:t>
              </a:r>
              <a:endParaRPr b="1" sz="9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900"/>
                <a:t>(COSTEL)</a:t>
              </a:r>
              <a:endParaRPr b="1" sz="900"/>
            </a:p>
          </p:txBody>
        </p:sp>
        <p:sp>
          <p:nvSpPr>
            <p:cNvPr id="80" name="Google Shape;80;p14"/>
            <p:cNvSpPr/>
            <p:nvPr/>
          </p:nvSpPr>
          <p:spPr>
            <a:xfrm>
              <a:off x="2801698" y="12990613"/>
              <a:ext cx="1653000" cy="396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900"/>
                <a:t>서버</a:t>
              </a:r>
              <a:endParaRPr b="1" sz="9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900"/>
                <a:t>(WebSocket)</a:t>
              </a:r>
              <a:endParaRPr b="1" sz="900"/>
            </a:p>
          </p:txBody>
        </p:sp>
        <p:sp>
          <p:nvSpPr>
            <p:cNvPr id="81" name="Google Shape;81;p14"/>
            <p:cNvSpPr/>
            <p:nvPr/>
          </p:nvSpPr>
          <p:spPr>
            <a:xfrm>
              <a:off x="5432698" y="12990613"/>
              <a:ext cx="1653000" cy="396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900"/>
                <a:t>DB</a:t>
              </a:r>
              <a:endParaRPr b="1" sz="900"/>
            </a:p>
          </p:txBody>
        </p:sp>
        <p:cxnSp>
          <p:nvCxnSpPr>
            <p:cNvPr id="82" name="Google Shape;82;p14"/>
            <p:cNvCxnSpPr>
              <a:stCxn id="76" idx="2"/>
              <a:endCxn id="79" idx="0"/>
            </p:cNvCxnSpPr>
            <p:nvPr/>
          </p:nvCxnSpPr>
          <p:spPr>
            <a:xfrm>
              <a:off x="997198" y="1316413"/>
              <a:ext cx="0" cy="11674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" name="Google Shape;83;p14"/>
            <p:cNvCxnSpPr>
              <a:stCxn id="77" idx="2"/>
              <a:endCxn id="80" idx="0"/>
            </p:cNvCxnSpPr>
            <p:nvPr/>
          </p:nvCxnSpPr>
          <p:spPr>
            <a:xfrm>
              <a:off x="3628198" y="1316413"/>
              <a:ext cx="0" cy="11674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" name="Google Shape;84;p14"/>
            <p:cNvCxnSpPr>
              <a:stCxn id="78" idx="2"/>
              <a:endCxn id="81" idx="0"/>
            </p:cNvCxnSpPr>
            <p:nvPr/>
          </p:nvCxnSpPr>
          <p:spPr>
            <a:xfrm>
              <a:off x="6259198" y="1316413"/>
              <a:ext cx="0" cy="11674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85" name="Google Shape;85;p14"/>
            <p:cNvGrpSpPr/>
            <p:nvPr/>
          </p:nvGrpSpPr>
          <p:grpSpPr>
            <a:xfrm>
              <a:off x="499934" y="1806331"/>
              <a:ext cx="3640445" cy="398778"/>
              <a:chOff x="656250" y="1806325"/>
              <a:chExt cx="2444400" cy="398778"/>
            </a:xfrm>
          </p:grpSpPr>
          <p:sp>
            <p:nvSpPr>
              <p:cNvPr id="86" name="Google Shape;86;p14"/>
              <p:cNvSpPr txBox="1"/>
              <p:nvPr/>
            </p:nvSpPr>
            <p:spPr>
              <a:xfrm>
                <a:off x="656250" y="1806325"/>
                <a:ext cx="2444400" cy="30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800">
                    <a:solidFill>
                      <a:schemeClr val="dk2"/>
                    </a:solidFill>
                    <a:highlight>
                      <a:schemeClr val="lt1"/>
                    </a:highlight>
                  </a:rPr>
                  <a:t>WSS 연결 요청</a:t>
                </a:r>
                <a:endParaRPr sz="800">
                  <a:solidFill>
                    <a:schemeClr val="dk2"/>
                  </a:solidFill>
                  <a:highlight>
                    <a:schemeClr val="lt1"/>
                  </a:highlight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800">
                    <a:solidFill>
                      <a:schemeClr val="dk2"/>
                    </a:solidFill>
                    <a:highlight>
                      <a:schemeClr val="lt1"/>
                    </a:highlight>
                  </a:rPr>
                  <a:t>wss://dev.evws…/ocpp</a:t>
                </a:r>
                <a:endParaRPr sz="800">
                  <a:solidFill>
                    <a:schemeClr val="dk2"/>
                  </a:solidFill>
                  <a:highlight>
                    <a:schemeClr val="lt1"/>
                  </a:highlight>
                </a:endParaRPr>
              </a:p>
            </p:txBody>
          </p:sp>
          <p:cxnSp>
            <p:nvCxnSpPr>
              <p:cNvPr id="87" name="Google Shape;87;p14"/>
              <p:cNvCxnSpPr/>
              <p:nvPr/>
            </p:nvCxnSpPr>
            <p:spPr>
              <a:xfrm>
                <a:off x="996000" y="2205103"/>
                <a:ext cx="1764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grpSp>
          <p:nvGrpSpPr>
            <p:cNvPr id="88" name="Google Shape;88;p14"/>
            <p:cNvGrpSpPr/>
            <p:nvPr/>
          </p:nvGrpSpPr>
          <p:grpSpPr>
            <a:xfrm>
              <a:off x="499934" y="2485971"/>
              <a:ext cx="3640445" cy="354129"/>
              <a:chOff x="656250" y="1850973"/>
              <a:chExt cx="2444400" cy="354129"/>
            </a:xfrm>
          </p:grpSpPr>
          <p:sp>
            <p:nvSpPr>
              <p:cNvPr id="89" name="Google Shape;89;p14"/>
              <p:cNvSpPr txBox="1"/>
              <p:nvPr/>
            </p:nvSpPr>
            <p:spPr>
              <a:xfrm>
                <a:off x="656250" y="1850973"/>
                <a:ext cx="2444400" cy="21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800">
                    <a:solidFill>
                      <a:schemeClr val="dk2"/>
                    </a:solidFill>
                    <a:highlight>
                      <a:schemeClr val="lt1"/>
                    </a:highlight>
                  </a:rPr>
                  <a:t>Header Authorization 전달</a:t>
                </a:r>
                <a:endParaRPr sz="800">
                  <a:solidFill>
                    <a:schemeClr val="dk2"/>
                  </a:solidFill>
                  <a:highlight>
                    <a:schemeClr val="lt1"/>
                  </a:highlight>
                </a:endParaRPr>
              </a:p>
            </p:txBody>
          </p:sp>
          <p:cxnSp>
            <p:nvCxnSpPr>
              <p:cNvPr id="90" name="Google Shape;90;p14"/>
              <p:cNvCxnSpPr/>
              <p:nvPr/>
            </p:nvCxnSpPr>
            <p:spPr>
              <a:xfrm>
                <a:off x="996000" y="2205103"/>
                <a:ext cx="1764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grpSp>
          <p:nvGrpSpPr>
            <p:cNvPr id="91" name="Google Shape;91;p14"/>
            <p:cNvGrpSpPr/>
            <p:nvPr/>
          </p:nvGrpSpPr>
          <p:grpSpPr>
            <a:xfrm>
              <a:off x="499934" y="3128420"/>
              <a:ext cx="3640445" cy="344165"/>
              <a:chOff x="656250" y="3128415"/>
              <a:chExt cx="2444400" cy="344165"/>
            </a:xfrm>
          </p:grpSpPr>
          <p:sp>
            <p:nvSpPr>
              <p:cNvPr id="92" name="Google Shape;92;p14"/>
              <p:cNvSpPr txBox="1"/>
              <p:nvPr/>
            </p:nvSpPr>
            <p:spPr>
              <a:xfrm>
                <a:off x="656250" y="3128415"/>
                <a:ext cx="2444400" cy="21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800">
                    <a:solidFill>
                      <a:schemeClr val="dk2"/>
                    </a:solidFill>
                    <a:highlight>
                      <a:schemeClr val="lt1"/>
                    </a:highlight>
                  </a:rPr>
                  <a:t>Subprotocol: ocpp1.6</a:t>
                </a:r>
                <a:endParaRPr sz="800">
                  <a:solidFill>
                    <a:schemeClr val="dk2"/>
                  </a:solidFill>
                  <a:highlight>
                    <a:schemeClr val="lt1"/>
                  </a:highlight>
                </a:endParaRPr>
              </a:p>
            </p:txBody>
          </p:sp>
          <p:cxnSp>
            <p:nvCxnSpPr>
              <p:cNvPr id="93" name="Google Shape;93;p14"/>
              <p:cNvCxnSpPr/>
              <p:nvPr/>
            </p:nvCxnSpPr>
            <p:spPr>
              <a:xfrm>
                <a:off x="996000" y="3472580"/>
                <a:ext cx="1764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cxnSp>
          <p:nvCxnSpPr>
            <p:cNvPr id="94" name="Google Shape;94;p14"/>
            <p:cNvCxnSpPr/>
            <p:nvPr/>
          </p:nvCxnSpPr>
          <p:spPr>
            <a:xfrm>
              <a:off x="875050" y="4380511"/>
              <a:ext cx="55293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95" name="Google Shape;95;p14"/>
            <p:cNvSpPr txBox="1"/>
            <p:nvPr/>
          </p:nvSpPr>
          <p:spPr>
            <a:xfrm>
              <a:off x="2643424" y="3627500"/>
              <a:ext cx="1994100" cy="19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600">
                  <a:solidFill>
                    <a:schemeClr val="dk2"/>
                  </a:solidFill>
                </a:rPr>
                <a:t>[</a:t>
              </a:r>
              <a:r>
                <a:rPr b="1" lang="ko" sz="600">
                  <a:solidFill>
                    <a:schemeClr val="dk2"/>
                  </a:solidFill>
                </a:rPr>
                <a:t>경로 불일치</a:t>
              </a:r>
              <a:r>
                <a:rPr b="1" lang="ko" sz="600">
                  <a:solidFill>
                    <a:schemeClr val="dk2"/>
                  </a:solidFill>
                </a:rPr>
                <a:t>]</a:t>
              </a:r>
              <a:endParaRPr b="1" sz="600">
                <a:solidFill>
                  <a:schemeClr val="dk2"/>
                </a:solidFill>
              </a:endParaRPr>
            </a:p>
          </p:txBody>
        </p:sp>
        <p:sp>
          <p:nvSpPr>
            <p:cNvPr id="96" name="Google Shape;96;p14"/>
            <p:cNvSpPr txBox="1"/>
            <p:nvPr/>
          </p:nvSpPr>
          <p:spPr>
            <a:xfrm>
              <a:off x="2643424" y="4327318"/>
              <a:ext cx="1994100" cy="19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600">
                  <a:solidFill>
                    <a:schemeClr val="dk2"/>
                  </a:solidFill>
                </a:rPr>
                <a:t>[</a:t>
              </a:r>
              <a:r>
                <a:rPr b="1" lang="ko" sz="600">
                  <a:solidFill>
                    <a:schemeClr val="dk2"/>
                  </a:solidFill>
                </a:rPr>
                <a:t>인증 헤더(Auth)</a:t>
              </a:r>
              <a:r>
                <a:rPr b="1" lang="ko" sz="600">
                  <a:solidFill>
                    <a:schemeClr val="dk2"/>
                  </a:solidFill>
                </a:rPr>
                <a:t> </a:t>
              </a:r>
              <a:r>
                <a:rPr b="1" lang="ko" sz="600">
                  <a:solidFill>
                    <a:schemeClr val="dk2"/>
                  </a:solidFill>
                </a:rPr>
                <a:t>불일치</a:t>
              </a:r>
              <a:r>
                <a:rPr b="1" lang="ko" sz="600">
                  <a:solidFill>
                    <a:schemeClr val="dk2"/>
                  </a:solidFill>
                </a:rPr>
                <a:t>]</a:t>
              </a:r>
              <a:endParaRPr b="1" sz="600">
                <a:solidFill>
                  <a:schemeClr val="dk2"/>
                </a:solidFill>
              </a:endParaRPr>
            </a:p>
          </p:txBody>
        </p:sp>
        <p:grpSp>
          <p:nvGrpSpPr>
            <p:cNvPr id="97" name="Google Shape;97;p14"/>
            <p:cNvGrpSpPr/>
            <p:nvPr/>
          </p:nvGrpSpPr>
          <p:grpSpPr>
            <a:xfrm>
              <a:off x="495487" y="3954615"/>
              <a:ext cx="3640445" cy="263522"/>
              <a:chOff x="656250" y="4892239"/>
              <a:chExt cx="2444400" cy="263522"/>
            </a:xfrm>
          </p:grpSpPr>
          <p:sp>
            <p:nvSpPr>
              <p:cNvPr id="98" name="Google Shape;98;p14"/>
              <p:cNvSpPr txBox="1"/>
              <p:nvPr/>
            </p:nvSpPr>
            <p:spPr>
              <a:xfrm>
                <a:off x="656250" y="4892239"/>
                <a:ext cx="2444400" cy="21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800">
                    <a:solidFill>
                      <a:schemeClr val="dk2"/>
                    </a:solidFill>
                    <a:highlight>
                      <a:schemeClr val="lt1"/>
                    </a:highlight>
                  </a:rPr>
                  <a:t>연결 종료</a:t>
                </a:r>
                <a:endParaRPr sz="800">
                  <a:solidFill>
                    <a:schemeClr val="dk2"/>
                  </a:solidFill>
                  <a:highlight>
                    <a:schemeClr val="lt1"/>
                  </a:highlight>
                </a:endParaRPr>
              </a:p>
            </p:txBody>
          </p:sp>
          <p:cxnSp>
            <p:nvCxnSpPr>
              <p:cNvPr id="99" name="Google Shape;99;p14"/>
              <p:cNvCxnSpPr/>
              <p:nvPr/>
            </p:nvCxnSpPr>
            <p:spPr>
              <a:xfrm rot="10800000">
                <a:off x="994660" y="5155761"/>
                <a:ext cx="17844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dash"/>
                <a:round/>
                <a:headEnd len="med" w="med" type="oval"/>
                <a:tailEnd len="med" w="med" type="triangle"/>
              </a:ln>
            </p:spPr>
          </p:cxnSp>
        </p:grpSp>
        <p:cxnSp>
          <p:nvCxnSpPr>
            <p:cNvPr id="100" name="Google Shape;100;p14"/>
            <p:cNvCxnSpPr/>
            <p:nvPr/>
          </p:nvCxnSpPr>
          <p:spPr>
            <a:xfrm>
              <a:off x="875050" y="5071023"/>
              <a:ext cx="55293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101" name="Google Shape;101;p14"/>
            <p:cNvSpPr txBox="1"/>
            <p:nvPr/>
          </p:nvSpPr>
          <p:spPr>
            <a:xfrm>
              <a:off x="2643424" y="5017830"/>
              <a:ext cx="1994100" cy="19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600">
                  <a:solidFill>
                    <a:schemeClr val="dk2"/>
                  </a:solidFill>
                </a:rPr>
                <a:t>[</a:t>
              </a:r>
              <a:r>
                <a:rPr b="1" lang="ko" sz="600">
                  <a:solidFill>
                    <a:schemeClr val="dk2"/>
                  </a:solidFill>
                </a:rPr>
                <a:t>인증 성공</a:t>
              </a:r>
              <a:r>
                <a:rPr b="1" lang="ko" sz="600">
                  <a:solidFill>
                    <a:schemeClr val="dk2"/>
                  </a:solidFill>
                </a:rPr>
                <a:t>]</a:t>
              </a:r>
              <a:endParaRPr b="1" sz="600">
                <a:solidFill>
                  <a:schemeClr val="dk2"/>
                </a:solidFill>
              </a:endParaRPr>
            </a:p>
          </p:txBody>
        </p:sp>
        <p:grpSp>
          <p:nvGrpSpPr>
            <p:cNvPr id="102" name="Google Shape;102;p14"/>
            <p:cNvGrpSpPr/>
            <p:nvPr/>
          </p:nvGrpSpPr>
          <p:grpSpPr>
            <a:xfrm>
              <a:off x="495487" y="4672008"/>
              <a:ext cx="3640500" cy="253056"/>
              <a:chOff x="495487" y="4672008"/>
              <a:chExt cx="3640500" cy="253056"/>
            </a:xfrm>
          </p:grpSpPr>
          <p:sp>
            <p:nvSpPr>
              <p:cNvPr id="103" name="Google Shape;103;p14"/>
              <p:cNvSpPr txBox="1"/>
              <p:nvPr/>
            </p:nvSpPr>
            <p:spPr>
              <a:xfrm>
                <a:off x="495487" y="4672008"/>
                <a:ext cx="3640500" cy="21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800">
                    <a:solidFill>
                      <a:schemeClr val="dk2"/>
                    </a:solidFill>
                    <a:highlight>
                      <a:schemeClr val="lt1"/>
                    </a:highlight>
                  </a:rPr>
                  <a:t>연결 종료</a:t>
                </a:r>
                <a:endParaRPr sz="800">
                  <a:solidFill>
                    <a:schemeClr val="dk2"/>
                  </a:solidFill>
                  <a:highlight>
                    <a:schemeClr val="lt1"/>
                  </a:highlight>
                </a:endParaRPr>
              </a:p>
            </p:txBody>
          </p:sp>
          <p:cxnSp>
            <p:nvCxnSpPr>
              <p:cNvPr id="104" name="Google Shape;104;p14"/>
              <p:cNvCxnSpPr/>
              <p:nvPr/>
            </p:nvCxnSpPr>
            <p:spPr>
              <a:xfrm rot="10800000">
                <a:off x="999589" y="4925064"/>
                <a:ext cx="26574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dash"/>
                <a:round/>
                <a:headEnd len="med" w="med" type="oval"/>
                <a:tailEnd len="med" w="med" type="triangle"/>
              </a:ln>
            </p:spPr>
          </p:cxnSp>
        </p:grpSp>
        <p:grpSp>
          <p:nvGrpSpPr>
            <p:cNvPr id="105" name="Google Shape;105;p14"/>
            <p:cNvGrpSpPr/>
            <p:nvPr/>
          </p:nvGrpSpPr>
          <p:grpSpPr>
            <a:xfrm>
              <a:off x="3144637" y="5457191"/>
              <a:ext cx="3640500" cy="245392"/>
              <a:chOff x="3144637" y="5457191"/>
              <a:chExt cx="3640500" cy="245392"/>
            </a:xfrm>
          </p:grpSpPr>
          <p:sp>
            <p:nvSpPr>
              <p:cNvPr id="106" name="Google Shape;106;p14"/>
              <p:cNvSpPr txBox="1"/>
              <p:nvPr/>
            </p:nvSpPr>
            <p:spPr>
              <a:xfrm>
                <a:off x="3144637" y="5457191"/>
                <a:ext cx="3640500" cy="21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800">
                    <a:solidFill>
                      <a:schemeClr val="dk2"/>
                    </a:solidFill>
                    <a:highlight>
                      <a:schemeClr val="lt1"/>
                    </a:highlight>
                  </a:rPr>
                  <a:t>장치 등록 여부 조회</a:t>
                </a:r>
                <a:endParaRPr sz="800">
                  <a:solidFill>
                    <a:schemeClr val="dk2"/>
                  </a:solidFill>
                  <a:highlight>
                    <a:schemeClr val="lt1"/>
                  </a:highlight>
                </a:endParaRPr>
              </a:p>
            </p:txBody>
          </p:sp>
          <p:cxnSp>
            <p:nvCxnSpPr>
              <p:cNvPr id="107" name="Google Shape;107;p14"/>
              <p:cNvCxnSpPr/>
              <p:nvPr/>
            </p:nvCxnSpPr>
            <p:spPr>
              <a:xfrm>
                <a:off x="3598434" y="5702584"/>
                <a:ext cx="2664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oval"/>
                <a:tailEnd len="med" w="med" type="triangle"/>
              </a:ln>
            </p:spPr>
          </p:cxnSp>
        </p:grpSp>
        <p:grpSp>
          <p:nvGrpSpPr>
            <p:cNvPr id="108" name="Google Shape;108;p14"/>
            <p:cNvGrpSpPr/>
            <p:nvPr/>
          </p:nvGrpSpPr>
          <p:grpSpPr>
            <a:xfrm>
              <a:off x="3129754" y="6135188"/>
              <a:ext cx="3640500" cy="253056"/>
              <a:chOff x="495487" y="4672008"/>
              <a:chExt cx="3640500" cy="253056"/>
            </a:xfrm>
          </p:grpSpPr>
          <p:sp>
            <p:nvSpPr>
              <p:cNvPr id="109" name="Google Shape;109;p14"/>
              <p:cNvSpPr txBox="1"/>
              <p:nvPr/>
            </p:nvSpPr>
            <p:spPr>
              <a:xfrm>
                <a:off x="495487" y="4672008"/>
                <a:ext cx="3640500" cy="21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800">
                    <a:solidFill>
                      <a:schemeClr val="dk2"/>
                    </a:solidFill>
                    <a:highlight>
                      <a:schemeClr val="lt1"/>
                    </a:highlight>
                  </a:rPr>
                  <a:t>미등록 장치</a:t>
                </a:r>
                <a:endParaRPr sz="800">
                  <a:solidFill>
                    <a:schemeClr val="dk2"/>
                  </a:solidFill>
                  <a:highlight>
                    <a:schemeClr val="lt1"/>
                  </a:highlight>
                </a:endParaRPr>
              </a:p>
            </p:txBody>
          </p:sp>
          <p:cxnSp>
            <p:nvCxnSpPr>
              <p:cNvPr id="110" name="Google Shape;110;p14"/>
              <p:cNvCxnSpPr/>
              <p:nvPr/>
            </p:nvCxnSpPr>
            <p:spPr>
              <a:xfrm rot="10800000">
                <a:off x="999589" y="4925064"/>
                <a:ext cx="26574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dash"/>
                <a:round/>
                <a:headEnd len="med" w="med" type="oval"/>
                <a:tailEnd len="med" w="med" type="triangle"/>
              </a:ln>
            </p:spPr>
          </p:cxnSp>
        </p:grpSp>
        <p:grpSp>
          <p:nvGrpSpPr>
            <p:cNvPr id="111" name="Google Shape;111;p14"/>
            <p:cNvGrpSpPr/>
            <p:nvPr/>
          </p:nvGrpSpPr>
          <p:grpSpPr>
            <a:xfrm>
              <a:off x="3144637" y="6813185"/>
              <a:ext cx="3640500" cy="245392"/>
              <a:chOff x="3144637" y="5457191"/>
              <a:chExt cx="3640500" cy="245392"/>
            </a:xfrm>
          </p:grpSpPr>
          <p:sp>
            <p:nvSpPr>
              <p:cNvPr id="112" name="Google Shape;112;p14"/>
              <p:cNvSpPr txBox="1"/>
              <p:nvPr/>
            </p:nvSpPr>
            <p:spPr>
              <a:xfrm>
                <a:off x="3144637" y="5457191"/>
                <a:ext cx="3640500" cy="21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800">
                    <a:solidFill>
                      <a:schemeClr val="dk2"/>
                    </a:solidFill>
                    <a:highlight>
                      <a:schemeClr val="lt1"/>
                    </a:highlight>
                  </a:rPr>
                  <a:t>신규 장치 정보 저장(device id, 접속시간, 상태 등)</a:t>
                </a:r>
                <a:endParaRPr sz="800">
                  <a:solidFill>
                    <a:schemeClr val="dk2"/>
                  </a:solidFill>
                  <a:highlight>
                    <a:schemeClr val="lt1"/>
                  </a:highlight>
                </a:endParaRPr>
              </a:p>
            </p:txBody>
          </p:sp>
          <p:cxnSp>
            <p:nvCxnSpPr>
              <p:cNvPr id="113" name="Google Shape;113;p14"/>
              <p:cNvCxnSpPr/>
              <p:nvPr/>
            </p:nvCxnSpPr>
            <p:spPr>
              <a:xfrm>
                <a:off x="3598434" y="5702584"/>
                <a:ext cx="2664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oval"/>
                <a:tailEnd len="med" w="med" type="triangle"/>
              </a:ln>
            </p:spPr>
          </p:cxnSp>
        </p:grpSp>
        <p:grpSp>
          <p:nvGrpSpPr>
            <p:cNvPr id="114" name="Google Shape;114;p14"/>
            <p:cNvGrpSpPr/>
            <p:nvPr/>
          </p:nvGrpSpPr>
          <p:grpSpPr>
            <a:xfrm>
              <a:off x="3144637" y="7491181"/>
              <a:ext cx="3640500" cy="245392"/>
              <a:chOff x="3144637" y="5457191"/>
              <a:chExt cx="3640500" cy="245392"/>
            </a:xfrm>
          </p:grpSpPr>
          <p:sp>
            <p:nvSpPr>
              <p:cNvPr id="115" name="Google Shape;115;p14"/>
              <p:cNvSpPr txBox="1"/>
              <p:nvPr/>
            </p:nvSpPr>
            <p:spPr>
              <a:xfrm>
                <a:off x="3144637" y="5457191"/>
                <a:ext cx="3640500" cy="21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800">
                    <a:solidFill>
                      <a:schemeClr val="dk2"/>
                    </a:solidFill>
                    <a:highlight>
                      <a:schemeClr val="lt1"/>
                    </a:highlight>
                  </a:rPr>
                  <a:t>장치 비밀번호/인증키 생성 및 저장</a:t>
                </a:r>
                <a:endParaRPr sz="800">
                  <a:solidFill>
                    <a:schemeClr val="dk2"/>
                  </a:solidFill>
                  <a:highlight>
                    <a:schemeClr val="lt1"/>
                  </a:highlight>
                </a:endParaRPr>
              </a:p>
            </p:txBody>
          </p:sp>
          <p:cxnSp>
            <p:nvCxnSpPr>
              <p:cNvPr id="116" name="Google Shape;116;p14"/>
              <p:cNvCxnSpPr/>
              <p:nvPr/>
            </p:nvCxnSpPr>
            <p:spPr>
              <a:xfrm>
                <a:off x="3598434" y="5702584"/>
                <a:ext cx="2664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oval"/>
                <a:tailEnd len="med" w="med" type="triangle"/>
              </a:ln>
            </p:spPr>
          </p:cxnSp>
        </p:grpSp>
        <p:grpSp>
          <p:nvGrpSpPr>
            <p:cNvPr id="117" name="Google Shape;117;p14"/>
            <p:cNvGrpSpPr/>
            <p:nvPr/>
          </p:nvGrpSpPr>
          <p:grpSpPr>
            <a:xfrm>
              <a:off x="495487" y="8847175"/>
              <a:ext cx="3640500" cy="253056"/>
              <a:chOff x="495487" y="4672008"/>
              <a:chExt cx="3640500" cy="253056"/>
            </a:xfrm>
          </p:grpSpPr>
          <p:sp>
            <p:nvSpPr>
              <p:cNvPr id="118" name="Google Shape;118;p14"/>
              <p:cNvSpPr txBox="1"/>
              <p:nvPr/>
            </p:nvSpPr>
            <p:spPr>
              <a:xfrm>
                <a:off x="495487" y="4672008"/>
                <a:ext cx="3640500" cy="21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800">
                    <a:solidFill>
                      <a:schemeClr val="dk2"/>
                    </a:solidFill>
                    <a:highlight>
                      <a:schemeClr val="lt1"/>
                    </a:highlight>
                  </a:rPr>
                  <a:t>WebSocket 연결 수락</a:t>
                </a:r>
                <a:endParaRPr sz="800">
                  <a:solidFill>
                    <a:schemeClr val="dk2"/>
                  </a:solidFill>
                  <a:highlight>
                    <a:schemeClr val="lt1"/>
                  </a:highlight>
                </a:endParaRPr>
              </a:p>
            </p:txBody>
          </p:sp>
          <p:cxnSp>
            <p:nvCxnSpPr>
              <p:cNvPr id="119" name="Google Shape;119;p14"/>
              <p:cNvCxnSpPr/>
              <p:nvPr/>
            </p:nvCxnSpPr>
            <p:spPr>
              <a:xfrm rot="10800000">
                <a:off x="999589" y="4925064"/>
                <a:ext cx="26574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dash"/>
                <a:round/>
                <a:headEnd len="med" w="med" type="oval"/>
                <a:tailEnd len="med" w="med" type="triangle"/>
              </a:ln>
            </p:spPr>
          </p:cxnSp>
        </p:grpSp>
        <p:grpSp>
          <p:nvGrpSpPr>
            <p:cNvPr id="120" name="Google Shape;120;p14"/>
            <p:cNvGrpSpPr/>
            <p:nvPr/>
          </p:nvGrpSpPr>
          <p:grpSpPr>
            <a:xfrm>
              <a:off x="495487" y="9525171"/>
              <a:ext cx="3640500" cy="253056"/>
              <a:chOff x="495487" y="4672008"/>
              <a:chExt cx="3640500" cy="253056"/>
            </a:xfrm>
          </p:grpSpPr>
          <p:sp>
            <p:nvSpPr>
              <p:cNvPr id="121" name="Google Shape;121;p14"/>
              <p:cNvSpPr txBox="1"/>
              <p:nvPr/>
            </p:nvSpPr>
            <p:spPr>
              <a:xfrm>
                <a:off x="495487" y="4672008"/>
                <a:ext cx="3640500" cy="21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800">
                    <a:solidFill>
                      <a:schemeClr val="dk2"/>
                    </a:solidFill>
                    <a:highlight>
                      <a:schemeClr val="lt1"/>
                    </a:highlight>
                  </a:rPr>
                  <a:t>장치 비밀번호 / 인증키 전달</a:t>
                </a:r>
                <a:endParaRPr sz="800">
                  <a:solidFill>
                    <a:schemeClr val="dk2"/>
                  </a:solidFill>
                  <a:highlight>
                    <a:schemeClr val="lt1"/>
                  </a:highlight>
                </a:endParaRPr>
              </a:p>
            </p:txBody>
          </p:sp>
          <p:cxnSp>
            <p:nvCxnSpPr>
              <p:cNvPr id="122" name="Google Shape;122;p14"/>
              <p:cNvCxnSpPr/>
              <p:nvPr/>
            </p:nvCxnSpPr>
            <p:spPr>
              <a:xfrm rot="10800000">
                <a:off x="999589" y="4925064"/>
                <a:ext cx="26574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dash"/>
                <a:round/>
                <a:headEnd len="med" w="med" type="oval"/>
                <a:tailEnd len="med" w="med" type="triangle"/>
              </a:ln>
            </p:spPr>
          </p:cxnSp>
        </p:grpSp>
        <p:grpSp>
          <p:nvGrpSpPr>
            <p:cNvPr id="123" name="Google Shape;123;p14"/>
            <p:cNvGrpSpPr/>
            <p:nvPr/>
          </p:nvGrpSpPr>
          <p:grpSpPr>
            <a:xfrm>
              <a:off x="499934" y="10203168"/>
              <a:ext cx="3640445" cy="344165"/>
              <a:chOff x="656250" y="3128415"/>
              <a:chExt cx="2444400" cy="344165"/>
            </a:xfrm>
          </p:grpSpPr>
          <p:sp>
            <p:nvSpPr>
              <p:cNvPr id="124" name="Google Shape;124;p14"/>
              <p:cNvSpPr txBox="1"/>
              <p:nvPr/>
            </p:nvSpPr>
            <p:spPr>
              <a:xfrm>
                <a:off x="656250" y="3128415"/>
                <a:ext cx="2444400" cy="21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800">
                    <a:solidFill>
                      <a:schemeClr val="dk2"/>
                    </a:solidFill>
                    <a:highlight>
                      <a:schemeClr val="lt1"/>
                    </a:highlight>
                  </a:rPr>
                  <a:t>BootNotification (vendor, model, serial, firmware 등)</a:t>
                </a:r>
                <a:endParaRPr sz="800">
                  <a:solidFill>
                    <a:schemeClr val="dk2"/>
                  </a:solidFill>
                  <a:highlight>
                    <a:schemeClr val="lt1"/>
                  </a:highlight>
                </a:endParaRPr>
              </a:p>
            </p:txBody>
          </p:sp>
          <p:cxnSp>
            <p:nvCxnSpPr>
              <p:cNvPr id="125" name="Google Shape;125;p14"/>
              <p:cNvCxnSpPr/>
              <p:nvPr/>
            </p:nvCxnSpPr>
            <p:spPr>
              <a:xfrm>
                <a:off x="996000" y="3472580"/>
                <a:ext cx="1764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grpSp>
          <p:nvGrpSpPr>
            <p:cNvPr id="126" name="Google Shape;126;p14"/>
            <p:cNvGrpSpPr/>
            <p:nvPr/>
          </p:nvGrpSpPr>
          <p:grpSpPr>
            <a:xfrm>
              <a:off x="3144637" y="10917530"/>
              <a:ext cx="3640500" cy="245392"/>
              <a:chOff x="3144637" y="5457191"/>
              <a:chExt cx="3640500" cy="245392"/>
            </a:xfrm>
          </p:grpSpPr>
          <p:sp>
            <p:nvSpPr>
              <p:cNvPr id="127" name="Google Shape;127;p14"/>
              <p:cNvSpPr txBox="1"/>
              <p:nvPr/>
            </p:nvSpPr>
            <p:spPr>
              <a:xfrm>
                <a:off x="3144637" y="5457191"/>
                <a:ext cx="3640500" cy="21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800">
                    <a:solidFill>
                      <a:schemeClr val="dk2"/>
                    </a:solidFill>
                    <a:highlight>
                      <a:schemeClr val="lt1"/>
                    </a:highlight>
                  </a:rPr>
                  <a:t>Charge Point 정보 저장 (vendor, model, serial, firmware, cp_id 등)</a:t>
                </a:r>
                <a:endParaRPr sz="800">
                  <a:solidFill>
                    <a:schemeClr val="dk2"/>
                  </a:solidFill>
                  <a:highlight>
                    <a:schemeClr val="lt1"/>
                  </a:highlight>
                </a:endParaRPr>
              </a:p>
            </p:txBody>
          </p:sp>
          <p:cxnSp>
            <p:nvCxnSpPr>
              <p:cNvPr id="128" name="Google Shape;128;p14"/>
              <p:cNvCxnSpPr/>
              <p:nvPr/>
            </p:nvCxnSpPr>
            <p:spPr>
              <a:xfrm>
                <a:off x="3598434" y="5702584"/>
                <a:ext cx="2664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oval"/>
                <a:tailEnd len="med" w="med" type="triangle"/>
              </a:ln>
            </p:spPr>
          </p:cxnSp>
        </p:grpSp>
        <p:grpSp>
          <p:nvGrpSpPr>
            <p:cNvPr id="129" name="Google Shape;129;p14"/>
            <p:cNvGrpSpPr/>
            <p:nvPr/>
          </p:nvGrpSpPr>
          <p:grpSpPr>
            <a:xfrm>
              <a:off x="3129754" y="11595527"/>
              <a:ext cx="3640500" cy="253056"/>
              <a:chOff x="495487" y="4672008"/>
              <a:chExt cx="3640500" cy="253056"/>
            </a:xfrm>
          </p:grpSpPr>
          <p:sp>
            <p:nvSpPr>
              <p:cNvPr id="130" name="Google Shape;130;p14"/>
              <p:cNvSpPr txBox="1"/>
              <p:nvPr/>
            </p:nvSpPr>
            <p:spPr>
              <a:xfrm>
                <a:off x="495487" y="4672008"/>
                <a:ext cx="3640500" cy="21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800">
                    <a:solidFill>
                      <a:schemeClr val="dk2"/>
                    </a:solidFill>
                    <a:highlight>
                      <a:schemeClr val="lt1"/>
                    </a:highlight>
                  </a:rPr>
                  <a:t>저장 완료</a:t>
                </a:r>
                <a:endParaRPr sz="800">
                  <a:solidFill>
                    <a:schemeClr val="dk2"/>
                  </a:solidFill>
                  <a:highlight>
                    <a:schemeClr val="lt1"/>
                  </a:highlight>
                </a:endParaRPr>
              </a:p>
            </p:txBody>
          </p:sp>
          <p:cxnSp>
            <p:nvCxnSpPr>
              <p:cNvPr id="131" name="Google Shape;131;p14"/>
              <p:cNvCxnSpPr/>
              <p:nvPr/>
            </p:nvCxnSpPr>
            <p:spPr>
              <a:xfrm rot="10800000">
                <a:off x="999589" y="4925064"/>
                <a:ext cx="26574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dash"/>
                <a:round/>
                <a:headEnd len="med" w="med" type="oval"/>
                <a:tailEnd len="med" w="med" type="triangle"/>
              </a:ln>
            </p:spPr>
          </p:cxnSp>
        </p:grpSp>
        <p:grpSp>
          <p:nvGrpSpPr>
            <p:cNvPr id="132" name="Google Shape;132;p14"/>
            <p:cNvGrpSpPr/>
            <p:nvPr/>
          </p:nvGrpSpPr>
          <p:grpSpPr>
            <a:xfrm>
              <a:off x="495487" y="12273523"/>
              <a:ext cx="3640500" cy="253056"/>
              <a:chOff x="495487" y="4672008"/>
              <a:chExt cx="3640500" cy="253056"/>
            </a:xfrm>
          </p:grpSpPr>
          <p:sp>
            <p:nvSpPr>
              <p:cNvPr id="133" name="Google Shape;133;p14"/>
              <p:cNvSpPr txBox="1"/>
              <p:nvPr/>
            </p:nvSpPr>
            <p:spPr>
              <a:xfrm>
                <a:off x="495487" y="4672008"/>
                <a:ext cx="3640500" cy="21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800">
                    <a:solidFill>
                      <a:schemeClr val="dk2"/>
                    </a:solidFill>
                    <a:highlight>
                      <a:schemeClr val="lt1"/>
                    </a:highlight>
                  </a:rPr>
                  <a:t>BootNotification.conf (Accepted, interval, currentTime)</a:t>
                </a:r>
                <a:endParaRPr sz="800">
                  <a:solidFill>
                    <a:schemeClr val="dk2"/>
                  </a:solidFill>
                  <a:highlight>
                    <a:schemeClr val="lt1"/>
                  </a:highlight>
                </a:endParaRPr>
              </a:p>
            </p:txBody>
          </p:sp>
          <p:cxnSp>
            <p:nvCxnSpPr>
              <p:cNvPr id="134" name="Google Shape;134;p14"/>
              <p:cNvCxnSpPr/>
              <p:nvPr/>
            </p:nvCxnSpPr>
            <p:spPr>
              <a:xfrm rot="10800000">
                <a:off x="999589" y="4925064"/>
                <a:ext cx="26574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dash"/>
                <a:round/>
                <a:headEnd len="med" w="med" type="oval"/>
                <a:tailEnd len="med" w="med" type="triangle"/>
              </a:ln>
            </p:spPr>
          </p:cxnSp>
        </p:grpSp>
        <p:grpSp>
          <p:nvGrpSpPr>
            <p:cNvPr id="135" name="Google Shape;135;p14"/>
            <p:cNvGrpSpPr/>
            <p:nvPr/>
          </p:nvGrpSpPr>
          <p:grpSpPr>
            <a:xfrm>
              <a:off x="3129754" y="8169178"/>
              <a:ext cx="3640500" cy="253056"/>
              <a:chOff x="495487" y="4672008"/>
              <a:chExt cx="3640500" cy="253056"/>
            </a:xfrm>
          </p:grpSpPr>
          <p:sp>
            <p:nvSpPr>
              <p:cNvPr id="136" name="Google Shape;136;p14"/>
              <p:cNvSpPr txBox="1"/>
              <p:nvPr/>
            </p:nvSpPr>
            <p:spPr>
              <a:xfrm>
                <a:off x="495487" y="4672008"/>
                <a:ext cx="3640500" cy="21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800">
                    <a:solidFill>
                      <a:schemeClr val="dk2"/>
                    </a:solidFill>
                    <a:highlight>
                      <a:schemeClr val="lt1"/>
                    </a:highlight>
                  </a:rPr>
                  <a:t>저장 완료</a:t>
                </a:r>
                <a:endParaRPr sz="800">
                  <a:solidFill>
                    <a:schemeClr val="dk2"/>
                  </a:solidFill>
                  <a:highlight>
                    <a:schemeClr val="lt1"/>
                  </a:highlight>
                </a:endParaRPr>
              </a:p>
            </p:txBody>
          </p:sp>
          <p:cxnSp>
            <p:nvCxnSpPr>
              <p:cNvPr id="137" name="Google Shape;137;p14"/>
              <p:cNvCxnSpPr/>
              <p:nvPr/>
            </p:nvCxnSpPr>
            <p:spPr>
              <a:xfrm rot="10800000">
                <a:off x="999589" y="4925064"/>
                <a:ext cx="26574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dash"/>
                <a:round/>
                <a:headEnd len="med" w="med" type="oval"/>
                <a:tailEnd len="med" w="med" type="triangle"/>
              </a:ln>
            </p:spPr>
          </p:cxn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"/>
          <p:cNvSpPr txBox="1"/>
          <p:nvPr/>
        </p:nvSpPr>
        <p:spPr>
          <a:xfrm>
            <a:off x="163500" y="264671"/>
            <a:ext cx="6873000" cy="461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lt1"/>
                </a:solidFill>
              </a:rPr>
              <a:t>2.2 하드웨어-서버 접속 프로세스 (초기, 재</a:t>
            </a:r>
            <a:r>
              <a:rPr b="1" lang="ko" sz="1800">
                <a:solidFill>
                  <a:schemeClr val="lt1"/>
                </a:solidFill>
              </a:rPr>
              <a:t>접속</a:t>
            </a:r>
            <a:r>
              <a:rPr b="1" lang="ko" sz="1800">
                <a:solidFill>
                  <a:schemeClr val="lt1"/>
                </a:solidFill>
              </a:rPr>
              <a:t>)</a:t>
            </a:r>
            <a:endParaRPr b="1" sz="1800">
              <a:solidFill>
                <a:schemeClr val="lt1"/>
              </a:solidFill>
            </a:endParaRPr>
          </a:p>
        </p:txBody>
      </p:sp>
      <p:grpSp>
        <p:nvGrpSpPr>
          <p:cNvPr id="143" name="Google Shape;143;p15"/>
          <p:cNvGrpSpPr/>
          <p:nvPr/>
        </p:nvGrpSpPr>
        <p:grpSpPr>
          <a:xfrm>
            <a:off x="170698" y="1306719"/>
            <a:ext cx="6915000" cy="17718275"/>
            <a:chOff x="170698" y="919513"/>
            <a:chExt cx="6915000" cy="12468000"/>
          </a:xfrm>
        </p:grpSpPr>
        <p:cxnSp>
          <p:nvCxnSpPr>
            <p:cNvPr id="144" name="Google Shape;144;p15"/>
            <p:cNvCxnSpPr>
              <a:stCxn id="145" idx="2"/>
              <a:endCxn id="146" idx="0"/>
            </p:cNvCxnSpPr>
            <p:nvPr/>
          </p:nvCxnSpPr>
          <p:spPr>
            <a:xfrm>
              <a:off x="3628198" y="1316413"/>
              <a:ext cx="0" cy="11674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" name="Google Shape;147;p15"/>
            <p:cNvCxnSpPr>
              <a:stCxn id="148" idx="2"/>
              <a:endCxn id="149" idx="0"/>
            </p:cNvCxnSpPr>
            <p:nvPr/>
          </p:nvCxnSpPr>
          <p:spPr>
            <a:xfrm>
              <a:off x="6259198" y="1316413"/>
              <a:ext cx="0" cy="11674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" name="Google Shape;150;p15"/>
            <p:cNvCxnSpPr>
              <a:stCxn id="151" idx="2"/>
              <a:endCxn id="152" idx="0"/>
            </p:cNvCxnSpPr>
            <p:nvPr/>
          </p:nvCxnSpPr>
          <p:spPr>
            <a:xfrm>
              <a:off x="997198" y="1316413"/>
              <a:ext cx="0" cy="11674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53" name="Google Shape;153;p15"/>
            <p:cNvGrpSpPr/>
            <p:nvPr/>
          </p:nvGrpSpPr>
          <p:grpSpPr>
            <a:xfrm>
              <a:off x="861965" y="3174983"/>
              <a:ext cx="5557116" cy="9717883"/>
              <a:chOff x="-2312887" y="3250723"/>
              <a:chExt cx="3623104" cy="8957400"/>
            </a:xfrm>
          </p:grpSpPr>
          <p:sp>
            <p:nvSpPr>
              <p:cNvPr id="154" name="Google Shape;154;p15"/>
              <p:cNvSpPr/>
              <p:nvPr/>
            </p:nvSpPr>
            <p:spPr>
              <a:xfrm>
                <a:off x="-2312883" y="3250723"/>
                <a:ext cx="3623100" cy="89574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15"/>
              <p:cNvSpPr/>
              <p:nvPr/>
            </p:nvSpPr>
            <p:spPr>
              <a:xfrm>
                <a:off x="-2312887" y="3254409"/>
                <a:ext cx="582300" cy="1848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" sz="700">
                    <a:solidFill>
                      <a:schemeClr val="lt1"/>
                    </a:solidFill>
                  </a:rPr>
                  <a:t>alt</a:t>
                </a:r>
                <a:endParaRPr b="1" sz="700">
                  <a:solidFill>
                    <a:schemeClr val="lt1"/>
                  </a:solidFill>
                </a:endParaRPr>
              </a:p>
            </p:txBody>
          </p:sp>
        </p:grpSp>
        <p:sp>
          <p:nvSpPr>
            <p:cNvPr id="151" name="Google Shape;151;p15"/>
            <p:cNvSpPr/>
            <p:nvPr/>
          </p:nvSpPr>
          <p:spPr>
            <a:xfrm>
              <a:off x="170698" y="919513"/>
              <a:ext cx="1653000" cy="396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900"/>
                <a:t>하드웨어</a:t>
              </a:r>
              <a:endParaRPr b="1" sz="9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900"/>
                <a:t>(COSTEL)</a:t>
              </a:r>
              <a:endParaRPr b="1" sz="900"/>
            </a:p>
          </p:txBody>
        </p:sp>
        <p:sp>
          <p:nvSpPr>
            <p:cNvPr id="145" name="Google Shape;145;p15"/>
            <p:cNvSpPr/>
            <p:nvPr/>
          </p:nvSpPr>
          <p:spPr>
            <a:xfrm>
              <a:off x="2801698" y="919513"/>
              <a:ext cx="1653000" cy="396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900"/>
                <a:t>서버</a:t>
              </a:r>
              <a:endParaRPr b="1" sz="9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900"/>
                <a:t>(WebSocket)</a:t>
              </a:r>
              <a:endParaRPr b="1" sz="900"/>
            </a:p>
          </p:txBody>
        </p:sp>
        <p:sp>
          <p:nvSpPr>
            <p:cNvPr id="148" name="Google Shape;148;p15"/>
            <p:cNvSpPr/>
            <p:nvPr/>
          </p:nvSpPr>
          <p:spPr>
            <a:xfrm>
              <a:off x="5432698" y="919513"/>
              <a:ext cx="1653000" cy="396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900"/>
                <a:t>DB</a:t>
              </a:r>
              <a:endParaRPr b="1" sz="900"/>
            </a:p>
          </p:txBody>
        </p:sp>
        <p:sp>
          <p:nvSpPr>
            <p:cNvPr id="152" name="Google Shape;152;p15"/>
            <p:cNvSpPr/>
            <p:nvPr/>
          </p:nvSpPr>
          <p:spPr>
            <a:xfrm>
              <a:off x="170698" y="12990613"/>
              <a:ext cx="1653000" cy="396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900"/>
                <a:t>하드웨어</a:t>
              </a:r>
              <a:endParaRPr b="1" sz="9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900"/>
                <a:t>(COSTEL)</a:t>
              </a:r>
              <a:endParaRPr b="1" sz="900"/>
            </a:p>
          </p:txBody>
        </p:sp>
        <p:sp>
          <p:nvSpPr>
            <p:cNvPr id="146" name="Google Shape;146;p15"/>
            <p:cNvSpPr/>
            <p:nvPr/>
          </p:nvSpPr>
          <p:spPr>
            <a:xfrm>
              <a:off x="2801698" y="12990613"/>
              <a:ext cx="1653000" cy="396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900"/>
                <a:t>서버</a:t>
              </a:r>
              <a:endParaRPr b="1" sz="9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900"/>
                <a:t>(WebSocket)</a:t>
              </a:r>
              <a:endParaRPr b="1" sz="900"/>
            </a:p>
          </p:txBody>
        </p:sp>
        <p:sp>
          <p:nvSpPr>
            <p:cNvPr id="149" name="Google Shape;149;p15"/>
            <p:cNvSpPr/>
            <p:nvPr/>
          </p:nvSpPr>
          <p:spPr>
            <a:xfrm>
              <a:off x="5432698" y="12990613"/>
              <a:ext cx="1653000" cy="396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900"/>
                <a:t>DB</a:t>
              </a:r>
              <a:endParaRPr b="1" sz="900"/>
            </a:p>
          </p:txBody>
        </p:sp>
        <p:grpSp>
          <p:nvGrpSpPr>
            <p:cNvPr id="156" name="Google Shape;156;p15"/>
            <p:cNvGrpSpPr/>
            <p:nvPr/>
          </p:nvGrpSpPr>
          <p:grpSpPr>
            <a:xfrm>
              <a:off x="499934" y="1657502"/>
              <a:ext cx="3640445" cy="398778"/>
              <a:chOff x="656250" y="1806325"/>
              <a:chExt cx="2444400" cy="398778"/>
            </a:xfrm>
          </p:grpSpPr>
          <p:sp>
            <p:nvSpPr>
              <p:cNvPr id="157" name="Google Shape;157;p15"/>
              <p:cNvSpPr txBox="1"/>
              <p:nvPr/>
            </p:nvSpPr>
            <p:spPr>
              <a:xfrm>
                <a:off x="656250" y="1806325"/>
                <a:ext cx="2444400" cy="30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800">
                    <a:solidFill>
                      <a:schemeClr val="dk2"/>
                    </a:solidFill>
                    <a:highlight>
                      <a:schemeClr val="lt1"/>
                    </a:highlight>
                  </a:rPr>
                  <a:t>WSS 연결 요청</a:t>
                </a:r>
                <a:endParaRPr sz="800">
                  <a:solidFill>
                    <a:schemeClr val="dk2"/>
                  </a:solidFill>
                  <a:highlight>
                    <a:schemeClr val="lt1"/>
                  </a:highlight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800">
                    <a:solidFill>
                      <a:schemeClr val="dk2"/>
                    </a:solidFill>
                    <a:highlight>
                      <a:schemeClr val="lt1"/>
                    </a:highlight>
                  </a:rPr>
                  <a:t>wss://dev.evws…/ocpp</a:t>
                </a:r>
                <a:endParaRPr sz="800">
                  <a:solidFill>
                    <a:schemeClr val="dk2"/>
                  </a:solidFill>
                  <a:highlight>
                    <a:schemeClr val="lt1"/>
                  </a:highlight>
                </a:endParaRPr>
              </a:p>
            </p:txBody>
          </p:sp>
          <p:cxnSp>
            <p:nvCxnSpPr>
              <p:cNvPr id="158" name="Google Shape;158;p15"/>
              <p:cNvCxnSpPr/>
              <p:nvPr/>
            </p:nvCxnSpPr>
            <p:spPr>
              <a:xfrm>
                <a:off x="996000" y="2205103"/>
                <a:ext cx="1764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grpSp>
          <p:nvGrpSpPr>
            <p:cNvPr id="159" name="Google Shape;159;p15"/>
            <p:cNvGrpSpPr/>
            <p:nvPr/>
          </p:nvGrpSpPr>
          <p:grpSpPr>
            <a:xfrm>
              <a:off x="499934" y="2242931"/>
              <a:ext cx="3640445" cy="354129"/>
              <a:chOff x="656250" y="1850973"/>
              <a:chExt cx="2444400" cy="354129"/>
            </a:xfrm>
          </p:grpSpPr>
          <p:sp>
            <p:nvSpPr>
              <p:cNvPr id="160" name="Google Shape;160;p15"/>
              <p:cNvSpPr txBox="1"/>
              <p:nvPr/>
            </p:nvSpPr>
            <p:spPr>
              <a:xfrm>
                <a:off x="656250" y="1850973"/>
                <a:ext cx="2444400" cy="21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800">
                    <a:solidFill>
                      <a:schemeClr val="dk2"/>
                    </a:solidFill>
                    <a:highlight>
                      <a:schemeClr val="lt1"/>
                    </a:highlight>
                  </a:rPr>
                  <a:t>저장된 장치 ID + 비밀번호/인증키 전달</a:t>
                </a:r>
                <a:endParaRPr sz="800">
                  <a:solidFill>
                    <a:schemeClr val="dk2"/>
                  </a:solidFill>
                  <a:highlight>
                    <a:schemeClr val="lt1"/>
                  </a:highlight>
                </a:endParaRPr>
              </a:p>
            </p:txBody>
          </p:sp>
          <p:cxnSp>
            <p:nvCxnSpPr>
              <p:cNvPr id="161" name="Google Shape;161;p15"/>
              <p:cNvCxnSpPr/>
              <p:nvPr/>
            </p:nvCxnSpPr>
            <p:spPr>
              <a:xfrm>
                <a:off x="996000" y="2205103"/>
                <a:ext cx="1764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grpSp>
          <p:nvGrpSpPr>
            <p:cNvPr id="162" name="Google Shape;162;p15"/>
            <p:cNvGrpSpPr/>
            <p:nvPr/>
          </p:nvGrpSpPr>
          <p:grpSpPr>
            <a:xfrm>
              <a:off x="499934" y="2751389"/>
              <a:ext cx="3640445" cy="344165"/>
              <a:chOff x="656250" y="3128415"/>
              <a:chExt cx="2444400" cy="344165"/>
            </a:xfrm>
          </p:grpSpPr>
          <p:sp>
            <p:nvSpPr>
              <p:cNvPr id="163" name="Google Shape;163;p15"/>
              <p:cNvSpPr txBox="1"/>
              <p:nvPr/>
            </p:nvSpPr>
            <p:spPr>
              <a:xfrm>
                <a:off x="656250" y="3128415"/>
                <a:ext cx="2444400" cy="21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800">
                    <a:solidFill>
                      <a:schemeClr val="dk2"/>
                    </a:solidFill>
                    <a:highlight>
                      <a:schemeClr val="lt1"/>
                    </a:highlight>
                  </a:rPr>
                  <a:t>Subprotocol: ocpp1.6</a:t>
                </a:r>
                <a:endParaRPr sz="800">
                  <a:solidFill>
                    <a:schemeClr val="dk2"/>
                  </a:solidFill>
                  <a:highlight>
                    <a:schemeClr val="lt1"/>
                  </a:highlight>
                </a:endParaRPr>
              </a:p>
            </p:txBody>
          </p:sp>
          <p:cxnSp>
            <p:nvCxnSpPr>
              <p:cNvPr id="164" name="Google Shape;164;p15"/>
              <p:cNvCxnSpPr/>
              <p:nvPr/>
            </p:nvCxnSpPr>
            <p:spPr>
              <a:xfrm>
                <a:off x="996000" y="3472580"/>
                <a:ext cx="1764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grpSp>
          <p:nvGrpSpPr>
            <p:cNvPr id="165" name="Google Shape;165;p15"/>
            <p:cNvGrpSpPr/>
            <p:nvPr/>
          </p:nvGrpSpPr>
          <p:grpSpPr>
            <a:xfrm>
              <a:off x="926125" y="5020375"/>
              <a:ext cx="5421300" cy="1744200"/>
              <a:chOff x="926125" y="5020375"/>
              <a:chExt cx="5421300" cy="1744200"/>
            </a:xfrm>
          </p:grpSpPr>
          <p:sp>
            <p:nvSpPr>
              <p:cNvPr id="166" name="Google Shape;166;p15"/>
              <p:cNvSpPr/>
              <p:nvPr/>
            </p:nvSpPr>
            <p:spPr>
              <a:xfrm>
                <a:off x="926125" y="5020375"/>
                <a:ext cx="5421300" cy="1744200"/>
              </a:xfrm>
              <a:prstGeom prst="rect">
                <a:avLst/>
              </a:prstGeom>
              <a:noFill/>
              <a:ln cap="flat" cmpd="sng" w="8850">
                <a:solidFill>
                  <a:schemeClr val="dk2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85025" lIns="85025" spcFirstLastPara="1" rIns="85025" wrap="square" tIns="850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02"/>
              </a:p>
            </p:txBody>
          </p:sp>
          <p:sp>
            <p:nvSpPr>
              <p:cNvPr id="167" name="Google Shape;167;p15"/>
              <p:cNvSpPr/>
              <p:nvPr/>
            </p:nvSpPr>
            <p:spPr>
              <a:xfrm>
                <a:off x="926131" y="5023993"/>
                <a:ext cx="830700" cy="181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85025" lIns="85025" spcFirstLastPara="1" rIns="85025" wrap="square" tIns="850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" sz="651">
                    <a:solidFill>
                      <a:schemeClr val="lt1"/>
                    </a:solidFill>
                  </a:rPr>
                  <a:t>opt</a:t>
                </a:r>
                <a:endParaRPr b="1" sz="651">
                  <a:solidFill>
                    <a:schemeClr val="lt1"/>
                  </a:solidFill>
                </a:endParaRPr>
              </a:p>
            </p:txBody>
          </p:sp>
        </p:grpSp>
        <p:cxnSp>
          <p:nvCxnSpPr>
            <p:cNvPr id="168" name="Google Shape;168;p15"/>
            <p:cNvCxnSpPr/>
            <p:nvPr/>
          </p:nvCxnSpPr>
          <p:spPr>
            <a:xfrm>
              <a:off x="875050" y="3834807"/>
              <a:ext cx="55293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169" name="Google Shape;169;p15"/>
            <p:cNvSpPr txBox="1"/>
            <p:nvPr/>
          </p:nvSpPr>
          <p:spPr>
            <a:xfrm>
              <a:off x="2643424" y="3111563"/>
              <a:ext cx="1994100" cy="19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600">
                  <a:solidFill>
                    <a:schemeClr val="dk2"/>
                  </a:solidFill>
                </a:rPr>
                <a:t>[경로 불일치]</a:t>
              </a:r>
              <a:endParaRPr b="1" sz="600">
                <a:solidFill>
                  <a:schemeClr val="dk2"/>
                </a:solidFill>
              </a:endParaRPr>
            </a:p>
          </p:txBody>
        </p:sp>
        <p:sp>
          <p:nvSpPr>
            <p:cNvPr id="170" name="Google Shape;170;p15"/>
            <p:cNvSpPr txBox="1"/>
            <p:nvPr/>
          </p:nvSpPr>
          <p:spPr>
            <a:xfrm>
              <a:off x="2643424" y="3781615"/>
              <a:ext cx="1994100" cy="19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600">
                  <a:solidFill>
                    <a:schemeClr val="dk2"/>
                  </a:solidFill>
                </a:rPr>
                <a:t>[인증 헤더(Auth) 불일치]</a:t>
              </a:r>
              <a:endParaRPr b="1" sz="600">
                <a:solidFill>
                  <a:schemeClr val="dk2"/>
                </a:solidFill>
              </a:endParaRPr>
            </a:p>
          </p:txBody>
        </p:sp>
        <p:grpSp>
          <p:nvGrpSpPr>
            <p:cNvPr id="171" name="Google Shape;171;p15"/>
            <p:cNvGrpSpPr/>
            <p:nvPr/>
          </p:nvGrpSpPr>
          <p:grpSpPr>
            <a:xfrm>
              <a:off x="495487" y="3458521"/>
              <a:ext cx="3640445" cy="263522"/>
              <a:chOff x="656250" y="4892239"/>
              <a:chExt cx="2444400" cy="263522"/>
            </a:xfrm>
          </p:grpSpPr>
          <p:sp>
            <p:nvSpPr>
              <p:cNvPr id="172" name="Google Shape;172;p15"/>
              <p:cNvSpPr txBox="1"/>
              <p:nvPr/>
            </p:nvSpPr>
            <p:spPr>
              <a:xfrm>
                <a:off x="656250" y="4892239"/>
                <a:ext cx="2444400" cy="21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800">
                    <a:solidFill>
                      <a:schemeClr val="dk2"/>
                    </a:solidFill>
                    <a:highlight>
                      <a:schemeClr val="lt1"/>
                    </a:highlight>
                  </a:rPr>
                  <a:t>연결 종료</a:t>
                </a:r>
                <a:endParaRPr sz="800">
                  <a:solidFill>
                    <a:schemeClr val="dk2"/>
                  </a:solidFill>
                  <a:highlight>
                    <a:schemeClr val="lt1"/>
                  </a:highlight>
                </a:endParaRPr>
              </a:p>
            </p:txBody>
          </p:sp>
          <p:cxnSp>
            <p:nvCxnSpPr>
              <p:cNvPr id="173" name="Google Shape;173;p15"/>
              <p:cNvCxnSpPr/>
              <p:nvPr/>
            </p:nvCxnSpPr>
            <p:spPr>
              <a:xfrm rot="10800000">
                <a:off x="994660" y="5155761"/>
                <a:ext cx="17844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dash"/>
                <a:round/>
                <a:headEnd len="med" w="med" type="oval"/>
                <a:tailEnd len="med" w="med" type="triangle"/>
              </a:ln>
            </p:spPr>
          </p:cxnSp>
        </p:grpSp>
        <p:sp>
          <p:nvSpPr>
            <p:cNvPr id="174" name="Google Shape;174;p15"/>
            <p:cNvSpPr txBox="1"/>
            <p:nvPr/>
          </p:nvSpPr>
          <p:spPr>
            <a:xfrm>
              <a:off x="2643424" y="4973182"/>
              <a:ext cx="1994100" cy="19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600">
                  <a:solidFill>
                    <a:schemeClr val="dk2"/>
                  </a:solidFill>
                </a:rPr>
                <a:t>[</a:t>
              </a:r>
              <a:r>
                <a:rPr b="1" lang="ko" sz="600">
                  <a:solidFill>
                    <a:schemeClr val="dk2"/>
                  </a:solidFill>
                </a:rPr>
                <a:t>비밀번호 초기화 정책 적용</a:t>
              </a:r>
              <a:r>
                <a:rPr b="1" lang="ko" sz="600">
                  <a:solidFill>
                    <a:schemeClr val="dk2"/>
                  </a:solidFill>
                </a:rPr>
                <a:t>]</a:t>
              </a:r>
              <a:endParaRPr b="1" sz="600">
                <a:solidFill>
                  <a:schemeClr val="dk2"/>
                </a:solidFill>
              </a:endParaRPr>
            </a:p>
          </p:txBody>
        </p:sp>
        <p:grpSp>
          <p:nvGrpSpPr>
            <p:cNvPr id="175" name="Google Shape;175;p15"/>
            <p:cNvGrpSpPr/>
            <p:nvPr/>
          </p:nvGrpSpPr>
          <p:grpSpPr>
            <a:xfrm>
              <a:off x="495487" y="4672008"/>
              <a:ext cx="3640500" cy="253056"/>
              <a:chOff x="495487" y="4672008"/>
              <a:chExt cx="3640500" cy="253056"/>
            </a:xfrm>
          </p:grpSpPr>
          <p:sp>
            <p:nvSpPr>
              <p:cNvPr id="176" name="Google Shape;176;p15"/>
              <p:cNvSpPr txBox="1"/>
              <p:nvPr/>
            </p:nvSpPr>
            <p:spPr>
              <a:xfrm>
                <a:off x="495487" y="4672008"/>
                <a:ext cx="3640500" cy="21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800">
                    <a:solidFill>
                      <a:schemeClr val="dk2"/>
                    </a:solidFill>
                    <a:highlight>
                      <a:schemeClr val="lt1"/>
                    </a:highlight>
                  </a:rPr>
                  <a:t>인증 실패 / </a:t>
                </a:r>
                <a:r>
                  <a:rPr lang="ko" sz="800">
                    <a:solidFill>
                      <a:schemeClr val="dk2"/>
                    </a:solidFill>
                    <a:highlight>
                      <a:schemeClr val="lt1"/>
                    </a:highlight>
                  </a:rPr>
                  <a:t>연결 종료</a:t>
                </a:r>
                <a:endParaRPr sz="800">
                  <a:solidFill>
                    <a:schemeClr val="dk2"/>
                  </a:solidFill>
                  <a:highlight>
                    <a:schemeClr val="lt1"/>
                  </a:highlight>
                </a:endParaRPr>
              </a:p>
            </p:txBody>
          </p:sp>
          <p:cxnSp>
            <p:nvCxnSpPr>
              <p:cNvPr id="177" name="Google Shape;177;p15"/>
              <p:cNvCxnSpPr/>
              <p:nvPr/>
            </p:nvCxnSpPr>
            <p:spPr>
              <a:xfrm rot="10800000">
                <a:off x="999589" y="4925064"/>
                <a:ext cx="26574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dash"/>
                <a:round/>
                <a:headEnd len="med" w="med" type="oval"/>
                <a:tailEnd len="med" w="med" type="triangle"/>
              </a:ln>
            </p:spPr>
          </p:cxnSp>
        </p:grpSp>
        <p:grpSp>
          <p:nvGrpSpPr>
            <p:cNvPr id="178" name="Google Shape;178;p15"/>
            <p:cNvGrpSpPr/>
            <p:nvPr/>
          </p:nvGrpSpPr>
          <p:grpSpPr>
            <a:xfrm>
              <a:off x="3119828" y="4346062"/>
              <a:ext cx="3652150" cy="253056"/>
              <a:chOff x="495487" y="4672008"/>
              <a:chExt cx="3640500" cy="253056"/>
            </a:xfrm>
          </p:grpSpPr>
          <p:sp>
            <p:nvSpPr>
              <p:cNvPr id="179" name="Google Shape;179;p15"/>
              <p:cNvSpPr txBox="1"/>
              <p:nvPr/>
            </p:nvSpPr>
            <p:spPr>
              <a:xfrm>
                <a:off x="495487" y="4672008"/>
                <a:ext cx="3640500" cy="21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800">
                    <a:solidFill>
                      <a:schemeClr val="dk2"/>
                    </a:solidFill>
                    <a:highlight>
                      <a:schemeClr val="lt1"/>
                    </a:highlight>
                  </a:rPr>
                  <a:t>불일치 결과</a:t>
                </a:r>
                <a:endParaRPr sz="800">
                  <a:solidFill>
                    <a:schemeClr val="dk2"/>
                  </a:solidFill>
                  <a:highlight>
                    <a:schemeClr val="lt1"/>
                  </a:highlight>
                </a:endParaRPr>
              </a:p>
            </p:txBody>
          </p:sp>
          <p:cxnSp>
            <p:nvCxnSpPr>
              <p:cNvPr id="180" name="Google Shape;180;p15"/>
              <p:cNvCxnSpPr/>
              <p:nvPr/>
            </p:nvCxnSpPr>
            <p:spPr>
              <a:xfrm rot="10800000">
                <a:off x="999589" y="4925064"/>
                <a:ext cx="26574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dash"/>
                <a:round/>
                <a:headEnd len="med" w="med" type="oval"/>
                <a:tailEnd len="med" w="med" type="triangle"/>
              </a:ln>
            </p:spPr>
          </p:cxnSp>
        </p:grpSp>
        <p:grpSp>
          <p:nvGrpSpPr>
            <p:cNvPr id="181" name="Google Shape;181;p15"/>
            <p:cNvGrpSpPr/>
            <p:nvPr/>
          </p:nvGrpSpPr>
          <p:grpSpPr>
            <a:xfrm>
              <a:off x="3144637" y="4020116"/>
              <a:ext cx="3640500" cy="245392"/>
              <a:chOff x="3144637" y="5457191"/>
              <a:chExt cx="3640500" cy="245392"/>
            </a:xfrm>
          </p:grpSpPr>
          <p:sp>
            <p:nvSpPr>
              <p:cNvPr id="182" name="Google Shape;182;p15"/>
              <p:cNvSpPr txBox="1"/>
              <p:nvPr/>
            </p:nvSpPr>
            <p:spPr>
              <a:xfrm>
                <a:off x="3144637" y="5457191"/>
                <a:ext cx="3640500" cy="21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800">
                    <a:solidFill>
                      <a:schemeClr val="dk2"/>
                    </a:solidFill>
                    <a:highlight>
                      <a:schemeClr val="lt1"/>
                    </a:highlight>
                  </a:rPr>
                  <a:t>저장된 장치 인증정보 조회</a:t>
                </a:r>
                <a:endParaRPr sz="800">
                  <a:solidFill>
                    <a:schemeClr val="dk2"/>
                  </a:solidFill>
                  <a:highlight>
                    <a:schemeClr val="lt1"/>
                  </a:highlight>
                </a:endParaRPr>
              </a:p>
            </p:txBody>
          </p:sp>
          <p:cxnSp>
            <p:nvCxnSpPr>
              <p:cNvPr id="183" name="Google Shape;183;p15"/>
              <p:cNvCxnSpPr/>
              <p:nvPr/>
            </p:nvCxnSpPr>
            <p:spPr>
              <a:xfrm>
                <a:off x="3598434" y="5702584"/>
                <a:ext cx="2664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oval"/>
                <a:tailEnd len="med" w="med" type="triangle"/>
              </a:ln>
            </p:spPr>
          </p:cxnSp>
        </p:grpSp>
        <p:grpSp>
          <p:nvGrpSpPr>
            <p:cNvPr id="184" name="Google Shape;184;p15"/>
            <p:cNvGrpSpPr/>
            <p:nvPr/>
          </p:nvGrpSpPr>
          <p:grpSpPr>
            <a:xfrm>
              <a:off x="926125" y="9909375"/>
              <a:ext cx="5421300" cy="2874900"/>
              <a:chOff x="926125" y="5020375"/>
              <a:chExt cx="5421300" cy="2874900"/>
            </a:xfrm>
          </p:grpSpPr>
          <p:sp>
            <p:nvSpPr>
              <p:cNvPr id="185" name="Google Shape;185;p15"/>
              <p:cNvSpPr/>
              <p:nvPr/>
            </p:nvSpPr>
            <p:spPr>
              <a:xfrm>
                <a:off x="926125" y="5020375"/>
                <a:ext cx="5421300" cy="2874900"/>
              </a:xfrm>
              <a:prstGeom prst="rect">
                <a:avLst/>
              </a:prstGeom>
              <a:noFill/>
              <a:ln cap="flat" cmpd="sng" w="8850">
                <a:solidFill>
                  <a:schemeClr val="dk2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85025" lIns="85025" spcFirstLastPara="1" rIns="85025" wrap="square" tIns="850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02"/>
              </a:p>
            </p:txBody>
          </p:sp>
          <p:sp>
            <p:nvSpPr>
              <p:cNvPr id="186" name="Google Shape;186;p15"/>
              <p:cNvSpPr/>
              <p:nvPr/>
            </p:nvSpPr>
            <p:spPr>
              <a:xfrm>
                <a:off x="926131" y="5023993"/>
                <a:ext cx="830700" cy="181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85025" lIns="85025" spcFirstLastPara="1" rIns="85025" wrap="square" tIns="850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" sz="651">
                    <a:solidFill>
                      <a:schemeClr val="lt1"/>
                    </a:solidFill>
                  </a:rPr>
                  <a:t>alt</a:t>
                </a:r>
                <a:endParaRPr b="1" sz="651">
                  <a:solidFill>
                    <a:schemeClr val="lt1"/>
                  </a:solidFill>
                </a:endParaRPr>
              </a:p>
            </p:txBody>
          </p:sp>
        </p:grpSp>
        <p:grpSp>
          <p:nvGrpSpPr>
            <p:cNvPr id="187" name="Google Shape;187;p15"/>
            <p:cNvGrpSpPr/>
            <p:nvPr/>
          </p:nvGrpSpPr>
          <p:grpSpPr>
            <a:xfrm>
              <a:off x="3144637" y="5323866"/>
              <a:ext cx="3640500" cy="245392"/>
              <a:chOff x="3144637" y="5457191"/>
              <a:chExt cx="3640500" cy="245392"/>
            </a:xfrm>
          </p:grpSpPr>
          <p:sp>
            <p:nvSpPr>
              <p:cNvPr id="188" name="Google Shape;188;p15"/>
              <p:cNvSpPr txBox="1"/>
              <p:nvPr/>
            </p:nvSpPr>
            <p:spPr>
              <a:xfrm>
                <a:off x="3144637" y="5457191"/>
                <a:ext cx="3640500" cy="21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800">
                    <a:solidFill>
                      <a:schemeClr val="dk2"/>
                    </a:solidFill>
                    <a:highlight>
                      <a:schemeClr val="lt1"/>
                    </a:highlight>
                  </a:rPr>
                  <a:t>기존 인증정보 폐기 또는 초기화</a:t>
                </a:r>
                <a:endParaRPr sz="800">
                  <a:solidFill>
                    <a:schemeClr val="dk2"/>
                  </a:solidFill>
                  <a:highlight>
                    <a:schemeClr val="lt1"/>
                  </a:highlight>
                </a:endParaRPr>
              </a:p>
            </p:txBody>
          </p:sp>
          <p:cxnSp>
            <p:nvCxnSpPr>
              <p:cNvPr id="189" name="Google Shape;189;p15"/>
              <p:cNvCxnSpPr/>
              <p:nvPr/>
            </p:nvCxnSpPr>
            <p:spPr>
              <a:xfrm>
                <a:off x="3598434" y="5702584"/>
                <a:ext cx="2664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oval"/>
                <a:tailEnd len="med" w="med" type="triangle"/>
              </a:ln>
            </p:spPr>
          </p:cxnSp>
        </p:grpSp>
        <p:grpSp>
          <p:nvGrpSpPr>
            <p:cNvPr id="190" name="Google Shape;190;p15"/>
            <p:cNvGrpSpPr/>
            <p:nvPr/>
          </p:nvGrpSpPr>
          <p:grpSpPr>
            <a:xfrm>
              <a:off x="3119828" y="5890400"/>
              <a:ext cx="3652150" cy="253056"/>
              <a:chOff x="495487" y="4672008"/>
              <a:chExt cx="3640500" cy="253056"/>
            </a:xfrm>
          </p:grpSpPr>
          <p:sp>
            <p:nvSpPr>
              <p:cNvPr id="191" name="Google Shape;191;p15"/>
              <p:cNvSpPr txBox="1"/>
              <p:nvPr/>
            </p:nvSpPr>
            <p:spPr>
              <a:xfrm>
                <a:off x="495487" y="4672008"/>
                <a:ext cx="3640500" cy="21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800">
                    <a:solidFill>
                      <a:schemeClr val="dk2"/>
                    </a:solidFill>
                    <a:highlight>
                      <a:schemeClr val="lt1"/>
                    </a:highlight>
                  </a:rPr>
                  <a:t>초기화 완료</a:t>
                </a:r>
                <a:endParaRPr sz="800">
                  <a:solidFill>
                    <a:schemeClr val="dk2"/>
                  </a:solidFill>
                  <a:highlight>
                    <a:schemeClr val="lt1"/>
                  </a:highlight>
                </a:endParaRPr>
              </a:p>
            </p:txBody>
          </p:sp>
          <p:cxnSp>
            <p:nvCxnSpPr>
              <p:cNvPr id="192" name="Google Shape;192;p15"/>
              <p:cNvCxnSpPr/>
              <p:nvPr/>
            </p:nvCxnSpPr>
            <p:spPr>
              <a:xfrm rot="10800000">
                <a:off x="999589" y="4925064"/>
                <a:ext cx="26574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dash"/>
                <a:round/>
                <a:headEnd len="med" w="med" type="oval"/>
                <a:tailEnd len="med" w="med" type="triangle"/>
              </a:ln>
            </p:spPr>
          </p:cxnSp>
        </p:grpSp>
        <p:grpSp>
          <p:nvGrpSpPr>
            <p:cNvPr id="193" name="Google Shape;193;p15"/>
            <p:cNvGrpSpPr/>
            <p:nvPr/>
          </p:nvGrpSpPr>
          <p:grpSpPr>
            <a:xfrm>
              <a:off x="495487" y="6456933"/>
              <a:ext cx="3640500" cy="253056"/>
              <a:chOff x="495487" y="4672008"/>
              <a:chExt cx="3640500" cy="253056"/>
            </a:xfrm>
          </p:grpSpPr>
          <p:sp>
            <p:nvSpPr>
              <p:cNvPr id="194" name="Google Shape;194;p15"/>
              <p:cNvSpPr txBox="1"/>
              <p:nvPr/>
            </p:nvSpPr>
            <p:spPr>
              <a:xfrm>
                <a:off x="495487" y="4672008"/>
                <a:ext cx="3640500" cy="21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800">
                    <a:solidFill>
                      <a:schemeClr val="dk2"/>
                    </a:solidFill>
                    <a:highlight>
                      <a:schemeClr val="lt1"/>
                    </a:highlight>
                  </a:rPr>
                  <a:t>최조 등록 절차로 재진행 안내</a:t>
                </a:r>
                <a:endParaRPr sz="800">
                  <a:solidFill>
                    <a:schemeClr val="dk2"/>
                  </a:solidFill>
                  <a:highlight>
                    <a:schemeClr val="lt1"/>
                  </a:highlight>
                </a:endParaRPr>
              </a:p>
            </p:txBody>
          </p:sp>
          <p:cxnSp>
            <p:nvCxnSpPr>
              <p:cNvPr id="195" name="Google Shape;195;p15"/>
              <p:cNvCxnSpPr/>
              <p:nvPr/>
            </p:nvCxnSpPr>
            <p:spPr>
              <a:xfrm rot="10800000">
                <a:off x="999589" y="4925064"/>
                <a:ext cx="26574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dash"/>
                <a:round/>
                <a:headEnd len="med" w="med" type="oval"/>
                <a:tailEnd len="med" w="med" type="triangle"/>
              </a:ln>
            </p:spPr>
          </p:cxnSp>
        </p:grpSp>
        <p:cxnSp>
          <p:nvCxnSpPr>
            <p:cNvPr id="196" name="Google Shape;196;p15"/>
            <p:cNvCxnSpPr/>
            <p:nvPr/>
          </p:nvCxnSpPr>
          <p:spPr>
            <a:xfrm>
              <a:off x="875050" y="6870883"/>
              <a:ext cx="55293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197" name="Google Shape;197;p15"/>
            <p:cNvSpPr txBox="1"/>
            <p:nvPr/>
          </p:nvSpPr>
          <p:spPr>
            <a:xfrm>
              <a:off x="2643424" y="6823183"/>
              <a:ext cx="1994100" cy="19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600">
                  <a:solidFill>
                    <a:schemeClr val="dk2"/>
                  </a:solidFill>
                </a:rPr>
                <a:t>[</a:t>
              </a:r>
              <a:r>
                <a:rPr b="1" lang="ko" sz="600">
                  <a:solidFill>
                    <a:schemeClr val="dk2"/>
                  </a:solidFill>
                </a:rPr>
                <a:t>인증 성공</a:t>
              </a:r>
              <a:r>
                <a:rPr b="1" lang="ko" sz="600">
                  <a:solidFill>
                    <a:schemeClr val="dk2"/>
                  </a:solidFill>
                </a:rPr>
                <a:t>]</a:t>
              </a:r>
              <a:endParaRPr b="1" sz="600">
                <a:solidFill>
                  <a:schemeClr val="dk2"/>
                </a:solidFill>
              </a:endParaRPr>
            </a:p>
          </p:txBody>
        </p:sp>
        <p:grpSp>
          <p:nvGrpSpPr>
            <p:cNvPr id="198" name="Google Shape;198;p15"/>
            <p:cNvGrpSpPr/>
            <p:nvPr/>
          </p:nvGrpSpPr>
          <p:grpSpPr>
            <a:xfrm>
              <a:off x="3144637" y="7211963"/>
              <a:ext cx="3640500" cy="245392"/>
              <a:chOff x="3144637" y="5308363"/>
              <a:chExt cx="3640500" cy="245392"/>
            </a:xfrm>
          </p:grpSpPr>
          <p:sp>
            <p:nvSpPr>
              <p:cNvPr id="199" name="Google Shape;199;p15"/>
              <p:cNvSpPr txBox="1"/>
              <p:nvPr/>
            </p:nvSpPr>
            <p:spPr>
              <a:xfrm>
                <a:off x="3144637" y="5308363"/>
                <a:ext cx="3640500" cy="21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800">
                    <a:solidFill>
                      <a:schemeClr val="dk2"/>
                    </a:solidFill>
                    <a:highlight>
                      <a:schemeClr val="lt1"/>
                    </a:highlight>
                  </a:rPr>
                  <a:t>장치 정보 조회</a:t>
                </a:r>
                <a:endParaRPr sz="800">
                  <a:solidFill>
                    <a:schemeClr val="dk2"/>
                  </a:solidFill>
                  <a:highlight>
                    <a:schemeClr val="lt1"/>
                  </a:highlight>
                </a:endParaRPr>
              </a:p>
            </p:txBody>
          </p:sp>
          <p:cxnSp>
            <p:nvCxnSpPr>
              <p:cNvPr id="200" name="Google Shape;200;p15"/>
              <p:cNvCxnSpPr/>
              <p:nvPr/>
            </p:nvCxnSpPr>
            <p:spPr>
              <a:xfrm>
                <a:off x="3598434" y="5553756"/>
                <a:ext cx="2664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oval"/>
                <a:tailEnd len="med" w="med" type="triangle"/>
              </a:ln>
            </p:spPr>
          </p:cxnSp>
        </p:grpSp>
        <p:grpSp>
          <p:nvGrpSpPr>
            <p:cNvPr id="201" name="Google Shape;201;p15"/>
            <p:cNvGrpSpPr/>
            <p:nvPr/>
          </p:nvGrpSpPr>
          <p:grpSpPr>
            <a:xfrm>
              <a:off x="3119828" y="7683003"/>
              <a:ext cx="3652150" cy="253056"/>
              <a:chOff x="495487" y="4404117"/>
              <a:chExt cx="3640500" cy="253056"/>
            </a:xfrm>
          </p:grpSpPr>
          <p:sp>
            <p:nvSpPr>
              <p:cNvPr id="202" name="Google Shape;202;p15"/>
              <p:cNvSpPr txBox="1"/>
              <p:nvPr/>
            </p:nvSpPr>
            <p:spPr>
              <a:xfrm>
                <a:off x="495487" y="4404117"/>
                <a:ext cx="3640500" cy="21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800">
                    <a:solidFill>
                      <a:schemeClr val="dk2"/>
                    </a:solidFill>
                    <a:highlight>
                      <a:schemeClr val="lt1"/>
                    </a:highlight>
                  </a:rPr>
                  <a:t>등록 장치 정보 반환</a:t>
                </a:r>
                <a:endParaRPr sz="800">
                  <a:solidFill>
                    <a:schemeClr val="dk2"/>
                  </a:solidFill>
                  <a:highlight>
                    <a:schemeClr val="lt1"/>
                  </a:highlight>
                </a:endParaRPr>
              </a:p>
            </p:txBody>
          </p:sp>
          <p:cxnSp>
            <p:nvCxnSpPr>
              <p:cNvPr id="203" name="Google Shape;203;p15"/>
              <p:cNvCxnSpPr/>
              <p:nvPr/>
            </p:nvCxnSpPr>
            <p:spPr>
              <a:xfrm rot="10800000">
                <a:off x="999589" y="4657173"/>
                <a:ext cx="26574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dash"/>
                <a:round/>
                <a:headEnd len="med" w="med" type="oval"/>
                <a:tailEnd len="med" w="med" type="triangle"/>
              </a:ln>
            </p:spPr>
          </p:cxnSp>
        </p:grpSp>
        <p:grpSp>
          <p:nvGrpSpPr>
            <p:cNvPr id="204" name="Google Shape;204;p15"/>
            <p:cNvGrpSpPr/>
            <p:nvPr/>
          </p:nvGrpSpPr>
          <p:grpSpPr>
            <a:xfrm>
              <a:off x="495487" y="8154043"/>
              <a:ext cx="3640500" cy="253056"/>
              <a:chOff x="495487" y="4672008"/>
              <a:chExt cx="3640500" cy="253056"/>
            </a:xfrm>
          </p:grpSpPr>
          <p:sp>
            <p:nvSpPr>
              <p:cNvPr id="205" name="Google Shape;205;p15"/>
              <p:cNvSpPr txBox="1"/>
              <p:nvPr/>
            </p:nvSpPr>
            <p:spPr>
              <a:xfrm>
                <a:off x="495487" y="4672008"/>
                <a:ext cx="3640500" cy="21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800">
                    <a:solidFill>
                      <a:schemeClr val="dk2"/>
                    </a:solidFill>
                    <a:highlight>
                      <a:schemeClr val="lt1"/>
                    </a:highlight>
                  </a:rPr>
                  <a:t>WebSocket 연결 수락</a:t>
                </a:r>
                <a:endParaRPr sz="800">
                  <a:solidFill>
                    <a:schemeClr val="dk2"/>
                  </a:solidFill>
                  <a:highlight>
                    <a:schemeClr val="lt1"/>
                  </a:highlight>
                </a:endParaRPr>
              </a:p>
            </p:txBody>
          </p:sp>
          <p:cxnSp>
            <p:nvCxnSpPr>
              <p:cNvPr id="206" name="Google Shape;206;p15"/>
              <p:cNvCxnSpPr/>
              <p:nvPr/>
            </p:nvCxnSpPr>
            <p:spPr>
              <a:xfrm rot="10800000">
                <a:off x="999589" y="4925064"/>
                <a:ext cx="26574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dash"/>
                <a:round/>
                <a:headEnd len="med" w="med" type="oval"/>
                <a:tailEnd len="med" w="med" type="triangle"/>
              </a:ln>
            </p:spPr>
          </p:cxnSp>
        </p:grpSp>
        <p:grpSp>
          <p:nvGrpSpPr>
            <p:cNvPr id="207" name="Google Shape;207;p15"/>
            <p:cNvGrpSpPr/>
            <p:nvPr/>
          </p:nvGrpSpPr>
          <p:grpSpPr>
            <a:xfrm>
              <a:off x="499934" y="8625083"/>
              <a:ext cx="3640445" cy="262310"/>
              <a:chOff x="656250" y="3210270"/>
              <a:chExt cx="2444400" cy="262310"/>
            </a:xfrm>
          </p:grpSpPr>
          <p:sp>
            <p:nvSpPr>
              <p:cNvPr id="208" name="Google Shape;208;p15"/>
              <p:cNvSpPr txBox="1"/>
              <p:nvPr/>
            </p:nvSpPr>
            <p:spPr>
              <a:xfrm>
                <a:off x="656250" y="3210270"/>
                <a:ext cx="2444400" cy="21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800">
                    <a:solidFill>
                      <a:schemeClr val="dk2"/>
                    </a:solidFill>
                    <a:highlight>
                      <a:schemeClr val="lt1"/>
                    </a:highlight>
                  </a:rPr>
                  <a:t>현재 상태 전송 (Status / Boot / 상태 동기화)</a:t>
                </a:r>
                <a:endParaRPr sz="800">
                  <a:solidFill>
                    <a:schemeClr val="dk2"/>
                  </a:solidFill>
                  <a:highlight>
                    <a:schemeClr val="lt1"/>
                  </a:highlight>
                </a:endParaRPr>
              </a:p>
            </p:txBody>
          </p:sp>
          <p:cxnSp>
            <p:nvCxnSpPr>
              <p:cNvPr id="209" name="Google Shape;209;p15"/>
              <p:cNvCxnSpPr/>
              <p:nvPr/>
            </p:nvCxnSpPr>
            <p:spPr>
              <a:xfrm>
                <a:off x="996000" y="3472580"/>
                <a:ext cx="1764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grpSp>
          <p:nvGrpSpPr>
            <p:cNvPr id="210" name="Google Shape;210;p15"/>
            <p:cNvGrpSpPr/>
            <p:nvPr/>
          </p:nvGrpSpPr>
          <p:grpSpPr>
            <a:xfrm>
              <a:off x="3144637" y="9096123"/>
              <a:ext cx="3640500" cy="245392"/>
              <a:chOff x="3144637" y="5457191"/>
              <a:chExt cx="3640500" cy="245392"/>
            </a:xfrm>
          </p:grpSpPr>
          <p:sp>
            <p:nvSpPr>
              <p:cNvPr id="211" name="Google Shape;211;p15"/>
              <p:cNvSpPr txBox="1"/>
              <p:nvPr/>
            </p:nvSpPr>
            <p:spPr>
              <a:xfrm>
                <a:off x="3144637" y="5457191"/>
                <a:ext cx="3640500" cy="21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800">
                    <a:solidFill>
                      <a:schemeClr val="dk2"/>
                    </a:solidFill>
                    <a:highlight>
                      <a:schemeClr val="lt1"/>
                    </a:highlight>
                  </a:rPr>
                  <a:t>마지막 접속시간 및 상태 갱신</a:t>
                </a:r>
                <a:endParaRPr sz="800">
                  <a:solidFill>
                    <a:schemeClr val="dk2"/>
                  </a:solidFill>
                  <a:highlight>
                    <a:schemeClr val="lt1"/>
                  </a:highlight>
                </a:endParaRPr>
              </a:p>
            </p:txBody>
          </p:sp>
          <p:cxnSp>
            <p:nvCxnSpPr>
              <p:cNvPr id="212" name="Google Shape;212;p15"/>
              <p:cNvCxnSpPr/>
              <p:nvPr/>
            </p:nvCxnSpPr>
            <p:spPr>
              <a:xfrm>
                <a:off x="3598434" y="5702584"/>
                <a:ext cx="2664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oval"/>
                <a:tailEnd len="med" w="med" type="triangle"/>
              </a:ln>
            </p:spPr>
          </p:cxnSp>
        </p:grpSp>
        <p:grpSp>
          <p:nvGrpSpPr>
            <p:cNvPr id="213" name="Google Shape;213;p15"/>
            <p:cNvGrpSpPr/>
            <p:nvPr/>
          </p:nvGrpSpPr>
          <p:grpSpPr>
            <a:xfrm>
              <a:off x="3119828" y="9567163"/>
              <a:ext cx="3652150" cy="253056"/>
              <a:chOff x="495487" y="4404117"/>
              <a:chExt cx="3640500" cy="253056"/>
            </a:xfrm>
          </p:grpSpPr>
          <p:sp>
            <p:nvSpPr>
              <p:cNvPr id="214" name="Google Shape;214;p15"/>
              <p:cNvSpPr txBox="1"/>
              <p:nvPr/>
            </p:nvSpPr>
            <p:spPr>
              <a:xfrm>
                <a:off x="495487" y="4404117"/>
                <a:ext cx="3640500" cy="21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800">
                    <a:solidFill>
                      <a:schemeClr val="dk2"/>
                    </a:solidFill>
                    <a:highlight>
                      <a:schemeClr val="lt1"/>
                    </a:highlight>
                  </a:rPr>
                  <a:t>저장 완료</a:t>
                </a:r>
                <a:endParaRPr sz="800">
                  <a:solidFill>
                    <a:schemeClr val="dk2"/>
                  </a:solidFill>
                  <a:highlight>
                    <a:schemeClr val="lt1"/>
                  </a:highlight>
                </a:endParaRPr>
              </a:p>
            </p:txBody>
          </p:sp>
          <p:cxnSp>
            <p:nvCxnSpPr>
              <p:cNvPr id="215" name="Google Shape;215;p15"/>
              <p:cNvCxnSpPr/>
              <p:nvPr/>
            </p:nvCxnSpPr>
            <p:spPr>
              <a:xfrm rot="10800000">
                <a:off x="999589" y="4657173"/>
                <a:ext cx="26574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dash"/>
                <a:round/>
                <a:headEnd len="med" w="med" type="oval"/>
                <a:tailEnd len="med" w="med" type="triangle"/>
              </a:ln>
            </p:spPr>
          </p:cxnSp>
        </p:grpSp>
        <p:sp>
          <p:nvSpPr>
            <p:cNvPr id="216" name="Google Shape;216;p15"/>
            <p:cNvSpPr txBox="1"/>
            <p:nvPr/>
          </p:nvSpPr>
          <p:spPr>
            <a:xfrm>
              <a:off x="2643424" y="9851183"/>
              <a:ext cx="1994100" cy="19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600">
                  <a:solidFill>
                    <a:schemeClr val="dk2"/>
                  </a:solidFill>
                </a:rPr>
                <a:t>[</a:t>
              </a:r>
              <a:r>
                <a:rPr b="1" lang="ko" sz="600">
                  <a:solidFill>
                    <a:schemeClr val="dk2"/>
                  </a:solidFill>
                </a:rPr>
                <a:t>충전 중 재접속</a:t>
              </a:r>
              <a:r>
                <a:rPr b="1" lang="ko" sz="600">
                  <a:solidFill>
                    <a:schemeClr val="dk2"/>
                  </a:solidFill>
                </a:rPr>
                <a:t>]</a:t>
              </a:r>
              <a:endParaRPr b="1" sz="600">
                <a:solidFill>
                  <a:schemeClr val="dk2"/>
                </a:solidFill>
              </a:endParaRPr>
            </a:p>
          </p:txBody>
        </p:sp>
        <p:grpSp>
          <p:nvGrpSpPr>
            <p:cNvPr id="217" name="Google Shape;217;p15"/>
            <p:cNvGrpSpPr/>
            <p:nvPr/>
          </p:nvGrpSpPr>
          <p:grpSpPr>
            <a:xfrm>
              <a:off x="499934" y="10336820"/>
              <a:ext cx="3640445" cy="262310"/>
              <a:chOff x="656250" y="3210270"/>
              <a:chExt cx="2444400" cy="262310"/>
            </a:xfrm>
          </p:grpSpPr>
          <p:sp>
            <p:nvSpPr>
              <p:cNvPr id="218" name="Google Shape;218;p15"/>
              <p:cNvSpPr txBox="1"/>
              <p:nvPr/>
            </p:nvSpPr>
            <p:spPr>
              <a:xfrm>
                <a:off x="656250" y="3210270"/>
                <a:ext cx="2444400" cy="21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800">
                    <a:solidFill>
                      <a:schemeClr val="dk2"/>
                    </a:solidFill>
                    <a:highlight>
                      <a:schemeClr val="lt1"/>
                    </a:highlight>
                  </a:rPr>
                  <a:t>현재 </a:t>
                </a:r>
                <a:r>
                  <a:rPr lang="ko" sz="800">
                    <a:solidFill>
                      <a:schemeClr val="dk2"/>
                    </a:solidFill>
                    <a:highlight>
                      <a:schemeClr val="lt1"/>
                    </a:highlight>
                  </a:rPr>
                  <a:t>충전 상태 / MeterValue 전달</a:t>
                </a:r>
                <a:endParaRPr sz="800">
                  <a:solidFill>
                    <a:schemeClr val="dk2"/>
                  </a:solidFill>
                  <a:highlight>
                    <a:schemeClr val="lt1"/>
                  </a:highlight>
                </a:endParaRPr>
              </a:p>
            </p:txBody>
          </p:sp>
          <p:cxnSp>
            <p:nvCxnSpPr>
              <p:cNvPr id="219" name="Google Shape;219;p15"/>
              <p:cNvCxnSpPr/>
              <p:nvPr/>
            </p:nvCxnSpPr>
            <p:spPr>
              <a:xfrm>
                <a:off x="996000" y="3472580"/>
                <a:ext cx="1764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grpSp>
          <p:nvGrpSpPr>
            <p:cNvPr id="220" name="Google Shape;220;p15"/>
            <p:cNvGrpSpPr/>
            <p:nvPr/>
          </p:nvGrpSpPr>
          <p:grpSpPr>
            <a:xfrm>
              <a:off x="3144637" y="10819695"/>
              <a:ext cx="3640500" cy="245392"/>
              <a:chOff x="3144637" y="5457191"/>
              <a:chExt cx="3640500" cy="245392"/>
            </a:xfrm>
          </p:grpSpPr>
          <p:sp>
            <p:nvSpPr>
              <p:cNvPr id="221" name="Google Shape;221;p15"/>
              <p:cNvSpPr txBox="1"/>
              <p:nvPr/>
            </p:nvSpPr>
            <p:spPr>
              <a:xfrm>
                <a:off x="3144637" y="5457191"/>
                <a:ext cx="3640500" cy="21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800">
                    <a:solidFill>
                      <a:schemeClr val="dk2"/>
                    </a:solidFill>
                    <a:highlight>
                      <a:schemeClr val="lt1"/>
                    </a:highlight>
                  </a:rPr>
                  <a:t>충전 세션 상태 갱신</a:t>
                </a:r>
                <a:endParaRPr sz="800">
                  <a:solidFill>
                    <a:schemeClr val="dk2"/>
                  </a:solidFill>
                  <a:highlight>
                    <a:schemeClr val="lt1"/>
                  </a:highlight>
                </a:endParaRPr>
              </a:p>
            </p:txBody>
          </p:sp>
          <p:cxnSp>
            <p:nvCxnSpPr>
              <p:cNvPr id="222" name="Google Shape;222;p15"/>
              <p:cNvCxnSpPr/>
              <p:nvPr/>
            </p:nvCxnSpPr>
            <p:spPr>
              <a:xfrm>
                <a:off x="3598434" y="5702584"/>
                <a:ext cx="2664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oval"/>
                <a:tailEnd len="med" w="med" type="triangle"/>
              </a:ln>
            </p:spPr>
          </p:cxnSp>
        </p:grpSp>
        <p:grpSp>
          <p:nvGrpSpPr>
            <p:cNvPr id="223" name="Google Shape;223;p15"/>
            <p:cNvGrpSpPr/>
            <p:nvPr/>
          </p:nvGrpSpPr>
          <p:grpSpPr>
            <a:xfrm>
              <a:off x="3119828" y="11302569"/>
              <a:ext cx="3652150" cy="253056"/>
              <a:chOff x="495487" y="4404117"/>
              <a:chExt cx="3640500" cy="253056"/>
            </a:xfrm>
          </p:grpSpPr>
          <p:sp>
            <p:nvSpPr>
              <p:cNvPr id="224" name="Google Shape;224;p15"/>
              <p:cNvSpPr txBox="1"/>
              <p:nvPr/>
            </p:nvSpPr>
            <p:spPr>
              <a:xfrm>
                <a:off x="495487" y="4404117"/>
                <a:ext cx="3640500" cy="21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800">
                    <a:solidFill>
                      <a:schemeClr val="dk2"/>
                    </a:solidFill>
                    <a:highlight>
                      <a:schemeClr val="lt1"/>
                    </a:highlight>
                  </a:rPr>
                  <a:t>저장 완료</a:t>
                </a:r>
                <a:endParaRPr sz="800">
                  <a:solidFill>
                    <a:schemeClr val="dk2"/>
                  </a:solidFill>
                  <a:highlight>
                    <a:schemeClr val="lt1"/>
                  </a:highlight>
                </a:endParaRPr>
              </a:p>
            </p:txBody>
          </p:sp>
          <p:cxnSp>
            <p:nvCxnSpPr>
              <p:cNvPr id="225" name="Google Shape;225;p15"/>
              <p:cNvCxnSpPr/>
              <p:nvPr/>
            </p:nvCxnSpPr>
            <p:spPr>
              <a:xfrm rot="10800000">
                <a:off x="999589" y="4657173"/>
                <a:ext cx="26574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dash"/>
                <a:round/>
                <a:headEnd len="med" w="med" type="oval"/>
                <a:tailEnd len="med" w="med" type="triangle"/>
              </a:ln>
            </p:spPr>
          </p:cxnSp>
        </p:grpSp>
        <p:grpSp>
          <p:nvGrpSpPr>
            <p:cNvPr id="226" name="Google Shape;226;p15"/>
            <p:cNvGrpSpPr/>
            <p:nvPr/>
          </p:nvGrpSpPr>
          <p:grpSpPr>
            <a:xfrm>
              <a:off x="495487" y="11785443"/>
              <a:ext cx="3640500" cy="253056"/>
              <a:chOff x="495487" y="4672008"/>
              <a:chExt cx="3640500" cy="253056"/>
            </a:xfrm>
          </p:grpSpPr>
          <p:sp>
            <p:nvSpPr>
              <p:cNvPr id="227" name="Google Shape;227;p15"/>
              <p:cNvSpPr txBox="1"/>
              <p:nvPr/>
            </p:nvSpPr>
            <p:spPr>
              <a:xfrm>
                <a:off x="495487" y="4672008"/>
                <a:ext cx="3640500" cy="21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800">
                    <a:solidFill>
                      <a:schemeClr val="dk2"/>
                    </a:solidFill>
                    <a:highlight>
                      <a:schemeClr val="lt1"/>
                    </a:highlight>
                  </a:rPr>
                  <a:t>연결 복구 완료</a:t>
                </a:r>
                <a:endParaRPr sz="800">
                  <a:solidFill>
                    <a:schemeClr val="dk2"/>
                  </a:solidFill>
                  <a:highlight>
                    <a:schemeClr val="lt1"/>
                  </a:highlight>
                </a:endParaRPr>
              </a:p>
            </p:txBody>
          </p:sp>
          <p:cxnSp>
            <p:nvCxnSpPr>
              <p:cNvPr id="228" name="Google Shape;228;p15"/>
              <p:cNvCxnSpPr/>
              <p:nvPr/>
            </p:nvCxnSpPr>
            <p:spPr>
              <a:xfrm rot="10800000">
                <a:off x="999589" y="4925064"/>
                <a:ext cx="26574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dash"/>
                <a:round/>
                <a:headEnd len="med" w="med" type="oval"/>
                <a:tailEnd len="med" w="med" type="triangle"/>
              </a:ln>
            </p:spPr>
          </p:cxnSp>
        </p:grpSp>
        <p:cxnSp>
          <p:nvCxnSpPr>
            <p:cNvPr id="229" name="Google Shape;229;p15"/>
            <p:cNvCxnSpPr/>
            <p:nvPr/>
          </p:nvCxnSpPr>
          <p:spPr>
            <a:xfrm>
              <a:off x="875050" y="12124508"/>
              <a:ext cx="55293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grpSp>
          <p:nvGrpSpPr>
            <p:cNvPr id="230" name="Google Shape;230;p15"/>
            <p:cNvGrpSpPr/>
            <p:nvPr/>
          </p:nvGrpSpPr>
          <p:grpSpPr>
            <a:xfrm>
              <a:off x="495487" y="12418538"/>
              <a:ext cx="3640500" cy="253056"/>
              <a:chOff x="495487" y="4672008"/>
              <a:chExt cx="3640500" cy="253056"/>
            </a:xfrm>
          </p:grpSpPr>
          <p:sp>
            <p:nvSpPr>
              <p:cNvPr id="231" name="Google Shape;231;p15"/>
              <p:cNvSpPr txBox="1"/>
              <p:nvPr/>
            </p:nvSpPr>
            <p:spPr>
              <a:xfrm>
                <a:off x="495487" y="4672008"/>
                <a:ext cx="3640500" cy="21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800">
                    <a:solidFill>
                      <a:schemeClr val="dk2"/>
                    </a:solidFill>
                    <a:highlight>
                      <a:schemeClr val="lt1"/>
                    </a:highlight>
                  </a:rPr>
                  <a:t>상태 복구 완료</a:t>
                </a:r>
                <a:endParaRPr sz="800">
                  <a:solidFill>
                    <a:schemeClr val="dk2"/>
                  </a:solidFill>
                  <a:highlight>
                    <a:schemeClr val="lt1"/>
                  </a:highlight>
                </a:endParaRPr>
              </a:p>
            </p:txBody>
          </p:sp>
          <p:cxnSp>
            <p:nvCxnSpPr>
              <p:cNvPr id="232" name="Google Shape;232;p15"/>
              <p:cNvCxnSpPr/>
              <p:nvPr/>
            </p:nvCxnSpPr>
            <p:spPr>
              <a:xfrm rot="10800000">
                <a:off x="999589" y="4925064"/>
                <a:ext cx="26574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dash"/>
                <a:round/>
                <a:headEnd len="med" w="med" type="oval"/>
                <a:tailEnd len="med" w="med" type="triangle"/>
              </a:ln>
            </p:spPr>
          </p:cxnSp>
        </p:grpSp>
        <p:sp>
          <p:nvSpPr>
            <p:cNvPr id="233" name="Google Shape;233;p15"/>
            <p:cNvSpPr txBox="1"/>
            <p:nvPr/>
          </p:nvSpPr>
          <p:spPr>
            <a:xfrm>
              <a:off x="2643424" y="12070907"/>
              <a:ext cx="1994100" cy="19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600">
                  <a:solidFill>
                    <a:schemeClr val="dk2"/>
                  </a:solidFill>
                </a:rPr>
                <a:t>[</a:t>
              </a:r>
              <a:r>
                <a:rPr b="1" lang="ko" sz="600">
                  <a:solidFill>
                    <a:schemeClr val="dk2"/>
                  </a:solidFill>
                </a:rPr>
                <a:t>일반 </a:t>
              </a:r>
              <a:r>
                <a:rPr b="1" lang="ko" sz="600">
                  <a:solidFill>
                    <a:schemeClr val="dk2"/>
                  </a:solidFill>
                </a:rPr>
                <a:t>재접속]</a:t>
              </a:r>
              <a:endParaRPr b="1" sz="600">
                <a:solidFill>
                  <a:schemeClr val="dk2"/>
                </a:solidFill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" name="Google Shape;238;p16"/>
          <p:cNvGrpSpPr/>
          <p:nvPr/>
        </p:nvGrpSpPr>
        <p:grpSpPr>
          <a:xfrm>
            <a:off x="831674" y="10501652"/>
            <a:ext cx="5597579" cy="2084108"/>
            <a:chOff x="-2312896" y="3250800"/>
            <a:chExt cx="5632500" cy="1235100"/>
          </a:xfrm>
        </p:grpSpPr>
        <p:sp>
          <p:nvSpPr>
            <p:cNvPr id="239" name="Google Shape;239;p16"/>
            <p:cNvSpPr/>
            <p:nvPr/>
          </p:nvSpPr>
          <p:spPr>
            <a:xfrm>
              <a:off x="-2312896" y="3250800"/>
              <a:ext cx="5632500" cy="1235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6"/>
            <p:cNvSpPr/>
            <p:nvPr/>
          </p:nvSpPr>
          <p:spPr>
            <a:xfrm>
              <a:off x="-2312887" y="3254409"/>
              <a:ext cx="582300" cy="1848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700">
                  <a:solidFill>
                    <a:schemeClr val="lt1"/>
                  </a:solidFill>
                </a:rPr>
                <a:t>LOOP</a:t>
              </a:r>
              <a:endParaRPr b="1" sz="700">
                <a:solidFill>
                  <a:schemeClr val="lt1"/>
                </a:solidFill>
              </a:endParaRPr>
            </a:p>
          </p:txBody>
        </p:sp>
      </p:grpSp>
      <p:sp>
        <p:nvSpPr>
          <p:cNvPr id="241" name="Google Shape;241;p16"/>
          <p:cNvSpPr txBox="1"/>
          <p:nvPr/>
        </p:nvSpPr>
        <p:spPr>
          <a:xfrm>
            <a:off x="163500" y="264671"/>
            <a:ext cx="6873000" cy="461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lt1"/>
                </a:solidFill>
              </a:rPr>
              <a:t>3. 웹소켓 연결 이후 통신 흐름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242" name="Google Shape;242;p16"/>
          <p:cNvSpPr/>
          <p:nvPr/>
        </p:nvSpPr>
        <p:spPr>
          <a:xfrm>
            <a:off x="170698" y="1306676"/>
            <a:ext cx="1653000" cy="564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/>
              <a:t>하드웨어</a:t>
            </a:r>
            <a:endParaRPr b="1"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/>
              <a:t>(COSTEL)</a:t>
            </a:r>
            <a:endParaRPr b="1" sz="900"/>
          </a:p>
        </p:txBody>
      </p:sp>
      <p:sp>
        <p:nvSpPr>
          <p:cNvPr id="243" name="Google Shape;243;p16"/>
          <p:cNvSpPr/>
          <p:nvPr/>
        </p:nvSpPr>
        <p:spPr>
          <a:xfrm>
            <a:off x="2801698" y="1306676"/>
            <a:ext cx="1653000" cy="564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/>
              <a:t>OCPP Websocket </a:t>
            </a:r>
            <a:r>
              <a:rPr b="1" lang="ko" sz="900"/>
              <a:t>서버</a:t>
            </a:r>
            <a:endParaRPr b="1" sz="900"/>
          </a:p>
        </p:txBody>
      </p:sp>
      <p:sp>
        <p:nvSpPr>
          <p:cNvPr id="244" name="Google Shape;244;p16"/>
          <p:cNvSpPr/>
          <p:nvPr/>
        </p:nvSpPr>
        <p:spPr>
          <a:xfrm>
            <a:off x="5432698" y="1306676"/>
            <a:ext cx="1653000" cy="564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/>
              <a:t>DB</a:t>
            </a:r>
            <a:endParaRPr b="1" sz="900"/>
          </a:p>
        </p:txBody>
      </p:sp>
      <p:sp>
        <p:nvSpPr>
          <p:cNvPr id="245" name="Google Shape;245;p16"/>
          <p:cNvSpPr/>
          <p:nvPr/>
        </p:nvSpPr>
        <p:spPr>
          <a:xfrm>
            <a:off x="170698" y="18432065"/>
            <a:ext cx="1653000" cy="564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/>
              <a:t>하드웨어</a:t>
            </a:r>
            <a:endParaRPr b="1"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/>
              <a:t>(COSTEL)</a:t>
            </a:r>
            <a:endParaRPr b="1" sz="900"/>
          </a:p>
        </p:txBody>
      </p:sp>
      <p:sp>
        <p:nvSpPr>
          <p:cNvPr id="246" name="Google Shape;246;p16"/>
          <p:cNvSpPr/>
          <p:nvPr/>
        </p:nvSpPr>
        <p:spPr>
          <a:xfrm>
            <a:off x="2801698" y="18432065"/>
            <a:ext cx="1653000" cy="564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/>
              <a:t>OCPP Websocket 서버</a:t>
            </a:r>
            <a:endParaRPr b="1" sz="900"/>
          </a:p>
        </p:txBody>
      </p:sp>
      <p:sp>
        <p:nvSpPr>
          <p:cNvPr id="247" name="Google Shape;247;p16"/>
          <p:cNvSpPr/>
          <p:nvPr/>
        </p:nvSpPr>
        <p:spPr>
          <a:xfrm>
            <a:off x="5432698" y="18432065"/>
            <a:ext cx="1653000" cy="564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/>
              <a:t>DB</a:t>
            </a:r>
            <a:endParaRPr b="1" sz="900"/>
          </a:p>
        </p:txBody>
      </p:sp>
      <p:cxnSp>
        <p:nvCxnSpPr>
          <p:cNvPr id="248" name="Google Shape;248;p16"/>
          <p:cNvCxnSpPr>
            <a:stCxn id="242" idx="2"/>
            <a:endCxn id="245" idx="0"/>
          </p:cNvCxnSpPr>
          <p:nvPr/>
        </p:nvCxnSpPr>
        <p:spPr>
          <a:xfrm>
            <a:off x="997198" y="1870676"/>
            <a:ext cx="0" cy="1656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" name="Google Shape;249;p16"/>
          <p:cNvCxnSpPr>
            <a:stCxn id="243" idx="2"/>
            <a:endCxn id="246" idx="0"/>
          </p:cNvCxnSpPr>
          <p:nvPr/>
        </p:nvCxnSpPr>
        <p:spPr>
          <a:xfrm>
            <a:off x="3628198" y="1870676"/>
            <a:ext cx="0" cy="1656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" name="Google Shape;250;p16"/>
          <p:cNvCxnSpPr>
            <a:stCxn id="244" idx="2"/>
            <a:endCxn id="247" idx="0"/>
          </p:cNvCxnSpPr>
          <p:nvPr/>
        </p:nvCxnSpPr>
        <p:spPr>
          <a:xfrm>
            <a:off x="6259198" y="1870676"/>
            <a:ext cx="0" cy="1656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" name="Google Shape;251;p16"/>
          <p:cNvCxnSpPr/>
          <p:nvPr/>
        </p:nvCxnSpPr>
        <p:spPr>
          <a:xfrm>
            <a:off x="3628200" y="8207489"/>
            <a:ext cx="2639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2" name="Google Shape;252;p16"/>
          <p:cNvCxnSpPr/>
          <p:nvPr/>
        </p:nvCxnSpPr>
        <p:spPr>
          <a:xfrm>
            <a:off x="3628200" y="6381212"/>
            <a:ext cx="2639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3" name="Google Shape;253;p16"/>
          <p:cNvCxnSpPr/>
          <p:nvPr/>
        </p:nvCxnSpPr>
        <p:spPr>
          <a:xfrm>
            <a:off x="3628200" y="4554935"/>
            <a:ext cx="2639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4" name="Google Shape;254;p16"/>
          <p:cNvCxnSpPr/>
          <p:nvPr/>
        </p:nvCxnSpPr>
        <p:spPr>
          <a:xfrm>
            <a:off x="3628200" y="10033766"/>
            <a:ext cx="2639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5" name="Google Shape;255;p16"/>
          <p:cNvCxnSpPr/>
          <p:nvPr/>
        </p:nvCxnSpPr>
        <p:spPr>
          <a:xfrm>
            <a:off x="3628200" y="11975591"/>
            <a:ext cx="2639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6" name="Google Shape;256;p16"/>
          <p:cNvCxnSpPr/>
          <p:nvPr/>
        </p:nvCxnSpPr>
        <p:spPr>
          <a:xfrm>
            <a:off x="3628200" y="13686320"/>
            <a:ext cx="2639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7" name="Google Shape;257;p16"/>
          <p:cNvCxnSpPr/>
          <p:nvPr/>
        </p:nvCxnSpPr>
        <p:spPr>
          <a:xfrm>
            <a:off x="3628200" y="15512597"/>
            <a:ext cx="2639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8" name="Google Shape;258;p16"/>
          <p:cNvCxnSpPr/>
          <p:nvPr/>
        </p:nvCxnSpPr>
        <p:spPr>
          <a:xfrm>
            <a:off x="3628200" y="17338874"/>
            <a:ext cx="2639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9" name="Google Shape;259;p16"/>
          <p:cNvCxnSpPr/>
          <p:nvPr/>
        </p:nvCxnSpPr>
        <p:spPr>
          <a:xfrm>
            <a:off x="997200" y="2605538"/>
            <a:ext cx="2639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0" name="Google Shape;260;p16"/>
          <p:cNvCxnSpPr/>
          <p:nvPr/>
        </p:nvCxnSpPr>
        <p:spPr>
          <a:xfrm>
            <a:off x="997200" y="4026070"/>
            <a:ext cx="2639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1" name="Google Shape;261;p16"/>
          <p:cNvCxnSpPr/>
          <p:nvPr/>
        </p:nvCxnSpPr>
        <p:spPr>
          <a:xfrm>
            <a:off x="997200" y="5732719"/>
            <a:ext cx="2639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2" name="Google Shape;262;p16"/>
          <p:cNvCxnSpPr/>
          <p:nvPr/>
        </p:nvCxnSpPr>
        <p:spPr>
          <a:xfrm>
            <a:off x="997200" y="7596323"/>
            <a:ext cx="2639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3" name="Google Shape;263;p16"/>
          <p:cNvCxnSpPr/>
          <p:nvPr/>
        </p:nvCxnSpPr>
        <p:spPr>
          <a:xfrm>
            <a:off x="997200" y="9322582"/>
            <a:ext cx="2639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4" name="Google Shape;264;p16"/>
          <p:cNvCxnSpPr/>
          <p:nvPr/>
        </p:nvCxnSpPr>
        <p:spPr>
          <a:xfrm>
            <a:off x="997200" y="11360424"/>
            <a:ext cx="2639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5" name="Google Shape;265;p16"/>
          <p:cNvCxnSpPr/>
          <p:nvPr/>
        </p:nvCxnSpPr>
        <p:spPr>
          <a:xfrm>
            <a:off x="997200" y="13077477"/>
            <a:ext cx="2639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6" name="Google Shape;266;p16"/>
          <p:cNvCxnSpPr/>
          <p:nvPr/>
        </p:nvCxnSpPr>
        <p:spPr>
          <a:xfrm>
            <a:off x="997200" y="14863556"/>
            <a:ext cx="2639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7" name="Google Shape;267;p16"/>
          <p:cNvCxnSpPr/>
          <p:nvPr/>
        </p:nvCxnSpPr>
        <p:spPr>
          <a:xfrm>
            <a:off x="997200" y="16443441"/>
            <a:ext cx="2639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8" name="Google Shape;268;p16"/>
          <p:cNvCxnSpPr/>
          <p:nvPr/>
        </p:nvCxnSpPr>
        <p:spPr>
          <a:xfrm rot="10800000">
            <a:off x="1004067" y="3167920"/>
            <a:ext cx="2606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69" name="Google Shape;269;p16"/>
          <p:cNvCxnSpPr/>
          <p:nvPr/>
        </p:nvCxnSpPr>
        <p:spPr>
          <a:xfrm rot="10800000">
            <a:off x="1004067" y="5082682"/>
            <a:ext cx="2606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70" name="Google Shape;270;p16"/>
          <p:cNvCxnSpPr/>
          <p:nvPr/>
        </p:nvCxnSpPr>
        <p:spPr>
          <a:xfrm rot="10800000">
            <a:off x="1004067" y="6989237"/>
            <a:ext cx="2606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71" name="Google Shape;271;p16"/>
          <p:cNvCxnSpPr/>
          <p:nvPr/>
        </p:nvCxnSpPr>
        <p:spPr>
          <a:xfrm rot="10800000">
            <a:off x="1004067" y="8738943"/>
            <a:ext cx="2606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72" name="Google Shape;272;p16"/>
          <p:cNvCxnSpPr/>
          <p:nvPr/>
        </p:nvCxnSpPr>
        <p:spPr>
          <a:xfrm rot="10800000">
            <a:off x="1004067" y="10356599"/>
            <a:ext cx="2606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73" name="Google Shape;273;p16"/>
          <p:cNvCxnSpPr/>
          <p:nvPr/>
        </p:nvCxnSpPr>
        <p:spPr>
          <a:xfrm rot="10800000">
            <a:off x="1004067" y="12461222"/>
            <a:ext cx="2606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74" name="Google Shape;274;p16"/>
          <p:cNvCxnSpPr/>
          <p:nvPr/>
        </p:nvCxnSpPr>
        <p:spPr>
          <a:xfrm rot="10800000">
            <a:off x="1004067" y="14202659"/>
            <a:ext cx="2606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75" name="Google Shape;275;p16"/>
          <p:cNvCxnSpPr/>
          <p:nvPr/>
        </p:nvCxnSpPr>
        <p:spPr>
          <a:xfrm rot="10800000">
            <a:off x="1004067" y="15820290"/>
            <a:ext cx="2606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76" name="Google Shape;276;p16"/>
          <p:cNvCxnSpPr/>
          <p:nvPr/>
        </p:nvCxnSpPr>
        <p:spPr>
          <a:xfrm rot="10800000">
            <a:off x="1004067" y="18131213"/>
            <a:ext cx="2606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277" name="Google Shape;277;p16"/>
          <p:cNvSpPr txBox="1"/>
          <p:nvPr/>
        </p:nvSpPr>
        <p:spPr>
          <a:xfrm>
            <a:off x="831675" y="2254713"/>
            <a:ext cx="291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BootNotification</a:t>
            </a: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sp>
        <p:nvSpPr>
          <p:cNvPr id="278" name="Google Shape;278;p16"/>
          <p:cNvSpPr txBox="1"/>
          <p:nvPr/>
        </p:nvSpPr>
        <p:spPr>
          <a:xfrm>
            <a:off x="831675" y="2820505"/>
            <a:ext cx="291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Accepted / interval=300</a:t>
            </a: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sp>
        <p:nvSpPr>
          <p:cNvPr id="279" name="Google Shape;279;p16"/>
          <p:cNvSpPr txBox="1"/>
          <p:nvPr/>
        </p:nvSpPr>
        <p:spPr>
          <a:xfrm>
            <a:off x="831675" y="3511170"/>
            <a:ext cx="2916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StatusNotification</a:t>
            </a: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Available</a:t>
            </a: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sp>
        <p:nvSpPr>
          <p:cNvPr id="280" name="Google Shape;280;p16"/>
          <p:cNvSpPr txBox="1"/>
          <p:nvPr/>
        </p:nvSpPr>
        <p:spPr>
          <a:xfrm>
            <a:off x="831675" y="4709546"/>
            <a:ext cx="291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StatusNotification.conf</a:t>
            </a: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sp>
        <p:nvSpPr>
          <p:cNvPr id="281" name="Google Shape;281;p16"/>
          <p:cNvSpPr txBox="1"/>
          <p:nvPr/>
        </p:nvSpPr>
        <p:spPr>
          <a:xfrm>
            <a:off x="831675" y="5205398"/>
            <a:ext cx="2916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StatusNotification</a:t>
            </a: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Preparing</a:t>
            </a: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sp>
        <p:nvSpPr>
          <p:cNvPr id="282" name="Google Shape;282;p16"/>
          <p:cNvSpPr txBox="1"/>
          <p:nvPr/>
        </p:nvSpPr>
        <p:spPr>
          <a:xfrm>
            <a:off x="831675" y="8814321"/>
            <a:ext cx="2916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StatusNotification</a:t>
            </a: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Charging</a:t>
            </a: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sp>
        <p:nvSpPr>
          <p:cNvPr id="283" name="Google Shape;283;p16"/>
          <p:cNvSpPr txBox="1"/>
          <p:nvPr/>
        </p:nvSpPr>
        <p:spPr>
          <a:xfrm>
            <a:off x="831675" y="8370531"/>
            <a:ext cx="291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transaction ID 발급 / Accepted</a:t>
            </a: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sp>
        <p:nvSpPr>
          <p:cNvPr id="284" name="Google Shape;284;p16"/>
          <p:cNvSpPr txBox="1"/>
          <p:nvPr/>
        </p:nvSpPr>
        <p:spPr>
          <a:xfrm>
            <a:off x="831675" y="7081542"/>
            <a:ext cx="2916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StartTransaction</a:t>
            </a: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idTag=TEST, meterStart=0</a:t>
            </a: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sp>
        <p:nvSpPr>
          <p:cNvPr id="285" name="Google Shape;285;p16"/>
          <p:cNvSpPr txBox="1"/>
          <p:nvPr/>
        </p:nvSpPr>
        <p:spPr>
          <a:xfrm>
            <a:off x="831675" y="6637752"/>
            <a:ext cx="291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StatusNotification.conf</a:t>
            </a: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sp>
        <p:nvSpPr>
          <p:cNvPr id="286" name="Google Shape;286;p16"/>
          <p:cNvSpPr txBox="1"/>
          <p:nvPr/>
        </p:nvSpPr>
        <p:spPr>
          <a:xfrm>
            <a:off x="831675" y="9968913"/>
            <a:ext cx="291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StatusNotification.conf</a:t>
            </a: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sp>
        <p:nvSpPr>
          <p:cNvPr id="287" name="Google Shape;287;p16"/>
          <p:cNvSpPr txBox="1"/>
          <p:nvPr/>
        </p:nvSpPr>
        <p:spPr>
          <a:xfrm>
            <a:off x="2631149" y="10440415"/>
            <a:ext cx="1994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600">
                <a:solidFill>
                  <a:schemeClr val="dk2"/>
                </a:solidFill>
                <a:highlight>
                  <a:schemeClr val="lt1"/>
                </a:highlight>
              </a:rPr>
              <a:t>[</a:t>
            </a:r>
            <a:r>
              <a:rPr b="1" lang="ko" sz="600">
                <a:solidFill>
                  <a:schemeClr val="dk2"/>
                </a:solidFill>
                <a:highlight>
                  <a:schemeClr val="lt1"/>
                </a:highlight>
              </a:rPr>
              <a:t>충전 중 반복</a:t>
            </a:r>
            <a:r>
              <a:rPr b="1" lang="ko" sz="600">
                <a:solidFill>
                  <a:schemeClr val="dk2"/>
                </a:solidFill>
                <a:highlight>
                  <a:schemeClr val="lt1"/>
                </a:highlight>
              </a:rPr>
              <a:t>]</a:t>
            </a:r>
            <a:endParaRPr b="1" sz="6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sp>
        <p:nvSpPr>
          <p:cNvPr id="288" name="Google Shape;288;p16"/>
          <p:cNvSpPr txBox="1"/>
          <p:nvPr/>
        </p:nvSpPr>
        <p:spPr>
          <a:xfrm>
            <a:off x="831675" y="10824400"/>
            <a:ext cx="2916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MeterValues</a:t>
            </a: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TransactionId, Wh</a:t>
            </a: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sp>
        <p:nvSpPr>
          <p:cNvPr id="289" name="Google Shape;289;p16"/>
          <p:cNvSpPr txBox="1"/>
          <p:nvPr/>
        </p:nvSpPr>
        <p:spPr>
          <a:xfrm>
            <a:off x="831675" y="12085784"/>
            <a:ext cx="291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MeterValues.conf</a:t>
            </a: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sp>
        <p:nvSpPr>
          <p:cNvPr id="290" name="Google Shape;290;p16"/>
          <p:cNvSpPr txBox="1"/>
          <p:nvPr/>
        </p:nvSpPr>
        <p:spPr>
          <a:xfrm>
            <a:off x="831675" y="12559982"/>
            <a:ext cx="2916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StatusNotification</a:t>
            </a: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Finishing</a:t>
            </a: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sp>
        <p:nvSpPr>
          <p:cNvPr id="291" name="Google Shape;291;p16"/>
          <p:cNvSpPr txBox="1"/>
          <p:nvPr/>
        </p:nvSpPr>
        <p:spPr>
          <a:xfrm>
            <a:off x="831675" y="14326404"/>
            <a:ext cx="2916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StopTransaction</a:t>
            </a: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meterStop, transactionId</a:t>
            </a: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sp>
        <p:nvSpPr>
          <p:cNvPr id="292" name="Google Shape;292;p16"/>
          <p:cNvSpPr txBox="1"/>
          <p:nvPr/>
        </p:nvSpPr>
        <p:spPr>
          <a:xfrm>
            <a:off x="831675" y="13830410"/>
            <a:ext cx="291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StatusNotification.conf</a:t>
            </a: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sp>
        <p:nvSpPr>
          <p:cNvPr id="293" name="Google Shape;293;p16"/>
          <p:cNvSpPr txBox="1"/>
          <p:nvPr/>
        </p:nvSpPr>
        <p:spPr>
          <a:xfrm>
            <a:off x="831675" y="15463272"/>
            <a:ext cx="291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StopTransaction.conf / Accepted</a:t>
            </a: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sp>
        <p:nvSpPr>
          <p:cNvPr id="294" name="Google Shape;294;p16"/>
          <p:cNvSpPr txBox="1"/>
          <p:nvPr/>
        </p:nvSpPr>
        <p:spPr>
          <a:xfrm>
            <a:off x="831675" y="15935659"/>
            <a:ext cx="2916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StatusNotification</a:t>
            </a: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Available</a:t>
            </a: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sp>
        <p:nvSpPr>
          <p:cNvPr id="295" name="Google Shape;295;p16"/>
          <p:cNvSpPr txBox="1"/>
          <p:nvPr/>
        </p:nvSpPr>
        <p:spPr>
          <a:xfrm>
            <a:off x="831675" y="17751558"/>
            <a:ext cx="291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StatusNotification.conf</a:t>
            </a: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sp>
        <p:nvSpPr>
          <p:cNvPr id="296" name="Google Shape;296;p16"/>
          <p:cNvSpPr txBox="1"/>
          <p:nvPr/>
        </p:nvSpPr>
        <p:spPr>
          <a:xfrm>
            <a:off x="3489600" y="4197967"/>
            <a:ext cx="291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status log 저장</a:t>
            </a: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sp>
        <p:nvSpPr>
          <p:cNvPr id="297" name="Google Shape;297;p16"/>
          <p:cNvSpPr txBox="1"/>
          <p:nvPr/>
        </p:nvSpPr>
        <p:spPr>
          <a:xfrm>
            <a:off x="3489600" y="6009170"/>
            <a:ext cx="291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status log 저장</a:t>
            </a: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sp>
        <p:nvSpPr>
          <p:cNvPr id="298" name="Google Shape;298;p16"/>
          <p:cNvSpPr txBox="1"/>
          <p:nvPr/>
        </p:nvSpPr>
        <p:spPr>
          <a:xfrm>
            <a:off x="3489600" y="7868599"/>
            <a:ext cx="291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transactions Start</a:t>
            </a: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 저장</a:t>
            </a: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sp>
        <p:nvSpPr>
          <p:cNvPr id="299" name="Google Shape;299;p16"/>
          <p:cNvSpPr txBox="1"/>
          <p:nvPr/>
        </p:nvSpPr>
        <p:spPr>
          <a:xfrm>
            <a:off x="3489600" y="9673070"/>
            <a:ext cx="291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status log 저장</a:t>
            </a: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sp>
        <p:nvSpPr>
          <p:cNvPr id="300" name="Google Shape;300;p16"/>
          <p:cNvSpPr txBox="1"/>
          <p:nvPr/>
        </p:nvSpPr>
        <p:spPr>
          <a:xfrm>
            <a:off x="3489600" y="11641352"/>
            <a:ext cx="291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meter values</a:t>
            </a: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 저장</a:t>
            </a: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sp>
        <p:nvSpPr>
          <p:cNvPr id="301" name="Google Shape;301;p16"/>
          <p:cNvSpPr txBox="1"/>
          <p:nvPr/>
        </p:nvSpPr>
        <p:spPr>
          <a:xfrm>
            <a:off x="3489600" y="13371661"/>
            <a:ext cx="291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status log 저장</a:t>
            </a: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sp>
        <p:nvSpPr>
          <p:cNvPr id="302" name="Google Shape;302;p16"/>
          <p:cNvSpPr txBox="1"/>
          <p:nvPr/>
        </p:nvSpPr>
        <p:spPr>
          <a:xfrm>
            <a:off x="3489600" y="15160944"/>
            <a:ext cx="291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transactions Stop 저장</a:t>
            </a: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sp>
        <p:nvSpPr>
          <p:cNvPr id="303" name="Google Shape;303;p16"/>
          <p:cNvSpPr txBox="1"/>
          <p:nvPr/>
        </p:nvSpPr>
        <p:spPr>
          <a:xfrm>
            <a:off x="3489600" y="16971294"/>
            <a:ext cx="291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status log</a:t>
            </a: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 저장</a:t>
            </a: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7"/>
          <p:cNvSpPr txBox="1"/>
          <p:nvPr/>
        </p:nvSpPr>
        <p:spPr>
          <a:xfrm>
            <a:off x="163500" y="264671"/>
            <a:ext cx="6873000" cy="461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lt1"/>
                </a:solidFill>
              </a:rPr>
              <a:t>4</a:t>
            </a:r>
            <a:r>
              <a:rPr b="1" lang="ko" sz="1800">
                <a:solidFill>
                  <a:schemeClr val="lt1"/>
                </a:solidFill>
              </a:rPr>
              <a:t>. UID / </a:t>
            </a:r>
            <a:r>
              <a:rPr b="1" lang="ko" sz="1800">
                <a:solidFill>
                  <a:schemeClr val="lt1"/>
                </a:solidFill>
              </a:rPr>
              <a:t>장치 ID / 비밀번호 / 인증 </a:t>
            </a:r>
            <a:endParaRPr b="1" sz="1800">
              <a:solidFill>
                <a:schemeClr val="lt1"/>
              </a:solidFill>
            </a:endParaRPr>
          </a:p>
        </p:txBody>
      </p:sp>
      <p:pic>
        <p:nvPicPr>
          <p:cNvPr id="309" name="Google Shape;30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345750" y="1921974"/>
            <a:ext cx="6895200" cy="489546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0" name="Google Shape;310;p17"/>
          <p:cNvGrpSpPr/>
          <p:nvPr/>
        </p:nvGrpSpPr>
        <p:grpSpPr>
          <a:xfrm>
            <a:off x="8783479" y="1899046"/>
            <a:ext cx="6428893" cy="10357305"/>
            <a:chOff x="-872996" y="4513415"/>
            <a:chExt cx="6428893" cy="7288231"/>
          </a:xfrm>
        </p:grpSpPr>
        <p:sp>
          <p:nvSpPr>
            <p:cNvPr id="311" name="Google Shape;311;p17"/>
            <p:cNvSpPr txBox="1"/>
            <p:nvPr/>
          </p:nvSpPr>
          <p:spPr>
            <a:xfrm>
              <a:off x="-872996" y="4513415"/>
              <a:ext cx="3280500" cy="21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>
                  <a:solidFill>
                    <a:schemeClr val="dk2"/>
                  </a:solidFill>
                  <a:highlight>
                    <a:schemeClr val="lt1"/>
                  </a:highlight>
                </a:rPr>
                <a:t>2. 관리자 모드: 서버 URL(wss://) 및 Profile 2 설정</a:t>
              </a:r>
              <a:endParaRPr sz="800">
                <a:solidFill>
                  <a:schemeClr val="dk2"/>
                </a:solidFill>
                <a:highlight>
                  <a:schemeClr val="lt1"/>
                </a:highlight>
              </a:endParaRPr>
            </a:p>
          </p:txBody>
        </p:sp>
        <p:sp>
          <p:nvSpPr>
            <p:cNvPr id="312" name="Google Shape;312;p17"/>
            <p:cNvSpPr txBox="1"/>
            <p:nvPr/>
          </p:nvSpPr>
          <p:spPr>
            <a:xfrm>
              <a:off x="-652629" y="5329997"/>
              <a:ext cx="3618600" cy="216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800">
                  <a:solidFill>
                    <a:schemeClr val="lt1"/>
                  </a:solidFill>
                </a:rPr>
                <a:t>Phase 2: 보안 웹소켓 연결 (OCPP 1.6J)</a:t>
              </a:r>
              <a:endParaRPr b="1" sz="800">
                <a:solidFill>
                  <a:schemeClr val="lt1"/>
                </a:solidFill>
              </a:endParaRPr>
            </a:p>
          </p:txBody>
        </p:sp>
        <p:sp>
          <p:nvSpPr>
            <p:cNvPr id="313" name="Google Shape;313;p17"/>
            <p:cNvSpPr txBox="1"/>
            <p:nvPr/>
          </p:nvSpPr>
          <p:spPr>
            <a:xfrm>
              <a:off x="-378103" y="5986276"/>
              <a:ext cx="3388500" cy="21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>
                  <a:solidFill>
                    <a:schemeClr val="dk2"/>
                  </a:solidFill>
                </a:rPr>
                <a:t>4. TLS Handshake &amp; Upgrade: websocket (Security Profile 2 적용)</a:t>
              </a:r>
              <a:endParaRPr sz="800">
                <a:solidFill>
                  <a:schemeClr val="dk2"/>
                </a:solidFill>
              </a:endParaRPr>
            </a:p>
          </p:txBody>
        </p:sp>
        <p:grpSp>
          <p:nvGrpSpPr>
            <p:cNvPr id="314" name="Google Shape;314;p17"/>
            <p:cNvGrpSpPr/>
            <p:nvPr/>
          </p:nvGrpSpPr>
          <p:grpSpPr>
            <a:xfrm>
              <a:off x="-320094" y="6458209"/>
              <a:ext cx="3623100" cy="1235100"/>
              <a:chOff x="-2312887" y="3250809"/>
              <a:chExt cx="3623100" cy="1235100"/>
            </a:xfrm>
          </p:grpSpPr>
          <p:sp>
            <p:nvSpPr>
              <p:cNvPr id="315" name="Google Shape;315;p17"/>
              <p:cNvSpPr/>
              <p:nvPr/>
            </p:nvSpPr>
            <p:spPr>
              <a:xfrm>
                <a:off x="-2312887" y="3250809"/>
                <a:ext cx="3623100" cy="12351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" name="Google Shape;316;p17"/>
              <p:cNvSpPr/>
              <p:nvPr/>
            </p:nvSpPr>
            <p:spPr>
              <a:xfrm>
                <a:off x="-2312887" y="3254409"/>
                <a:ext cx="582300" cy="1848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" sz="700">
                    <a:solidFill>
                      <a:schemeClr val="lt1"/>
                    </a:solidFill>
                  </a:rPr>
                  <a:t>LOOP</a:t>
                </a:r>
                <a:endParaRPr b="1" sz="700">
                  <a:solidFill>
                    <a:schemeClr val="lt1"/>
                  </a:solidFill>
                </a:endParaRPr>
              </a:p>
            </p:txBody>
          </p:sp>
        </p:grpSp>
        <p:sp>
          <p:nvSpPr>
            <p:cNvPr id="317" name="Google Shape;317;p17"/>
            <p:cNvSpPr txBox="1"/>
            <p:nvPr/>
          </p:nvSpPr>
          <p:spPr>
            <a:xfrm>
              <a:off x="-871303" y="9399814"/>
              <a:ext cx="6427200" cy="216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800">
                  <a:solidFill>
                    <a:schemeClr val="lt1"/>
                  </a:solidFill>
                </a:rPr>
                <a:t>Phase 4: 예외/장애 시나리오 (Edge Case)</a:t>
              </a:r>
              <a:endParaRPr b="1" sz="800">
                <a:solidFill>
                  <a:schemeClr val="lt1"/>
                </a:solidFill>
              </a:endParaRPr>
            </a:p>
          </p:txBody>
        </p:sp>
        <p:grpSp>
          <p:nvGrpSpPr>
            <p:cNvPr id="318" name="Google Shape;318;p17"/>
            <p:cNvGrpSpPr/>
            <p:nvPr/>
          </p:nvGrpSpPr>
          <p:grpSpPr>
            <a:xfrm>
              <a:off x="-821382" y="10191546"/>
              <a:ext cx="6327300" cy="1610100"/>
              <a:chOff x="501347" y="9102196"/>
              <a:chExt cx="6327300" cy="1610100"/>
            </a:xfrm>
          </p:grpSpPr>
          <p:sp>
            <p:nvSpPr>
              <p:cNvPr id="319" name="Google Shape;319;p17"/>
              <p:cNvSpPr/>
              <p:nvPr/>
            </p:nvSpPr>
            <p:spPr>
              <a:xfrm>
                <a:off x="501347" y="9102196"/>
                <a:ext cx="6327300" cy="16101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" name="Google Shape;320;p17"/>
              <p:cNvSpPr/>
              <p:nvPr/>
            </p:nvSpPr>
            <p:spPr>
              <a:xfrm>
                <a:off x="501358" y="9105806"/>
                <a:ext cx="1381500" cy="1848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" sz="700">
                    <a:solidFill>
                      <a:schemeClr val="lt1"/>
                    </a:solidFill>
                  </a:rPr>
                  <a:t>비상 정지 버튼 클릭</a:t>
                </a:r>
                <a:endParaRPr b="1" sz="700">
                  <a:solidFill>
                    <a:schemeClr val="lt1"/>
                  </a:solidFill>
                </a:endParaRPr>
              </a:p>
            </p:txBody>
          </p:sp>
        </p:grpSp>
        <p:sp>
          <p:nvSpPr>
            <p:cNvPr id="321" name="Google Shape;321;p17"/>
            <p:cNvSpPr txBox="1"/>
            <p:nvPr/>
          </p:nvSpPr>
          <p:spPr>
            <a:xfrm>
              <a:off x="168347" y="8014993"/>
              <a:ext cx="3280500" cy="19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600">
                  <a:solidFill>
                    <a:schemeClr val="dk2"/>
                  </a:solidFill>
                </a:rPr>
                <a:t>[연결 유지 (Keep-Alive)]</a:t>
              </a:r>
              <a:endParaRPr b="1" sz="600">
                <a:solidFill>
                  <a:schemeClr val="dk2"/>
                </a:solidFill>
              </a:endParaRPr>
            </a:p>
          </p:txBody>
        </p:sp>
        <p:cxnSp>
          <p:nvCxnSpPr>
            <p:cNvPr id="322" name="Google Shape;322;p17"/>
            <p:cNvCxnSpPr/>
            <p:nvPr/>
          </p:nvCxnSpPr>
          <p:spPr>
            <a:xfrm rot="10800000">
              <a:off x="-824855" y="8696037"/>
              <a:ext cx="3431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med" w="med" type="oval"/>
              <a:tailEnd len="med" w="med" type="triangle"/>
            </a:ln>
          </p:spPr>
        </p:cxnSp>
      </p:grpSp>
      <p:sp>
        <p:nvSpPr>
          <p:cNvPr id="323" name="Google Shape;323;p17"/>
          <p:cNvSpPr/>
          <p:nvPr/>
        </p:nvSpPr>
        <p:spPr>
          <a:xfrm>
            <a:off x="170698" y="1306676"/>
            <a:ext cx="1653000" cy="564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/>
              <a:t>웹 서버 </a:t>
            </a:r>
            <a:endParaRPr b="1" sz="900"/>
          </a:p>
        </p:txBody>
      </p:sp>
      <p:sp>
        <p:nvSpPr>
          <p:cNvPr id="324" name="Google Shape;324;p17"/>
          <p:cNvSpPr/>
          <p:nvPr/>
        </p:nvSpPr>
        <p:spPr>
          <a:xfrm>
            <a:off x="2801698" y="1306676"/>
            <a:ext cx="1653000" cy="564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/>
              <a:t>OCPP Websocket 서버</a:t>
            </a:r>
            <a:endParaRPr b="1" sz="900"/>
          </a:p>
        </p:txBody>
      </p:sp>
      <p:sp>
        <p:nvSpPr>
          <p:cNvPr id="325" name="Google Shape;325;p17"/>
          <p:cNvSpPr/>
          <p:nvPr/>
        </p:nvSpPr>
        <p:spPr>
          <a:xfrm>
            <a:off x="5432698" y="1306676"/>
            <a:ext cx="1653000" cy="564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/>
              <a:t>DB</a:t>
            </a:r>
            <a:endParaRPr b="1" sz="900"/>
          </a:p>
        </p:txBody>
      </p:sp>
      <p:cxnSp>
        <p:nvCxnSpPr>
          <p:cNvPr id="326" name="Google Shape;326;p17"/>
          <p:cNvCxnSpPr>
            <a:stCxn id="323" idx="2"/>
          </p:cNvCxnSpPr>
          <p:nvPr/>
        </p:nvCxnSpPr>
        <p:spPr>
          <a:xfrm>
            <a:off x="997198" y="1870676"/>
            <a:ext cx="0" cy="1656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17"/>
          <p:cNvCxnSpPr>
            <a:stCxn id="324" idx="2"/>
          </p:cNvCxnSpPr>
          <p:nvPr/>
        </p:nvCxnSpPr>
        <p:spPr>
          <a:xfrm>
            <a:off x="3628198" y="1870676"/>
            <a:ext cx="0" cy="1656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" name="Google Shape;328;p17"/>
          <p:cNvCxnSpPr>
            <a:stCxn id="325" idx="2"/>
          </p:cNvCxnSpPr>
          <p:nvPr/>
        </p:nvCxnSpPr>
        <p:spPr>
          <a:xfrm>
            <a:off x="6259198" y="1870676"/>
            <a:ext cx="0" cy="1656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" name="Google Shape;329;p17"/>
          <p:cNvCxnSpPr/>
          <p:nvPr/>
        </p:nvCxnSpPr>
        <p:spPr>
          <a:xfrm>
            <a:off x="3607825" y="2906583"/>
            <a:ext cx="2639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0" name="Google Shape;330;p17"/>
          <p:cNvCxnSpPr/>
          <p:nvPr/>
        </p:nvCxnSpPr>
        <p:spPr>
          <a:xfrm rot="10800000">
            <a:off x="3668567" y="3332851"/>
            <a:ext cx="2606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331" name="Google Shape;331;p17"/>
          <p:cNvSpPr txBox="1"/>
          <p:nvPr/>
        </p:nvSpPr>
        <p:spPr>
          <a:xfrm>
            <a:off x="3496175" y="2985436"/>
            <a:ext cx="291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3. 인증 키 존재 여부 - DB의 응답 </a:t>
            </a: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sp>
        <p:nvSpPr>
          <p:cNvPr id="332" name="Google Shape;332;p17"/>
          <p:cNvSpPr txBox="1"/>
          <p:nvPr/>
        </p:nvSpPr>
        <p:spPr>
          <a:xfrm>
            <a:off x="3513775" y="2507838"/>
            <a:ext cx="291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2. 인증 비밀번호 조회 - 서버가 DB 요청  </a:t>
            </a: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cxnSp>
        <p:nvCxnSpPr>
          <p:cNvPr id="333" name="Google Shape;333;p17"/>
          <p:cNvCxnSpPr/>
          <p:nvPr/>
        </p:nvCxnSpPr>
        <p:spPr>
          <a:xfrm rot="10800000">
            <a:off x="3647225" y="2287157"/>
            <a:ext cx="2614200" cy="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4" name="Google Shape;334;p17"/>
          <p:cNvSpPr txBox="1"/>
          <p:nvPr/>
        </p:nvSpPr>
        <p:spPr>
          <a:xfrm>
            <a:off x="3459126" y="1887407"/>
            <a:ext cx="3183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1. WSS 연결 요청 (Basic Auth) - 하드웨어(COSTEL)에서 들어옴 </a:t>
            </a:r>
            <a:b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</a:b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cxnSp>
        <p:nvCxnSpPr>
          <p:cNvPr id="335" name="Google Shape;335;p17"/>
          <p:cNvCxnSpPr/>
          <p:nvPr/>
        </p:nvCxnSpPr>
        <p:spPr>
          <a:xfrm>
            <a:off x="3625425" y="4307030"/>
            <a:ext cx="2639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6" name="Google Shape;336;p17"/>
          <p:cNvCxnSpPr/>
          <p:nvPr/>
        </p:nvCxnSpPr>
        <p:spPr>
          <a:xfrm rot="10800000">
            <a:off x="3622717" y="4738236"/>
            <a:ext cx="2606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337" name="Google Shape;337;p17"/>
          <p:cNvSpPr txBox="1"/>
          <p:nvPr/>
        </p:nvSpPr>
        <p:spPr>
          <a:xfrm>
            <a:off x="3450325" y="4390822"/>
            <a:ext cx="291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5. 인증 성공 (OK) - 결과 반환 </a:t>
            </a: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sp>
        <p:nvSpPr>
          <p:cNvPr id="338" name="Google Shape;338;p17"/>
          <p:cNvSpPr txBox="1"/>
          <p:nvPr/>
        </p:nvSpPr>
        <p:spPr>
          <a:xfrm>
            <a:off x="3531375" y="3908286"/>
            <a:ext cx="291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4. 인증 정합성 체크 - 검증 요청 </a:t>
            </a: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cxnSp>
        <p:nvCxnSpPr>
          <p:cNvPr id="339" name="Google Shape;339;p17"/>
          <p:cNvCxnSpPr/>
          <p:nvPr/>
        </p:nvCxnSpPr>
        <p:spPr>
          <a:xfrm rot="10800000">
            <a:off x="3640317" y="5254256"/>
            <a:ext cx="2606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340" name="Google Shape;340;p17"/>
          <p:cNvSpPr txBox="1"/>
          <p:nvPr/>
        </p:nvSpPr>
        <p:spPr>
          <a:xfrm>
            <a:off x="3467925" y="4906841"/>
            <a:ext cx="291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6. WSS 연결 완료 - 하드웨어(COSTEL)로 나감</a:t>
            </a: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cxnSp>
        <p:nvCxnSpPr>
          <p:cNvPr id="341" name="Google Shape;341;p17"/>
          <p:cNvCxnSpPr/>
          <p:nvPr/>
        </p:nvCxnSpPr>
        <p:spPr>
          <a:xfrm>
            <a:off x="3634225" y="6231064"/>
            <a:ext cx="2639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2" name="Google Shape;342;p17"/>
          <p:cNvSpPr txBox="1"/>
          <p:nvPr/>
        </p:nvSpPr>
        <p:spPr>
          <a:xfrm>
            <a:off x="3540175" y="6467246"/>
            <a:ext cx="291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8. 최초 프로토콜 실행 - 하드웨어(</a:t>
            </a: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COSTEL</a:t>
            </a: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로 나감 </a:t>
            </a: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sp>
        <p:nvSpPr>
          <p:cNvPr id="343" name="Google Shape;343;p17"/>
          <p:cNvSpPr txBox="1"/>
          <p:nvPr/>
        </p:nvSpPr>
        <p:spPr>
          <a:xfrm>
            <a:off x="3540175" y="5832320"/>
            <a:ext cx="2916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7. 기존 인증키 파기 - 파기 명령 </a:t>
            </a: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cxnSp>
        <p:nvCxnSpPr>
          <p:cNvPr id="344" name="Google Shape;344;p17"/>
          <p:cNvCxnSpPr/>
          <p:nvPr/>
        </p:nvCxnSpPr>
        <p:spPr>
          <a:xfrm>
            <a:off x="998450" y="8054488"/>
            <a:ext cx="2639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5" name="Google Shape;345;p17"/>
          <p:cNvCxnSpPr/>
          <p:nvPr/>
        </p:nvCxnSpPr>
        <p:spPr>
          <a:xfrm rot="10800000">
            <a:off x="1014642" y="7354927"/>
            <a:ext cx="2606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6" name="Google Shape;346;p17"/>
          <p:cNvSpPr txBox="1"/>
          <p:nvPr/>
        </p:nvSpPr>
        <p:spPr>
          <a:xfrm>
            <a:off x="949975" y="6969748"/>
            <a:ext cx="2916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9. 임시 세션 요청  </a:t>
            </a: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sp>
        <p:nvSpPr>
          <p:cNvPr id="347" name="Google Shape;347;p17"/>
          <p:cNvSpPr txBox="1"/>
          <p:nvPr/>
        </p:nvSpPr>
        <p:spPr>
          <a:xfrm>
            <a:off x="931725" y="7590943"/>
            <a:ext cx="2916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10. 신규 고유 키 생성 </a:t>
            </a: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cxnSp>
        <p:nvCxnSpPr>
          <p:cNvPr id="348" name="Google Shape;348;p17"/>
          <p:cNvCxnSpPr/>
          <p:nvPr/>
        </p:nvCxnSpPr>
        <p:spPr>
          <a:xfrm>
            <a:off x="978950" y="3741063"/>
            <a:ext cx="5303700" cy="3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9" name="Google Shape;349;p17"/>
          <p:cNvSpPr txBox="1"/>
          <p:nvPr/>
        </p:nvSpPr>
        <p:spPr>
          <a:xfrm>
            <a:off x="1585100" y="3233499"/>
            <a:ext cx="203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chemeClr val="dk2"/>
                </a:solidFill>
              </a:rPr>
              <a:t>[기존 발급 키 메모리 존재 시] </a:t>
            </a:r>
            <a:endParaRPr b="1" sz="900">
              <a:solidFill>
                <a:schemeClr val="dk2"/>
              </a:solidFill>
            </a:endParaRPr>
          </a:p>
        </p:txBody>
      </p:sp>
      <p:cxnSp>
        <p:nvCxnSpPr>
          <p:cNvPr id="350" name="Google Shape;350;p17"/>
          <p:cNvCxnSpPr/>
          <p:nvPr/>
        </p:nvCxnSpPr>
        <p:spPr>
          <a:xfrm>
            <a:off x="997200" y="5768070"/>
            <a:ext cx="5303700" cy="3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1" name="Google Shape;351;p17"/>
          <p:cNvSpPr txBox="1"/>
          <p:nvPr/>
        </p:nvSpPr>
        <p:spPr>
          <a:xfrm>
            <a:off x="1603350" y="5260506"/>
            <a:ext cx="203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chemeClr val="dk2"/>
                </a:solidFill>
              </a:rPr>
              <a:t>[비밀번호 인증 실패 / 최초 접속 시] </a:t>
            </a:r>
            <a:endParaRPr b="1" sz="900">
              <a:solidFill>
                <a:schemeClr val="dk2"/>
              </a:solidFill>
            </a:endParaRPr>
          </a:p>
        </p:txBody>
      </p:sp>
      <p:cxnSp>
        <p:nvCxnSpPr>
          <p:cNvPr id="352" name="Google Shape;352;p17"/>
          <p:cNvCxnSpPr/>
          <p:nvPr/>
        </p:nvCxnSpPr>
        <p:spPr>
          <a:xfrm>
            <a:off x="3628200" y="6926939"/>
            <a:ext cx="2629200" cy="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353" name="Google Shape;353;p17"/>
          <p:cNvCxnSpPr/>
          <p:nvPr/>
        </p:nvCxnSpPr>
        <p:spPr>
          <a:xfrm>
            <a:off x="3634225" y="8634029"/>
            <a:ext cx="2639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4" name="Google Shape;354;p17"/>
          <p:cNvSpPr txBox="1"/>
          <p:nvPr/>
        </p:nvSpPr>
        <p:spPr>
          <a:xfrm>
            <a:off x="3540175" y="8870211"/>
            <a:ext cx="291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12. 인증키 발급 완료 - 하드웨어로 최종 발급 </a:t>
            </a: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sp>
        <p:nvSpPr>
          <p:cNvPr id="355" name="Google Shape;355;p17"/>
          <p:cNvSpPr txBox="1"/>
          <p:nvPr/>
        </p:nvSpPr>
        <p:spPr>
          <a:xfrm>
            <a:off x="3540175" y="8235284"/>
            <a:ext cx="2916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11. 신규 인증키 저장 - DB에 반영  </a:t>
            </a: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cxnSp>
        <p:nvCxnSpPr>
          <p:cNvPr id="356" name="Google Shape;356;p17"/>
          <p:cNvCxnSpPr/>
          <p:nvPr/>
        </p:nvCxnSpPr>
        <p:spPr>
          <a:xfrm>
            <a:off x="3628200" y="9329903"/>
            <a:ext cx="2629200" cy="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8"/>
          <p:cNvSpPr txBox="1"/>
          <p:nvPr/>
        </p:nvSpPr>
        <p:spPr>
          <a:xfrm>
            <a:off x="163500" y="264671"/>
            <a:ext cx="6873000" cy="461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lt1"/>
                </a:solidFill>
              </a:rPr>
              <a:t>4. UID / 장치 ID / 비밀번호 / 인증 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362" name="Google Shape;362;p18"/>
          <p:cNvSpPr/>
          <p:nvPr/>
        </p:nvSpPr>
        <p:spPr>
          <a:xfrm>
            <a:off x="2042850" y="1221430"/>
            <a:ext cx="2475000" cy="73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하드웨어 접속 시도</a:t>
            </a:r>
            <a:endParaRPr sz="900"/>
          </a:p>
        </p:txBody>
      </p:sp>
      <p:cxnSp>
        <p:nvCxnSpPr>
          <p:cNvPr id="363" name="Google Shape;363;p18"/>
          <p:cNvCxnSpPr>
            <a:stCxn id="362" idx="2"/>
          </p:cNvCxnSpPr>
          <p:nvPr/>
        </p:nvCxnSpPr>
        <p:spPr>
          <a:xfrm flipH="1">
            <a:off x="3279750" y="1959430"/>
            <a:ext cx="600" cy="72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4" name="Google Shape;364;p18"/>
          <p:cNvSpPr/>
          <p:nvPr/>
        </p:nvSpPr>
        <p:spPr>
          <a:xfrm>
            <a:off x="1922100" y="2685399"/>
            <a:ext cx="2716500" cy="13449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기존 발급된 인증 비밀번호가 메모리에 존재하는가? </a:t>
            </a:r>
            <a:endParaRPr sz="900"/>
          </a:p>
        </p:txBody>
      </p:sp>
      <p:cxnSp>
        <p:nvCxnSpPr>
          <p:cNvPr id="365" name="Google Shape;365;p18"/>
          <p:cNvCxnSpPr>
            <a:stCxn id="364" idx="2"/>
          </p:cNvCxnSpPr>
          <p:nvPr/>
        </p:nvCxnSpPr>
        <p:spPr>
          <a:xfrm flipH="1">
            <a:off x="3276150" y="4030299"/>
            <a:ext cx="4200" cy="52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6" name="Google Shape;366;p18"/>
          <p:cNvCxnSpPr/>
          <p:nvPr/>
        </p:nvCxnSpPr>
        <p:spPr>
          <a:xfrm flipH="1" rot="10800000">
            <a:off x="2362975" y="4545789"/>
            <a:ext cx="1920900" cy="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7" name="Google Shape;367;p18"/>
          <p:cNvCxnSpPr/>
          <p:nvPr/>
        </p:nvCxnSpPr>
        <p:spPr>
          <a:xfrm flipH="1">
            <a:off x="2355175" y="4556889"/>
            <a:ext cx="7800" cy="53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8" name="Google Shape;368;p18"/>
          <p:cNvCxnSpPr/>
          <p:nvPr/>
        </p:nvCxnSpPr>
        <p:spPr>
          <a:xfrm>
            <a:off x="4291600" y="4534508"/>
            <a:ext cx="15900" cy="53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9" name="Google Shape;369;p18"/>
          <p:cNvSpPr/>
          <p:nvPr/>
        </p:nvSpPr>
        <p:spPr>
          <a:xfrm>
            <a:off x="1102150" y="5072270"/>
            <a:ext cx="1920900" cy="656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기존 비밀번호로 WSS 연결 요청</a:t>
            </a:r>
            <a:endParaRPr sz="900"/>
          </a:p>
        </p:txBody>
      </p:sp>
      <p:sp>
        <p:nvSpPr>
          <p:cNvPr id="370" name="Google Shape;370;p18"/>
          <p:cNvSpPr/>
          <p:nvPr/>
        </p:nvSpPr>
        <p:spPr>
          <a:xfrm>
            <a:off x="3789300" y="5072270"/>
            <a:ext cx="1920900" cy="656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최초 접속 프로토콜 실행 </a:t>
            </a:r>
            <a:endParaRPr sz="900"/>
          </a:p>
        </p:txBody>
      </p:sp>
      <p:sp>
        <p:nvSpPr>
          <p:cNvPr id="371" name="Google Shape;371;p18"/>
          <p:cNvSpPr txBox="1"/>
          <p:nvPr/>
        </p:nvSpPr>
        <p:spPr>
          <a:xfrm>
            <a:off x="1508375" y="4534508"/>
            <a:ext cx="1055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15">
                <a:solidFill>
                  <a:schemeClr val="dk2"/>
                </a:solidFill>
              </a:rPr>
              <a:t>YES(재접속) </a:t>
            </a:r>
            <a:endParaRPr b="1" sz="315">
              <a:solidFill>
                <a:schemeClr val="dk2"/>
              </a:solidFill>
            </a:endParaRPr>
          </a:p>
        </p:txBody>
      </p:sp>
      <p:sp>
        <p:nvSpPr>
          <p:cNvPr id="372" name="Google Shape;372;p18"/>
          <p:cNvSpPr txBox="1"/>
          <p:nvPr/>
        </p:nvSpPr>
        <p:spPr>
          <a:xfrm>
            <a:off x="4398900" y="4534508"/>
            <a:ext cx="13656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15">
                <a:solidFill>
                  <a:schemeClr val="dk2"/>
                </a:solidFill>
              </a:rPr>
              <a:t>NO(최초 1회 접속) </a:t>
            </a:r>
            <a:endParaRPr b="1" sz="315">
              <a:solidFill>
                <a:schemeClr val="dk2"/>
              </a:solidFill>
            </a:endParaRPr>
          </a:p>
        </p:txBody>
      </p:sp>
      <p:cxnSp>
        <p:nvCxnSpPr>
          <p:cNvPr id="373" name="Google Shape;373;p18"/>
          <p:cNvCxnSpPr/>
          <p:nvPr/>
        </p:nvCxnSpPr>
        <p:spPr>
          <a:xfrm flipH="1">
            <a:off x="1354350" y="5728370"/>
            <a:ext cx="7800" cy="53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4" name="Google Shape;374;p18"/>
          <p:cNvSpPr/>
          <p:nvPr/>
        </p:nvSpPr>
        <p:spPr>
          <a:xfrm>
            <a:off x="0" y="6265528"/>
            <a:ext cx="2716500" cy="13449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비밀번호 인증 성공?   </a:t>
            </a:r>
            <a:endParaRPr sz="900"/>
          </a:p>
        </p:txBody>
      </p:sp>
      <p:cxnSp>
        <p:nvCxnSpPr>
          <p:cNvPr id="375" name="Google Shape;375;p18"/>
          <p:cNvCxnSpPr>
            <a:stCxn id="374" idx="2"/>
          </p:cNvCxnSpPr>
          <p:nvPr/>
        </p:nvCxnSpPr>
        <p:spPr>
          <a:xfrm flipH="1">
            <a:off x="1349250" y="7610428"/>
            <a:ext cx="9000" cy="81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6" name="Google Shape;376;p18"/>
          <p:cNvCxnSpPr/>
          <p:nvPr/>
        </p:nvCxnSpPr>
        <p:spPr>
          <a:xfrm flipH="1" rot="10800000">
            <a:off x="1349150" y="7832116"/>
            <a:ext cx="2188500" cy="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7" name="Google Shape;377;p18"/>
          <p:cNvCxnSpPr/>
          <p:nvPr/>
        </p:nvCxnSpPr>
        <p:spPr>
          <a:xfrm flipH="1">
            <a:off x="3521875" y="7820834"/>
            <a:ext cx="7800" cy="58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8" name="Google Shape;378;p18"/>
          <p:cNvSpPr txBox="1"/>
          <p:nvPr/>
        </p:nvSpPr>
        <p:spPr>
          <a:xfrm>
            <a:off x="870988" y="7876575"/>
            <a:ext cx="7017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15">
                <a:solidFill>
                  <a:schemeClr val="dk2"/>
                </a:solidFill>
              </a:rPr>
              <a:t>YES</a:t>
            </a:r>
            <a:endParaRPr b="1" sz="315">
              <a:solidFill>
                <a:schemeClr val="dk2"/>
              </a:solidFill>
            </a:endParaRPr>
          </a:p>
        </p:txBody>
      </p:sp>
      <p:sp>
        <p:nvSpPr>
          <p:cNvPr id="379" name="Google Shape;379;p18"/>
          <p:cNvSpPr txBox="1"/>
          <p:nvPr/>
        </p:nvSpPr>
        <p:spPr>
          <a:xfrm>
            <a:off x="3521875" y="7835009"/>
            <a:ext cx="7017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15">
                <a:solidFill>
                  <a:schemeClr val="dk2"/>
                </a:solidFill>
              </a:rPr>
              <a:t>NO</a:t>
            </a:r>
            <a:endParaRPr b="1" sz="315">
              <a:solidFill>
                <a:schemeClr val="dk2"/>
              </a:solidFill>
            </a:endParaRPr>
          </a:p>
        </p:txBody>
      </p:sp>
      <p:sp>
        <p:nvSpPr>
          <p:cNvPr id="380" name="Google Shape;380;p18"/>
          <p:cNvSpPr/>
          <p:nvPr/>
        </p:nvSpPr>
        <p:spPr>
          <a:xfrm>
            <a:off x="464050" y="8424817"/>
            <a:ext cx="1751100" cy="582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웹소켓 연결 완료 </a:t>
            </a:r>
            <a:endParaRPr sz="900"/>
          </a:p>
        </p:txBody>
      </p:sp>
      <p:sp>
        <p:nvSpPr>
          <p:cNvPr id="381" name="Google Shape;381;p18"/>
          <p:cNvSpPr/>
          <p:nvPr/>
        </p:nvSpPr>
        <p:spPr>
          <a:xfrm>
            <a:off x="2579675" y="8430465"/>
            <a:ext cx="1751100" cy="582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서버: 기존 인증키 파기</a:t>
            </a:r>
            <a:endParaRPr sz="900"/>
          </a:p>
        </p:txBody>
      </p:sp>
      <p:cxnSp>
        <p:nvCxnSpPr>
          <p:cNvPr id="382" name="Google Shape;382;p18"/>
          <p:cNvCxnSpPr/>
          <p:nvPr/>
        </p:nvCxnSpPr>
        <p:spPr>
          <a:xfrm flipH="1">
            <a:off x="4745850" y="5728370"/>
            <a:ext cx="7800" cy="53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3" name="Google Shape;383;p18"/>
          <p:cNvSpPr/>
          <p:nvPr/>
        </p:nvSpPr>
        <p:spPr>
          <a:xfrm>
            <a:off x="3789300" y="6255509"/>
            <a:ext cx="1920900" cy="656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서버: 임시 세션 오픈 </a:t>
            </a:r>
            <a:endParaRPr sz="900"/>
          </a:p>
        </p:txBody>
      </p:sp>
      <p:cxnSp>
        <p:nvCxnSpPr>
          <p:cNvPr id="384" name="Google Shape;384;p18"/>
          <p:cNvCxnSpPr/>
          <p:nvPr/>
        </p:nvCxnSpPr>
        <p:spPr>
          <a:xfrm flipH="1">
            <a:off x="5422925" y="6911609"/>
            <a:ext cx="7800" cy="53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5" name="Google Shape;385;p18"/>
          <p:cNvSpPr/>
          <p:nvPr/>
        </p:nvSpPr>
        <p:spPr>
          <a:xfrm>
            <a:off x="4466375" y="7438749"/>
            <a:ext cx="1920900" cy="656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서버: 고유 인증 비밀번호 생성  </a:t>
            </a:r>
            <a:endParaRPr sz="900"/>
          </a:p>
        </p:txBody>
      </p:sp>
      <p:cxnSp>
        <p:nvCxnSpPr>
          <p:cNvPr id="386" name="Google Shape;386;p18"/>
          <p:cNvCxnSpPr/>
          <p:nvPr/>
        </p:nvCxnSpPr>
        <p:spPr>
          <a:xfrm flipH="1">
            <a:off x="5422925" y="8094849"/>
            <a:ext cx="7800" cy="53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7" name="Google Shape;387;p18"/>
          <p:cNvSpPr/>
          <p:nvPr/>
        </p:nvSpPr>
        <p:spPr>
          <a:xfrm>
            <a:off x="4466375" y="8621988"/>
            <a:ext cx="1920900" cy="656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OCPP 규격으로 하드웨어에 전달</a:t>
            </a:r>
            <a:endParaRPr sz="900"/>
          </a:p>
        </p:txBody>
      </p:sp>
      <p:cxnSp>
        <p:nvCxnSpPr>
          <p:cNvPr id="388" name="Google Shape;388;p18"/>
          <p:cNvCxnSpPr/>
          <p:nvPr/>
        </p:nvCxnSpPr>
        <p:spPr>
          <a:xfrm flipH="1">
            <a:off x="1354350" y="9006738"/>
            <a:ext cx="7800" cy="53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9" name="Google Shape;389;p18"/>
          <p:cNvSpPr/>
          <p:nvPr/>
        </p:nvSpPr>
        <p:spPr>
          <a:xfrm>
            <a:off x="397800" y="9533878"/>
            <a:ext cx="1920900" cy="656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3페이지 통신 흐름 진입 </a:t>
            </a:r>
            <a:endParaRPr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9"/>
          <p:cNvSpPr txBox="1"/>
          <p:nvPr/>
        </p:nvSpPr>
        <p:spPr>
          <a:xfrm>
            <a:off x="163500" y="264671"/>
            <a:ext cx="6873000" cy="461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lt1"/>
                </a:solidFill>
              </a:rPr>
              <a:t>5</a:t>
            </a:r>
            <a:r>
              <a:rPr b="1" lang="ko" sz="1800">
                <a:solidFill>
                  <a:schemeClr val="lt1"/>
                </a:solidFill>
              </a:rPr>
              <a:t>. </a:t>
            </a:r>
            <a:r>
              <a:rPr b="1" lang="ko" sz="1800">
                <a:solidFill>
                  <a:schemeClr val="lt1"/>
                </a:solidFill>
              </a:rPr>
              <a:t>연결 유지 방식</a:t>
            </a:r>
            <a:endParaRPr b="1" sz="1800">
              <a:solidFill>
                <a:schemeClr val="lt1"/>
              </a:solidFill>
            </a:endParaRPr>
          </a:p>
        </p:txBody>
      </p:sp>
      <p:pic>
        <p:nvPicPr>
          <p:cNvPr id="395" name="Google Shape;3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120325" y="2667280"/>
            <a:ext cx="6895200" cy="496302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6" name="Google Shape;396;p19"/>
          <p:cNvCxnSpPr>
            <a:stCxn id="397" idx="2"/>
            <a:endCxn id="398" idx="0"/>
          </p:cNvCxnSpPr>
          <p:nvPr/>
        </p:nvCxnSpPr>
        <p:spPr>
          <a:xfrm>
            <a:off x="884575" y="1694696"/>
            <a:ext cx="3900" cy="168516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" name="Google Shape;399;p19"/>
          <p:cNvCxnSpPr>
            <a:stCxn id="400" idx="2"/>
            <a:endCxn id="401" idx="0"/>
          </p:cNvCxnSpPr>
          <p:nvPr/>
        </p:nvCxnSpPr>
        <p:spPr>
          <a:xfrm>
            <a:off x="6311773" y="1694696"/>
            <a:ext cx="0" cy="168516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7" name="Google Shape;397;p19"/>
          <p:cNvSpPr/>
          <p:nvPr/>
        </p:nvSpPr>
        <p:spPr>
          <a:xfrm>
            <a:off x="166525" y="1146896"/>
            <a:ext cx="1436100" cy="5478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900">
                <a:solidFill>
                  <a:schemeClr val="dk1"/>
                </a:solidFill>
              </a:rPr>
              <a:t>하드웨어</a:t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chemeClr val="dk1"/>
                </a:solidFill>
              </a:rPr>
              <a:t>(COSTEL)</a:t>
            </a:r>
            <a:endParaRPr b="1" sz="900"/>
          </a:p>
        </p:txBody>
      </p:sp>
      <p:sp>
        <p:nvSpPr>
          <p:cNvPr id="398" name="Google Shape;398;p19"/>
          <p:cNvSpPr/>
          <p:nvPr/>
        </p:nvSpPr>
        <p:spPr>
          <a:xfrm>
            <a:off x="170390" y="18546264"/>
            <a:ext cx="1436100" cy="6126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900">
                <a:solidFill>
                  <a:schemeClr val="dk1"/>
                </a:solidFill>
              </a:rPr>
              <a:t>하드웨어</a:t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chemeClr val="dk1"/>
                </a:solidFill>
              </a:rPr>
              <a:t>(COSTEL)</a:t>
            </a:r>
            <a:endParaRPr b="1" sz="900"/>
          </a:p>
        </p:txBody>
      </p:sp>
      <p:sp>
        <p:nvSpPr>
          <p:cNvPr id="400" name="Google Shape;400;p19"/>
          <p:cNvSpPr/>
          <p:nvPr/>
        </p:nvSpPr>
        <p:spPr>
          <a:xfrm>
            <a:off x="5591773" y="1146896"/>
            <a:ext cx="1440000" cy="5478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chemeClr val="dk1"/>
                </a:solidFill>
              </a:rPr>
              <a:t>백엔드 서버</a:t>
            </a:r>
            <a:endParaRPr b="1" sz="900"/>
          </a:p>
        </p:txBody>
      </p:sp>
      <p:sp>
        <p:nvSpPr>
          <p:cNvPr id="401" name="Google Shape;401;p19"/>
          <p:cNvSpPr/>
          <p:nvPr/>
        </p:nvSpPr>
        <p:spPr>
          <a:xfrm>
            <a:off x="5591773" y="18546264"/>
            <a:ext cx="1440000" cy="6126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chemeClr val="dk1"/>
                </a:solidFill>
              </a:rPr>
              <a:t>백엔드 서버</a:t>
            </a:r>
            <a:endParaRPr b="1" sz="900"/>
          </a:p>
        </p:txBody>
      </p:sp>
      <p:sp>
        <p:nvSpPr>
          <p:cNvPr id="402" name="Google Shape;402;p19"/>
          <p:cNvSpPr txBox="1"/>
          <p:nvPr/>
        </p:nvSpPr>
        <p:spPr>
          <a:xfrm>
            <a:off x="166525" y="1835164"/>
            <a:ext cx="6846300" cy="181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28800" lIns="90000" spcFirstLastPara="1" rIns="0" wrap="square" tIns="2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FFFF"/>
                </a:solidFill>
              </a:rPr>
              <a:t>Phase 1: </a:t>
            </a:r>
            <a:r>
              <a:rPr b="1" lang="ko" sz="800">
                <a:solidFill>
                  <a:srgbClr val="FFFFFF"/>
                </a:solidFill>
              </a:rPr>
              <a:t>연결 초기화 및 유지 간격(Interval) 설정</a:t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403" name="Google Shape;403;p19"/>
          <p:cNvSpPr txBox="1"/>
          <p:nvPr/>
        </p:nvSpPr>
        <p:spPr>
          <a:xfrm>
            <a:off x="166525" y="5335163"/>
            <a:ext cx="6846300" cy="181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28800" lIns="90000" spcFirstLastPara="1" rIns="0" wrap="square" tIns="2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FFFF"/>
                </a:solidFill>
              </a:rPr>
              <a:t>Phase 2: </a:t>
            </a:r>
            <a:r>
              <a:rPr b="1" lang="ko" sz="800">
                <a:solidFill>
                  <a:srgbClr val="FFFFFF"/>
                </a:solidFill>
              </a:rPr>
              <a:t>충전 이벤트 발생(이벤트 기반 연결 유지)</a:t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404" name="Google Shape;404;p19"/>
          <p:cNvSpPr txBox="1"/>
          <p:nvPr/>
        </p:nvSpPr>
        <p:spPr>
          <a:xfrm>
            <a:off x="166525" y="12558640"/>
            <a:ext cx="6846300" cy="181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28800" lIns="90000" spcFirstLastPara="1" rIns="0" wrap="square" tIns="2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FFFF"/>
                </a:solidFill>
              </a:rPr>
              <a:t>Phase 3: </a:t>
            </a:r>
            <a:r>
              <a:rPr b="1" lang="ko" sz="800">
                <a:solidFill>
                  <a:srgbClr val="FFFFFF"/>
                </a:solidFill>
              </a:rPr>
              <a:t>유휴 상태 (이벤트가 없을 때의 연결 유지 방어)</a:t>
            </a:r>
            <a:endParaRPr b="1" sz="800">
              <a:solidFill>
                <a:srgbClr val="FFFFFF"/>
              </a:solidFill>
            </a:endParaRPr>
          </a:p>
        </p:txBody>
      </p:sp>
      <p:cxnSp>
        <p:nvCxnSpPr>
          <p:cNvPr id="405" name="Google Shape;405;p19"/>
          <p:cNvCxnSpPr/>
          <p:nvPr/>
        </p:nvCxnSpPr>
        <p:spPr>
          <a:xfrm>
            <a:off x="857066" y="2837568"/>
            <a:ext cx="5454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406" name="Google Shape;406;p19"/>
          <p:cNvSpPr txBox="1"/>
          <p:nvPr/>
        </p:nvSpPr>
        <p:spPr>
          <a:xfrm>
            <a:off x="2820425" y="2589442"/>
            <a:ext cx="1559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WebSocket 연결 요청 (Handshake)</a:t>
            </a:r>
            <a:endParaRPr sz="800">
              <a:solidFill>
                <a:srgbClr val="595959"/>
              </a:solidFill>
            </a:endParaRPr>
          </a:p>
        </p:txBody>
      </p:sp>
      <p:cxnSp>
        <p:nvCxnSpPr>
          <p:cNvPr id="407" name="Google Shape;407;p19"/>
          <p:cNvCxnSpPr/>
          <p:nvPr/>
        </p:nvCxnSpPr>
        <p:spPr>
          <a:xfrm>
            <a:off x="883162" y="3356848"/>
            <a:ext cx="5454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round/>
            <a:headEnd len="med" w="med" type="triangle"/>
            <a:tailEnd len="med" w="med" type="oval"/>
          </a:ln>
        </p:spPr>
      </p:cxnSp>
      <p:sp>
        <p:nvSpPr>
          <p:cNvPr id="408" name="Google Shape;408;p19"/>
          <p:cNvSpPr txBox="1"/>
          <p:nvPr/>
        </p:nvSpPr>
        <p:spPr>
          <a:xfrm>
            <a:off x="2820425" y="3116467"/>
            <a:ext cx="1559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WebSocket 연결 </a:t>
            </a:r>
            <a:r>
              <a:rPr lang="ko" sz="800">
                <a:solidFill>
                  <a:srgbClr val="595959"/>
                </a:solidFill>
              </a:rPr>
              <a:t>수락</a:t>
            </a:r>
            <a:r>
              <a:rPr lang="ko" sz="800">
                <a:solidFill>
                  <a:srgbClr val="595959"/>
                </a:solidFill>
              </a:rPr>
              <a:t> (HTTP 101)</a:t>
            </a:r>
            <a:endParaRPr sz="800">
              <a:solidFill>
                <a:srgbClr val="595959"/>
              </a:solidFill>
            </a:endParaRPr>
          </a:p>
        </p:txBody>
      </p:sp>
      <p:cxnSp>
        <p:nvCxnSpPr>
          <p:cNvPr id="409" name="Google Shape;409;p19"/>
          <p:cNvCxnSpPr/>
          <p:nvPr/>
        </p:nvCxnSpPr>
        <p:spPr>
          <a:xfrm>
            <a:off x="857066" y="3883872"/>
            <a:ext cx="5454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410" name="Google Shape;410;p19"/>
          <p:cNvSpPr txBox="1"/>
          <p:nvPr/>
        </p:nvSpPr>
        <p:spPr>
          <a:xfrm>
            <a:off x="3035725" y="3635763"/>
            <a:ext cx="957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BootNotifocation.req</a:t>
            </a:r>
            <a:endParaRPr sz="800">
              <a:solidFill>
                <a:srgbClr val="595959"/>
              </a:solidFill>
            </a:endParaRPr>
          </a:p>
        </p:txBody>
      </p:sp>
      <p:cxnSp>
        <p:nvCxnSpPr>
          <p:cNvPr id="411" name="Google Shape;411;p19"/>
          <p:cNvCxnSpPr/>
          <p:nvPr/>
        </p:nvCxnSpPr>
        <p:spPr>
          <a:xfrm>
            <a:off x="883162" y="4498989"/>
            <a:ext cx="5454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round/>
            <a:headEnd len="med" w="med" type="triangle"/>
            <a:tailEnd len="med" w="med" type="oval"/>
          </a:ln>
        </p:spPr>
      </p:cxnSp>
      <p:sp>
        <p:nvSpPr>
          <p:cNvPr id="412" name="Google Shape;412;p19"/>
          <p:cNvSpPr txBox="1"/>
          <p:nvPr/>
        </p:nvSpPr>
        <p:spPr>
          <a:xfrm>
            <a:off x="2282275" y="4258611"/>
            <a:ext cx="2463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BootNotifocation.conf (status: Accepted, interval: 300)</a:t>
            </a:r>
            <a:endParaRPr sz="800">
              <a:solidFill>
                <a:srgbClr val="595959"/>
              </a:solidFill>
            </a:endParaRPr>
          </a:p>
        </p:txBody>
      </p:sp>
      <p:sp>
        <p:nvSpPr>
          <p:cNvPr id="413" name="Google Shape;413;p19"/>
          <p:cNvSpPr txBox="1"/>
          <p:nvPr/>
        </p:nvSpPr>
        <p:spPr>
          <a:xfrm>
            <a:off x="163500" y="4823799"/>
            <a:ext cx="15975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Heartbeat 타이버 300초 가동 시작</a:t>
            </a:r>
            <a:endParaRPr sz="800">
              <a:solidFill>
                <a:srgbClr val="595959"/>
              </a:solidFill>
            </a:endParaRPr>
          </a:p>
        </p:txBody>
      </p:sp>
      <p:sp>
        <p:nvSpPr>
          <p:cNvPr id="414" name="Google Shape;414;p19"/>
          <p:cNvSpPr txBox="1"/>
          <p:nvPr/>
        </p:nvSpPr>
        <p:spPr>
          <a:xfrm>
            <a:off x="1189150" y="5803543"/>
            <a:ext cx="48429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충전 관련 메시지 전송 시 </a:t>
            </a:r>
            <a:r>
              <a:rPr lang="ko" sz="800">
                <a:solidFill>
                  <a:schemeClr val="dk2"/>
                </a:solidFill>
              </a:rPr>
              <a:t>Heartbeat 타이머는 0으로 리셋</a:t>
            </a:r>
            <a:endParaRPr sz="800">
              <a:solidFill>
                <a:srgbClr val="595959"/>
              </a:solidFill>
            </a:endParaRPr>
          </a:p>
        </p:txBody>
      </p:sp>
      <p:cxnSp>
        <p:nvCxnSpPr>
          <p:cNvPr id="415" name="Google Shape;415;p19"/>
          <p:cNvCxnSpPr/>
          <p:nvPr/>
        </p:nvCxnSpPr>
        <p:spPr>
          <a:xfrm>
            <a:off x="857066" y="6572182"/>
            <a:ext cx="5454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416" name="Google Shape;416;p19"/>
          <p:cNvSpPr txBox="1"/>
          <p:nvPr/>
        </p:nvSpPr>
        <p:spPr>
          <a:xfrm>
            <a:off x="2720500" y="6324039"/>
            <a:ext cx="1780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StatusNotification.req (상태 변경)</a:t>
            </a:r>
            <a:endParaRPr sz="800">
              <a:solidFill>
                <a:srgbClr val="595959"/>
              </a:solidFill>
            </a:endParaRPr>
          </a:p>
        </p:txBody>
      </p:sp>
      <p:cxnSp>
        <p:nvCxnSpPr>
          <p:cNvPr id="417" name="Google Shape;417;p19"/>
          <p:cNvCxnSpPr/>
          <p:nvPr/>
        </p:nvCxnSpPr>
        <p:spPr>
          <a:xfrm>
            <a:off x="883162" y="7120831"/>
            <a:ext cx="5454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round/>
            <a:headEnd len="med" w="med" type="triangle"/>
            <a:tailEnd len="med" w="med" type="oval"/>
          </a:ln>
        </p:spPr>
      </p:cxnSp>
      <p:sp>
        <p:nvSpPr>
          <p:cNvPr id="418" name="Google Shape;418;p19"/>
          <p:cNvSpPr txBox="1"/>
          <p:nvPr/>
        </p:nvSpPr>
        <p:spPr>
          <a:xfrm>
            <a:off x="2282275" y="6880453"/>
            <a:ext cx="2463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StatusNotification.conf()</a:t>
            </a:r>
            <a:endParaRPr sz="800">
              <a:solidFill>
                <a:srgbClr val="595959"/>
              </a:solidFill>
            </a:endParaRPr>
          </a:p>
        </p:txBody>
      </p:sp>
      <p:sp>
        <p:nvSpPr>
          <p:cNvPr id="419" name="Google Shape;419;p19"/>
          <p:cNvSpPr txBox="1"/>
          <p:nvPr/>
        </p:nvSpPr>
        <p:spPr>
          <a:xfrm>
            <a:off x="541650" y="7442337"/>
            <a:ext cx="6936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타이머 리셋</a:t>
            </a:r>
            <a:endParaRPr sz="800">
              <a:solidFill>
                <a:srgbClr val="595959"/>
              </a:solidFill>
            </a:endParaRPr>
          </a:p>
        </p:txBody>
      </p:sp>
      <p:cxnSp>
        <p:nvCxnSpPr>
          <p:cNvPr id="420" name="Google Shape;420;p19"/>
          <p:cNvCxnSpPr/>
          <p:nvPr/>
        </p:nvCxnSpPr>
        <p:spPr>
          <a:xfrm>
            <a:off x="857066" y="8152108"/>
            <a:ext cx="5454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421" name="Google Shape;421;p19"/>
          <p:cNvSpPr txBox="1"/>
          <p:nvPr/>
        </p:nvSpPr>
        <p:spPr>
          <a:xfrm>
            <a:off x="2572750" y="7903966"/>
            <a:ext cx="2075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StartTransaction.req (충전 시작)</a:t>
            </a:r>
            <a:endParaRPr sz="800">
              <a:solidFill>
                <a:srgbClr val="595959"/>
              </a:solidFill>
            </a:endParaRPr>
          </a:p>
        </p:txBody>
      </p:sp>
      <p:cxnSp>
        <p:nvCxnSpPr>
          <p:cNvPr id="422" name="Google Shape;422;p19"/>
          <p:cNvCxnSpPr/>
          <p:nvPr/>
        </p:nvCxnSpPr>
        <p:spPr>
          <a:xfrm>
            <a:off x="883162" y="8648996"/>
            <a:ext cx="5454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round/>
            <a:headEnd len="med" w="med" type="triangle"/>
            <a:tailEnd len="med" w="med" type="oval"/>
          </a:ln>
        </p:spPr>
      </p:cxnSp>
      <p:sp>
        <p:nvSpPr>
          <p:cNvPr id="423" name="Google Shape;423;p19"/>
          <p:cNvSpPr txBox="1"/>
          <p:nvPr/>
        </p:nvSpPr>
        <p:spPr>
          <a:xfrm>
            <a:off x="2282275" y="8408617"/>
            <a:ext cx="2463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StartTransaction.conf()</a:t>
            </a:r>
            <a:endParaRPr sz="800">
              <a:solidFill>
                <a:srgbClr val="595959"/>
              </a:solidFill>
            </a:endParaRPr>
          </a:p>
        </p:txBody>
      </p:sp>
      <p:sp>
        <p:nvSpPr>
          <p:cNvPr id="424" name="Google Shape;424;p19"/>
          <p:cNvSpPr txBox="1"/>
          <p:nvPr/>
        </p:nvSpPr>
        <p:spPr>
          <a:xfrm>
            <a:off x="163500" y="13134150"/>
            <a:ext cx="22824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300초 동안 아무런 OCPP 메시지 전송 이벤트가 없음</a:t>
            </a:r>
            <a:endParaRPr sz="800">
              <a:solidFill>
                <a:srgbClr val="595959"/>
              </a:solidFill>
            </a:endParaRPr>
          </a:p>
        </p:txBody>
      </p:sp>
      <p:cxnSp>
        <p:nvCxnSpPr>
          <p:cNvPr id="425" name="Google Shape;425;p19"/>
          <p:cNvCxnSpPr/>
          <p:nvPr/>
        </p:nvCxnSpPr>
        <p:spPr>
          <a:xfrm>
            <a:off x="857066" y="13978708"/>
            <a:ext cx="5454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426" name="Google Shape;426;p19"/>
          <p:cNvSpPr txBox="1"/>
          <p:nvPr/>
        </p:nvSpPr>
        <p:spPr>
          <a:xfrm>
            <a:off x="2572750" y="13730566"/>
            <a:ext cx="2075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Heartbeat.req (또는 웹소켓 Ping 프레임 전송)</a:t>
            </a:r>
            <a:endParaRPr sz="800">
              <a:solidFill>
                <a:srgbClr val="595959"/>
              </a:solidFill>
            </a:endParaRPr>
          </a:p>
        </p:txBody>
      </p:sp>
      <p:sp>
        <p:nvSpPr>
          <p:cNvPr id="427" name="Google Shape;427;p19"/>
          <p:cNvSpPr txBox="1"/>
          <p:nvPr/>
        </p:nvSpPr>
        <p:spPr>
          <a:xfrm>
            <a:off x="4730425" y="14304511"/>
            <a:ext cx="22824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서버 시계 기준 현재 시간(currentTime) 생성</a:t>
            </a:r>
            <a:endParaRPr sz="800">
              <a:solidFill>
                <a:srgbClr val="595959"/>
              </a:solidFill>
            </a:endParaRPr>
          </a:p>
        </p:txBody>
      </p:sp>
      <p:cxnSp>
        <p:nvCxnSpPr>
          <p:cNvPr id="428" name="Google Shape;428;p19"/>
          <p:cNvCxnSpPr/>
          <p:nvPr/>
        </p:nvCxnSpPr>
        <p:spPr>
          <a:xfrm>
            <a:off x="883162" y="15060181"/>
            <a:ext cx="5454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round/>
            <a:headEnd len="med" w="med" type="triangle"/>
            <a:tailEnd len="med" w="med" type="oval"/>
          </a:ln>
        </p:spPr>
      </p:cxnSp>
      <p:sp>
        <p:nvSpPr>
          <p:cNvPr id="429" name="Google Shape;429;p19"/>
          <p:cNvSpPr txBox="1"/>
          <p:nvPr/>
        </p:nvSpPr>
        <p:spPr>
          <a:xfrm>
            <a:off x="2282275" y="14819803"/>
            <a:ext cx="2463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Heartbeat.conf (또는 웹소켓 Pong 프레임 응답)</a:t>
            </a:r>
            <a:endParaRPr sz="800">
              <a:solidFill>
                <a:srgbClr val="595959"/>
              </a:solidFill>
            </a:endParaRPr>
          </a:p>
        </p:txBody>
      </p:sp>
      <p:sp>
        <p:nvSpPr>
          <p:cNvPr id="430" name="Google Shape;430;p19"/>
          <p:cNvSpPr txBox="1"/>
          <p:nvPr/>
        </p:nvSpPr>
        <p:spPr>
          <a:xfrm>
            <a:off x="163500" y="15440696"/>
            <a:ext cx="2694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서버의 응답을 통해 연결 정상 확인, 시간 동기화 및 타이머 리셋</a:t>
            </a:r>
            <a:endParaRPr sz="800">
              <a:solidFill>
                <a:srgbClr val="595959"/>
              </a:solidFill>
            </a:endParaRPr>
          </a:p>
        </p:txBody>
      </p:sp>
      <p:cxnSp>
        <p:nvCxnSpPr>
          <p:cNvPr id="431" name="Google Shape;431;p19"/>
          <p:cNvCxnSpPr/>
          <p:nvPr/>
        </p:nvCxnSpPr>
        <p:spPr>
          <a:xfrm>
            <a:off x="857066" y="9715355"/>
            <a:ext cx="5454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432" name="Google Shape;432;p19"/>
          <p:cNvSpPr txBox="1"/>
          <p:nvPr/>
        </p:nvSpPr>
        <p:spPr>
          <a:xfrm>
            <a:off x="2572750" y="9467213"/>
            <a:ext cx="2075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MeterValues.req (</a:t>
            </a:r>
            <a:r>
              <a:rPr lang="ko" sz="800">
                <a:solidFill>
                  <a:srgbClr val="595959"/>
                </a:solidFill>
              </a:rPr>
              <a:t>충전 중 주기적 전송</a:t>
            </a:r>
            <a:r>
              <a:rPr lang="ko" sz="800">
                <a:solidFill>
                  <a:srgbClr val="595959"/>
                </a:solidFill>
              </a:rPr>
              <a:t>)</a:t>
            </a:r>
            <a:endParaRPr sz="800">
              <a:solidFill>
                <a:srgbClr val="595959"/>
              </a:solidFill>
            </a:endParaRPr>
          </a:p>
        </p:txBody>
      </p:sp>
      <p:cxnSp>
        <p:nvCxnSpPr>
          <p:cNvPr id="433" name="Google Shape;433;p19"/>
          <p:cNvCxnSpPr/>
          <p:nvPr/>
        </p:nvCxnSpPr>
        <p:spPr>
          <a:xfrm>
            <a:off x="883162" y="10212242"/>
            <a:ext cx="5454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round/>
            <a:headEnd len="med" w="med" type="triangle"/>
            <a:tailEnd len="med" w="med" type="oval"/>
          </a:ln>
        </p:spPr>
      </p:cxnSp>
      <p:sp>
        <p:nvSpPr>
          <p:cNvPr id="434" name="Google Shape;434;p19"/>
          <p:cNvSpPr txBox="1"/>
          <p:nvPr/>
        </p:nvSpPr>
        <p:spPr>
          <a:xfrm>
            <a:off x="2282275" y="9971864"/>
            <a:ext cx="2463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MeterValues.</a:t>
            </a:r>
            <a:r>
              <a:rPr lang="ko" sz="800">
                <a:solidFill>
                  <a:schemeClr val="dk2"/>
                </a:solidFill>
              </a:rPr>
              <a:t>conf()</a:t>
            </a:r>
            <a:endParaRPr sz="800">
              <a:solidFill>
                <a:srgbClr val="595959"/>
              </a:solidFill>
            </a:endParaRPr>
          </a:p>
        </p:txBody>
      </p:sp>
      <p:sp>
        <p:nvSpPr>
          <p:cNvPr id="435" name="Google Shape;435;p19"/>
          <p:cNvSpPr txBox="1"/>
          <p:nvPr/>
        </p:nvSpPr>
        <p:spPr>
          <a:xfrm>
            <a:off x="541650" y="8936449"/>
            <a:ext cx="6936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타이머 리셋</a:t>
            </a:r>
            <a:endParaRPr sz="800">
              <a:solidFill>
                <a:srgbClr val="595959"/>
              </a:solidFill>
            </a:endParaRPr>
          </a:p>
        </p:txBody>
      </p:sp>
      <p:sp>
        <p:nvSpPr>
          <p:cNvPr id="436" name="Google Shape;436;p19"/>
          <p:cNvSpPr txBox="1"/>
          <p:nvPr/>
        </p:nvSpPr>
        <p:spPr>
          <a:xfrm>
            <a:off x="541650" y="12019086"/>
            <a:ext cx="6936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타이머 리셋</a:t>
            </a:r>
            <a:endParaRPr sz="800">
              <a:solidFill>
                <a:srgbClr val="595959"/>
              </a:solidFill>
            </a:endParaRPr>
          </a:p>
        </p:txBody>
      </p:sp>
      <p:cxnSp>
        <p:nvCxnSpPr>
          <p:cNvPr id="437" name="Google Shape;437;p19"/>
          <p:cNvCxnSpPr/>
          <p:nvPr/>
        </p:nvCxnSpPr>
        <p:spPr>
          <a:xfrm>
            <a:off x="857066" y="11261052"/>
            <a:ext cx="5454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438" name="Google Shape;438;p19"/>
          <p:cNvSpPr txBox="1"/>
          <p:nvPr/>
        </p:nvSpPr>
        <p:spPr>
          <a:xfrm>
            <a:off x="2572750" y="11012909"/>
            <a:ext cx="2075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StopTransaction</a:t>
            </a:r>
            <a:r>
              <a:rPr lang="ko" sz="800">
                <a:solidFill>
                  <a:srgbClr val="595959"/>
                </a:solidFill>
              </a:rPr>
              <a:t>.req (</a:t>
            </a:r>
            <a:r>
              <a:rPr lang="ko" sz="800">
                <a:solidFill>
                  <a:srgbClr val="595959"/>
                </a:solidFill>
              </a:rPr>
              <a:t>충전 종료</a:t>
            </a:r>
            <a:r>
              <a:rPr lang="ko" sz="800">
                <a:solidFill>
                  <a:srgbClr val="595959"/>
                </a:solidFill>
              </a:rPr>
              <a:t>)</a:t>
            </a:r>
            <a:endParaRPr sz="800">
              <a:solidFill>
                <a:srgbClr val="595959"/>
              </a:solidFill>
            </a:endParaRPr>
          </a:p>
        </p:txBody>
      </p:sp>
      <p:cxnSp>
        <p:nvCxnSpPr>
          <p:cNvPr id="439" name="Google Shape;439;p19"/>
          <p:cNvCxnSpPr/>
          <p:nvPr/>
        </p:nvCxnSpPr>
        <p:spPr>
          <a:xfrm>
            <a:off x="883162" y="11757939"/>
            <a:ext cx="5454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round/>
            <a:headEnd len="med" w="med" type="triangle"/>
            <a:tailEnd len="med" w="med" type="oval"/>
          </a:ln>
        </p:spPr>
      </p:cxnSp>
      <p:sp>
        <p:nvSpPr>
          <p:cNvPr id="440" name="Google Shape;440;p19"/>
          <p:cNvSpPr txBox="1"/>
          <p:nvPr/>
        </p:nvSpPr>
        <p:spPr>
          <a:xfrm>
            <a:off x="2282275" y="11517561"/>
            <a:ext cx="2463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StopTransaction</a:t>
            </a:r>
            <a:r>
              <a:rPr lang="ko" sz="800">
                <a:solidFill>
                  <a:schemeClr val="dk2"/>
                </a:solidFill>
              </a:rPr>
              <a:t>.conf()</a:t>
            </a:r>
            <a:endParaRPr sz="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0"/>
          <p:cNvSpPr/>
          <p:nvPr/>
        </p:nvSpPr>
        <p:spPr>
          <a:xfrm>
            <a:off x="170400" y="7079293"/>
            <a:ext cx="6846300" cy="1955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6" name="Google Shape;446;p20"/>
          <p:cNvGrpSpPr/>
          <p:nvPr/>
        </p:nvGrpSpPr>
        <p:grpSpPr>
          <a:xfrm>
            <a:off x="170400" y="7078656"/>
            <a:ext cx="6846202" cy="7656426"/>
            <a:chOff x="4275648" y="7193708"/>
            <a:chExt cx="5412017" cy="2476205"/>
          </a:xfrm>
        </p:grpSpPr>
        <p:sp>
          <p:nvSpPr>
            <p:cNvPr id="447" name="Google Shape;447;p20"/>
            <p:cNvSpPr/>
            <p:nvPr/>
          </p:nvSpPr>
          <p:spPr>
            <a:xfrm>
              <a:off x="4275665" y="7193713"/>
              <a:ext cx="5412000" cy="24762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20"/>
            <p:cNvSpPr/>
            <p:nvPr/>
          </p:nvSpPr>
          <p:spPr>
            <a:xfrm>
              <a:off x="4275648" y="7193708"/>
              <a:ext cx="479100" cy="84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700">
                  <a:solidFill>
                    <a:schemeClr val="lt1"/>
                  </a:solidFill>
                </a:rPr>
                <a:t>Alt</a:t>
              </a:r>
              <a:endParaRPr b="1" sz="700">
                <a:solidFill>
                  <a:schemeClr val="lt1"/>
                </a:solidFill>
              </a:endParaRPr>
            </a:p>
          </p:txBody>
        </p:sp>
      </p:grpSp>
      <p:sp>
        <p:nvSpPr>
          <p:cNvPr id="449" name="Google Shape;449;p20"/>
          <p:cNvSpPr/>
          <p:nvPr/>
        </p:nvSpPr>
        <p:spPr>
          <a:xfrm>
            <a:off x="170400" y="10031850"/>
            <a:ext cx="6842400" cy="4703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0" name="Google Shape;450;p20"/>
          <p:cNvGrpSpPr/>
          <p:nvPr/>
        </p:nvGrpSpPr>
        <p:grpSpPr>
          <a:xfrm>
            <a:off x="726181" y="11028153"/>
            <a:ext cx="5761958" cy="3421037"/>
            <a:chOff x="3273009" y="6754735"/>
            <a:chExt cx="4554908" cy="2270700"/>
          </a:xfrm>
        </p:grpSpPr>
        <p:sp>
          <p:nvSpPr>
            <p:cNvPr id="451" name="Google Shape;451;p20"/>
            <p:cNvSpPr/>
            <p:nvPr/>
          </p:nvSpPr>
          <p:spPr>
            <a:xfrm>
              <a:off x="3273017" y="6754735"/>
              <a:ext cx="4554900" cy="22707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20"/>
            <p:cNvSpPr/>
            <p:nvPr/>
          </p:nvSpPr>
          <p:spPr>
            <a:xfrm>
              <a:off x="3273009" y="6754747"/>
              <a:ext cx="479100" cy="167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700">
                  <a:solidFill>
                    <a:schemeClr val="lt1"/>
                  </a:solidFill>
                </a:rPr>
                <a:t>LOOP</a:t>
              </a:r>
              <a:endParaRPr b="1" sz="700">
                <a:solidFill>
                  <a:schemeClr val="lt1"/>
                </a:solidFill>
              </a:endParaRPr>
            </a:p>
          </p:txBody>
        </p:sp>
      </p:grpSp>
      <p:grpSp>
        <p:nvGrpSpPr>
          <p:cNvPr id="453" name="Google Shape;453;p20"/>
          <p:cNvGrpSpPr/>
          <p:nvPr/>
        </p:nvGrpSpPr>
        <p:grpSpPr>
          <a:xfrm>
            <a:off x="1994515" y="11988112"/>
            <a:ext cx="4390066" cy="2324348"/>
            <a:chOff x="4275657" y="7193702"/>
            <a:chExt cx="3470408" cy="1483500"/>
          </a:xfrm>
        </p:grpSpPr>
        <p:sp>
          <p:nvSpPr>
            <p:cNvPr id="454" name="Google Shape;454;p20"/>
            <p:cNvSpPr/>
            <p:nvPr/>
          </p:nvSpPr>
          <p:spPr>
            <a:xfrm>
              <a:off x="4275665" y="7193702"/>
              <a:ext cx="3470400" cy="1483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20"/>
            <p:cNvSpPr/>
            <p:nvPr/>
          </p:nvSpPr>
          <p:spPr>
            <a:xfrm>
              <a:off x="4275657" y="7193704"/>
              <a:ext cx="479100" cy="167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700">
                  <a:solidFill>
                    <a:schemeClr val="lt1"/>
                  </a:solidFill>
                </a:rPr>
                <a:t>Alt</a:t>
              </a:r>
              <a:endParaRPr b="1" sz="700">
                <a:solidFill>
                  <a:schemeClr val="lt1"/>
                </a:solidFill>
              </a:endParaRPr>
            </a:p>
          </p:txBody>
        </p:sp>
      </p:grpSp>
      <p:sp>
        <p:nvSpPr>
          <p:cNvPr id="456" name="Google Shape;456;p20"/>
          <p:cNvSpPr/>
          <p:nvPr/>
        </p:nvSpPr>
        <p:spPr>
          <a:xfrm>
            <a:off x="1994525" y="13018019"/>
            <a:ext cx="4390200" cy="1293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20"/>
          <p:cNvSpPr txBox="1"/>
          <p:nvPr/>
        </p:nvSpPr>
        <p:spPr>
          <a:xfrm>
            <a:off x="163500" y="264671"/>
            <a:ext cx="6873000" cy="461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lt1"/>
                </a:solidFill>
              </a:rPr>
              <a:t>6</a:t>
            </a:r>
            <a:r>
              <a:rPr b="1" lang="ko" sz="1800">
                <a:solidFill>
                  <a:schemeClr val="lt1"/>
                </a:solidFill>
              </a:rPr>
              <a:t>. </a:t>
            </a:r>
            <a:r>
              <a:rPr b="1" lang="ko" sz="1800">
                <a:solidFill>
                  <a:schemeClr val="lt1"/>
                </a:solidFill>
              </a:rPr>
              <a:t>연결 끊김 후 재접속 방식</a:t>
            </a:r>
            <a:endParaRPr b="1" sz="1800">
              <a:solidFill>
                <a:schemeClr val="lt1"/>
              </a:solidFill>
            </a:endParaRPr>
          </a:p>
        </p:txBody>
      </p:sp>
      <p:pic>
        <p:nvPicPr>
          <p:cNvPr id="458" name="Google Shape;45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823800" y="543091"/>
            <a:ext cx="6895200" cy="95093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9" name="Google Shape;459;p20"/>
          <p:cNvCxnSpPr>
            <a:stCxn id="460" idx="2"/>
            <a:endCxn id="461" idx="0"/>
          </p:cNvCxnSpPr>
          <p:nvPr/>
        </p:nvCxnSpPr>
        <p:spPr>
          <a:xfrm>
            <a:off x="884575" y="1424361"/>
            <a:ext cx="3900" cy="17121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2" name="Google Shape;462;p20"/>
          <p:cNvSpPr txBox="1"/>
          <p:nvPr/>
        </p:nvSpPr>
        <p:spPr>
          <a:xfrm>
            <a:off x="2687825" y="4777333"/>
            <a:ext cx="1806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StartTransaction.req(idTag, meterStart)</a:t>
            </a:r>
            <a:endParaRPr sz="800">
              <a:solidFill>
                <a:srgbClr val="595959"/>
              </a:solidFill>
            </a:endParaRPr>
          </a:p>
        </p:txBody>
      </p:sp>
      <p:cxnSp>
        <p:nvCxnSpPr>
          <p:cNvPr id="463" name="Google Shape;463;p20"/>
          <p:cNvCxnSpPr>
            <a:stCxn id="464" idx="2"/>
            <a:endCxn id="465" idx="0"/>
          </p:cNvCxnSpPr>
          <p:nvPr/>
        </p:nvCxnSpPr>
        <p:spPr>
          <a:xfrm>
            <a:off x="6311773" y="1424361"/>
            <a:ext cx="0" cy="17121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6" name="Google Shape;466;p20"/>
          <p:cNvCxnSpPr/>
          <p:nvPr/>
        </p:nvCxnSpPr>
        <p:spPr>
          <a:xfrm>
            <a:off x="857066" y="2659973"/>
            <a:ext cx="36327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467" name="Google Shape;467;p20"/>
          <p:cNvCxnSpPr>
            <a:stCxn id="468" idx="2"/>
            <a:endCxn id="469" idx="0"/>
          </p:cNvCxnSpPr>
          <p:nvPr/>
        </p:nvCxnSpPr>
        <p:spPr>
          <a:xfrm>
            <a:off x="2692041" y="1424361"/>
            <a:ext cx="2700" cy="17121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0" name="Google Shape;470;p20"/>
          <p:cNvCxnSpPr/>
          <p:nvPr/>
        </p:nvCxnSpPr>
        <p:spPr>
          <a:xfrm>
            <a:off x="2654652" y="5023359"/>
            <a:ext cx="18444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471" name="Google Shape;471;p20"/>
          <p:cNvSpPr txBox="1"/>
          <p:nvPr/>
        </p:nvSpPr>
        <p:spPr>
          <a:xfrm>
            <a:off x="2697124" y="11381985"/>
            <a:ext cx="1806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백오프(Back-off) 알고리즘 적용, 웹소켓 재접속(HTTP GET Upgrade) 시도</a:t>
            </a:r>
            <a:endParaRPr sz="800">
              <a:solidFill>
                <a:srgbClr val="595959"/>
              </a:solidFill>
            </a:endParaRPr>
          </a:p>
        </p:txBody>
      </p:sp>
      <p:cxnSp>
        <p:nvCxnSpPr>
          <p:cNvPr id="472" name="Google Shape;472;p20"/>
          <p:cNvCxnSpPr/>
          <p:nvPr/>
        </p:nvCxnSpPr>
        <p:spPr>
          <a:xfrm>
            <a:off x="2669125" y="11796584"/>
            <a:ext cx="18387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473" name="Google Shape;473;p20"/>
          <p:cNvSpPr txBox="1"/>
          <p:nvPr/>
        </p:nvSpPr>
        <p:spPr>
          <a:xfrm>
            <a:off x="2723774" y="13390907"/>
            <a:ext cx="1773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서버가 연결을 수락(HTTP 101)</a:t>
            </a:r>
            <a:endParaRPr sz="800">
              <a:solidFill>
                <a:srgbClr val="595959"/>
              </a:solidFill>
            </a:endParaRPr>
          </a:p>
        </p:txBody>
      </p:sp>
      <p:cxnSp>
        <p:nvCxnSpPr>
          <p:cNvPr id="474" name="Google Shape;474;p20"/>
          <p:cNvCxnSpPr/>
          <p:nvPr/>
        </p:nvCxnSpPr>
        <p:spPr>
          <a:xfrm>
            <a:off x="2694599" y="13665349"/>
            <a:ext cx="1842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round/>
            <a:headEnd len="med" w="med" type="triangle"/>
            <a:tailEnd len="med" w="med" type="oval"/>
          </a:ln>
        </p:spPr>
      </p:cxnSp>
      <p:sp>
        <p:nvSpPr>
          <p:cNvPr id="475" name="Google Shape;475;p20"/>
          <p:cNvSpPr txBox="1"/>
          <p:nvPr/>
        </p:nvSpPr>
        <p:spPr>
          <a:xfrm>
            <a:off x="2711563" y="13912182"/>
            <a:ext cx="1773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StopTransaction.req 전송</a:t>
            </a:r>
            <a:endParaRPr sz="800">
              <a:solidFill>
                <a:srgbClr val="595959"/>
              </a:solidFill>
            </a:endParaRPr>
          </a:p>
        </p:txBody>
      </p:sp>
      <p:cxnSp>
        <p:nvCxnSpPr>
          <p:cNvPr id="476" name="Google Shape;476;p20"/>
          <p:cNvCxnSpPr/>
          <p:nvPr/>
        </p:nvCxnSpPr>
        <p:spPr>
          <a:xfrm>
            <a:off x="2664219" y="14194930"/>
            <a:ext cx="18390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477" name="Google Shape;477;p20"/>
          <p:cNvSpPr txBox="1"/>
          <p:nvPr/>
        </p:nvSpPr>
        <p:spPr>
          <a:xfrm>
            <a:off x="2739200" y="17311618"/>
            <a:ext cx="1717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StopTransaction.conf</a:t>
            </a:r>
            <a:endParaRPr sz="800">
              <a:solidFill>
                <a:srgbClr val="595959"/>
              </a:solidFill>
            </a:endParaRPr>
          </a:p>
        </p:txBody>
      </p:sp>
      <p:cxnSp>
        <p:nvCxnSpPr>
          <p:cNvPr id="478" name="Google Shape;478;p20"/>
          <p:cNvCxnSpPr/>
          <p:nvPr/>
        </p:nvCxnSpPr>
        <p:spPr>
          <a:xfrm>
            <a:off x="2693525" y="17563031"/>
            <a:ext cx="18387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round/>
            <a:headEnd len="med" w="med" type="triangle"/>
            <a:tailEnd len="med" w="med" type="oval"/>
          </a:ln>
        </p:spPr>
      </p:cxnSp>
      <p:sp>
        <p:nvSpPr>
          <p:cNvPr id="479" name="Google Shape;479;p20"/>
          <p:cNvSpPr txBox="1"/>
          <p:nvPr/>
        </p:nvSpPr>
        <p:spPr>
          <a:xfrm>
            <a:off x="2739200" y="18146796"/>
            <a:ext cx="1717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StatusNotification.req(Available)</a:t>
            </a:r>
            <a:endParaRPr sz="800">
              <a:solidFill>
                <a:srgbClr val="595959"/>
              </a:solidFill>
            </a:endParaRPr>
          </a:p>
        </p:txBody>
      </p:sp>
      <p:cxnSp>
        <p:nvCxnSpPr>
          <p:cNvPr id="480" name="Google Shape;480;p20"/>
          <p:cNvCxnSpPr/>
          <p:nvPr/>
        </p:nvCxnSpPr>
        <p:spPr>
          <a:xfrm>
            <a:off x="2664364" y="18394580"/>
            <a:ext cx="18357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481" name="Google Shape;481;p20"/>
          <p:cNvSpPr txBox="1"/>
          <p:nvPr/>
        </p:nvSpPr>
        <p:spPr>
          <a:xfrm>
            <a:off x="7218138" y="1910108"/>
            <a:ext cx="2499000" cy="677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앱(QR 스캔) 기반 충전은 중앙 서버에서 충전기로 원격 명령(RemoteStartTransaction.req)을 보내야 하므로, 충전기가 오프라인(통신 단절) 상태일 때는 충전을 시작할 수 없음</a:t>
            </a:r>
            <a:endParaRPr sz="800">
              <a:solidFill>
                <a:srgbClr val="595959"/>
              </a:solidFill>
            </a:endParaRPr>
          </a:p>
        </p:txBody>
      </p:sp>
      <p:cxnSp>
        <p:nvCxnSpPr>
          <p:cNvPr id="482" name="Google Shape;482;p20"/>
          <p:cNvCxnSpPr/>
          <p:nvPr/>
        </p:nvCxnSpPr>
        <p:spPr>
          <a:xfrm>
            <a:off x="2681383" y="4189915"/>
            <a:ext cx="18513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round/>
            <a:headEnd len="med" w="med" type="triangle"/>
            <a:tailEnd len="med" w="med" type="oval"/>
          </a:ln>
        </p:spPr>
      </p:cxnSp>
      <p:sp>
        <p:nvSpPr>
          <p:cNvPr id="483" name="Google Shape;483;p20"/>
          <p:cNvSpPr txBox="1"/>
          <p:nvPr/>
        </p:nvSpPr>
        <p:spPr>
          <a:xfrm>
            <a:off x="2678925" y="3939970"/>
            <a:ext cx="1824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RemoteStartTransaction.req(idTag))</a:t>
            </a:r>
            <a:endParaRPr sz="800">
              <a:solidFill>
                <a:srgbClr val="595959"/>
              </a:solidFill>
            </a:endParaRPr>
          </a:p>
        </p:txBody>
      </p:sp>
      <p:cxnSp>
        <p:nvCxnSpPr>
          <p:cNvPr id="484" name="Google Shape;484;p20"/>
          <p:cNvCxnSpPr/>
          <p:nvPr/>
        </p:nvCxnSpPr>
        <p:spPr>
          <a:xfrm>
            <a:off x="2658231" y="4587000"/>
            <a:ext cx="18414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485" name="Google Shape;485;p20"/>
          <p:cNvSpPr txBox="1"/>
          <p:nvPr/>
        </p:nvSpPr>
        <p:spPr>
          <a:xfrm>
            <a:off x="2678925" y="4339865"/>
            <a:ext cx="1824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RemoteStartTransaction.conf(Accepted)</a:t>
            </a:r>
            <a:endParaRPr sz="800">
              <a:solidFill>
                <a:srgbClr val="595959"/>
              </a:solidFill>
            </a:endParaRPr>
          </a:p>
        </p:txBody>
      </p:sp>
      <p:sp>
        <p:nvSpPr>
          <p:cNvPr id="486" name="Google Shape;486;p20"/>
          <p:cNvSpPr txBox="1"/>
          <p:nvPr/>
        </p:nvSpPr>
        <p:spPr>
          <a:xfrm>
            <a:off x="2687825" y="5229849"/>
            <a:ext cx="1824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StartTransaction.conf(transactionId)</a:t>
            </a:r>
            <a:endParaRPr sz="800">
              <a:solidFill>
                <a:srgbClr val="595959"/>
              </a:solidFill>
            </a:endParaRPr>
          </a:p>
        </p:txBody>
      </p:sp>
      <p:cxnSp>
        <p:nvCxnSpPr>
          <p:cNvPr id="487" name="Google Shape;487;p20"/>
          <p:cNvCxnSpPr/>
          <p:nvPr/>
        </p:nvCxnSpPr>
        <p:spPr>
          <a:xfrm>
            <a:off x="2676832" y="5465140"/>
            <a:ext cx="18567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round/>
            <a:headEnd len="med" w="med" type="triangle"/>
            <a:tailEnd len="med" w="med" type="oval"/>
          </a:ln>
        </p:spPr>
      </p:cxnSp>
      <p:sp>
        <p:nvSpPr>
          <p:cNvPr id="488" name="Google Shape;488;p20"/>
          <p:cNvSpPr txBox="1"/>
          <p:nvPr/>
        </p:nvSpPr>
        <p:spPr>
          <a:xfrm>
            <a:off x="166525" y="5832097"/>
            <a:ext cx="6846300" cy="181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28800" lIns="0" spcFirstLastPara="1" rIns="0" wrap="square" tIns="28800">
            <a:spAutoFit/>
          </a:bodyPr>
          <a:lstStyle/>
          <a:p>
            <a:pPr indent="0" lvl="0" marL="9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FFFF"/>
                </a:solidFill>
              </a:rPr>
              <a:t>Phase 2: 통신 단절 및 물리적 충전 종료 (Offline 상태)</a:t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489" name="Google Shape;489;p20"/>
          <p:cNvSpPr txBox="1"/>
          <p:nvPr/>
        </p:nvSpPr>
        <p:spPr>
          <a:xfrm>
            <a:off x="2692050" y="6123707"/>
            <a:ext cx="1806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FF0000"/>
                </a:solidFill>
              </a:rPr>
              <a:t>충전기와 서버 간의 통신(WebSocket) </a:t>
            </a:r>
            <a:r>
              <a:rPr lang="ko" sz="800">
                <a:solidFill>
                  <a:srgbClr val="FF0000"/>
                </a:solidFill>
              </a:rPr>
              <a:t>단절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490" name="Google Shape;490;p20"/>
          <p:cNvSpPr txBox="1"/>
          <p:nvPr/>
        </p:nvSpPr>
        <p:spPr>
          <a:xfrm>
            <a:off x="937547" y="6341767"/>
            <a:ext cx="686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‘충전 종료’ 요청</a:t>
            </a:r>
            <a:endParaRPr sz="800">
              <a:solidFill>
                <a:srgbClr val="595959"/>
              </a:solidFill>
            </a:endParaRPr>
          </a:p>
        </p:txBody>
      </p:sp>
      <p:sp>
        <p:nvSpPr>
          <p:cNvPr id="491" name="Google Shape;491;p20"/>
          <p:cNvSpPr txBox="1"/>
          <p:nvPr/>
        </p:nvSpPr>
        <p:spPr>
          <a:xfrm>
            <a:off x="2691300" y="6600582"/>
            <a:ext cx="1291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RemoteStopTransaction.req </a:t>
            </a:r>
            <a:endParaRPr sz="800">
              <a:solidFill>
                <a:srgbClr val="595959"/>
              </a:solidFill>
            </a:endParaRPr>
          </a:p>
        </p:txBody>
      </p:sp>
      <p:cxnSp>
        <p:nvCxnSpPr>
          <p:cNvPr id="492" name="Google Shape;492;p20"/>
          <p:cNvCxnSpPr/>
          <p:nvPr/>
        </p:nvCxnSpPr>
        <p:spPr>
          <a:xfrm>
            <a:off x="2688650" y="6921930"/>
            <a:ext cx="18498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round/>
            <a:headEnd len="med" w="med" type="triangle"/>
            <a:tailEnd len="med" w="med" type="oval"/>
          </a:ln>
        </p:spPr>
      </p:cxnSp>
      <p:sp>
        <p:nvSpPr>
          <p:cNvPr id="493" name="Google Shape;493;p20"/>
          <p:cNvSpPr txBox="1"/>
          <p:nvPr/>
        </p:nvSpPr>
        <p:spPr>
          <a:xfrm>
            <a:off x="912092" y="7681497"/>
            <a:ext cx="1806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차량에서 커넥터를 강제로 분리</a:t>
            </a:r>
            <a:endParaRPr sz="800">
              <a:solidFill>
                <a:srgbClr val="595959"/>
              </a:solidFill>
            </a:endParaRPr>
          </a:p>
        </p:txBody>
      </p:sp>
      <p:cxnSp>
        <p:nvCxnSpPr>
          <p:cNvPr id="494" name="Google Shape;494;p20"/>
          <p:cNvCxnSpPr/>
          <p:nvPr/>
        </p:nvCxnSpPr>
        <p:spPr>
          <a:xfrm>
            <a:off x="857245" y="7903745"/>
            <a:ext cx="18486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495" name="Google Shape;495;p20"/>
          <p:cNvSpPr txBox="1"/>
          <p:nvPr/>
        </p:nvSpPr>
        <p:spPr>
          <a:xfrm>
            <a:off x="166525" y="1564829"/>
            <a:ext cx="6846300" cy="181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28800" lIns="90000" spcFirstLastPara="1" rIns="0" wrap="square" tIns="2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FFFF"/>
                </a:solidFill>
              </a:rPr>
              <a:t>Phase 1: 앱(QR)을 통한 원격 충전 시작 (정상 통신 상태)</a:t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496" name="Google Shape;496;p20"/>
          <p:cNvSpPr txBox="1"/>
          <p:nvPr/>
        </p:nvSpPr>
        <p:spPr>
          <a:xfrm>
            <a:off x="2319600" y="8015447"/>
            <a:ext cx="728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플러그 분리 감지</a:t>
            </a:r>
            <a:endParaRPr sz="800">
              <a:solidFill>
                <a:srgbClr val="595959"/>
              </a:solidFill>
            </a:endParaRPr>
          </a:p>
        </p:txBody>
      </p:sp>
      <p:sp>
        <p:nvSpPr>
          <p:cNvPr id="497" name="Google Shape;497;p20"/>
          <p:cNvSpPr txBox="1"/>
          <p:nvPr/>
        </p:nvSpPr>
        <p:spPr>
          <a:xfrm>
            <a:off x="1836061" y="9594940"/>
            <a:ext cx="1717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충전 종료(종료 사유: EmergencyStop)</a:t>
            </a:r>
            <a:endParaRPr sz="800">
              <a:solidFill>
                <a:srgbClr val="595959"/>
              </a:solidFill>
            </a:endParaRPr>
          </a:p>
        </p:txBody>
      </p:sp>
      <p:sp>
        <p:nvSpPr>
          <p:cNvPr id="498" name="Google Shape;498;p20"/>
          <p:cNvSpPr txBox="1"/>
          <p:nvPr/>
        </p:nvSpPr>
        <p:spPr>
          <a:xfrm>
            <a:off x="1885513" y="8565177"/>
            <a:ext cx="1617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StopTransaction.req 내부 비휘발성 메모리 큐(Queue)에 저장</a:t>
            </a:r>
            <a:endParaRPr sz="800">
              <a:solidFill>
                <a:srgbClr val="595959"/>
              </a:solidFill>
            </a:endParaRPr>
          </a:p>
        </p:txBody>
      </p:sp>
      <p:cxnSp>
        <p:nvCxnSpPr>
          <p:cNvPr id="499" name="Google Shape;499;p20"/>
          <p:cNvCxnSpPr/>
          <p:nvPr/>
        </p:nvCxnSpPr>
        <p:spPr>
          <a:xfrm>
            <a:off x="857995" y="6577068"/>
            <a:ext cx="36504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460" name="Google Shape;460;p20"/>
          <p:cNvSpPr/>
          <p:nvPr/>
        </p:nvSpPr>
        <p:spPr>
          <a:xfrm>
            <a:off x="166525" y="876561"/>
            <a:ext cx="1436100" cy="5478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/>
              <a:t>클라이언트</a:t>
            </a:r>
            <a:endParaRPr b="1" sz="900"/>
          </a:p>
        </p:txBody>
      </p:sp>
      <p:sp>
        <p:nvSpPr>
          <p:cNvPr id="500" name="Google Shape;500;p20"/>
          <p:cNvSpPr/>
          <p:nvPr/>
        </p:nvSpPr>
        <p:spPr>
          <a:xfrm>
            <a:off x="3781457" y="876561"/>
            <a:ext cx="1440000" cy="5478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/>
              <a:t>백엔드 서버</a:t>
            </a:r>
            <a:endParaRPr b="1" sz="900"/>
          </a:p>
        </p:txBody>
      </p:sp>
      <p:sp>
        <p:nvSpPr>
          <p:cNvPr id="461" name="Google Shape;461;p20"/>
          <p:cNvSpPr/>
          <p:nvPr/>
        </p:nvSpPr>
        <p:spPr>
          <a:xfrm>
            <a:off x="170390" y="18546264"/>
            <a:ext cx="1436100" cy="6126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rgbClr val="000000"/>
                </a:solidFill>
              </a:rPr>
              <a:t>클라이언트</a:t>
            </a:r>
            <a:endParaRPr b="1" sz="900"/>
          </a:p>
        </p:txBody>
      </p:sp>
      <p:sp>
        <p:nvSpPr>
          <p:cNvPr id="501" name="Google Shape;501;p20"/>
          <p:cNvSpPr/>
          <p:nvPr/>
        </p:nvSpPr>
        <p:spPr>
          <a:xfrm>
            <a:off x="3782746" y="18546264"/>
            <a:ext cx="1440000" cy="6126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ko" sz="900">
                <a:solidFill>
                  <a:srgbClr val="000000"/>
                </a:solidFill>
              </a:rPr>
              <a:t>백엔드 서버</a:t>
            </a:r>
            <a:endParaRPr b="1" sz="900">
              <a:solidFill>
                <a:srgbClr val="000000"/>
              </a:solidFill>
            </a:endParaRPr>
          </a:p>
        </p:txBody>
      </p:sp>
      <p:sp>
        <p:nvSpPr>
          <p:cNvPr id="468" name="Google Shape;468;p20"/>
          <p:cNvSpPr/>
          <p:nvPr/>
        </p:nvSpPr>
        <p:spPr>
          <a:xfrm>
            <a:off x="1972941" y="876561"/>
            <a:ext cx="1438200" cy="5478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/>
              <a:t>하드웨어</a:t>
            </a:r>
            <a:endParaRPr b="1"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/>
              <a:t>(COSTEL)</a:t>
            </a:r>
            <a:endParaRPr b="1" sz="900"/>
          </a:p>
        </p:txBody>
      </p:sp>
      <p:sp>
        <p:nvSpPr>
          <p:cNvPr id="469" name="Google Shape;469;p20"/>
          <p:cNvSpPr/>
          <p:nvPr/>
        </p:nvSpPr>
        <p:spPr>
          <a:xfrm>
            <a:off x="1975518" y="18546247"/>
            <a:ext cx="1438200" cy="6126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/>
              <a:t>하드웨어</a:t>
            </a:r>
            <a:endParaRPr b="1"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/>
              <a:t>(</a:t>
            </a:r>
            <a:r>
              <a:rPr b="1" lang="ko" sz="900">
                <a:solidFill>
                  <a:srgbClr val="000000"/>
                </a:solidFill>
              </a:rPr>
              <a:t>NANCOME</a:t>
            </a:r>
            <a:r>
              <a:rPr b="1" lang="ko" sz="900"/>
              <a:t>)</a:t>
            </a:r>
            <a:endParaRPr b="1" sz="900"/>
          </a:p>
        </p:txBody>
      </p:sp>
      <p:sp>
        <p:nvSpPr>
          <p:cNvPr id="464" name="Google Shape;464;p20"/>
          <p:cNvSpPr/>
          <p:nvPr/>
        </p:nvSpPr>
        <p:spPr>
          <a:xfrm>
            <a:off x="5591773" y="876561"/>
            <a:ext cx="1440000" cy="5478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/>
              <a:t>DB</a:t>
            </a:r>
            <a:endParaRPr b="1" sz="900"/>
          </a:p>
        </p:txBody>
      </p:sp>
      <p:sp>
        <p:nvSpPr>
          <p:cNvPr id="465" name="Google Shape;465;p20"/>
          <p:cNvSpPr/>
          <p:nvPr/>
        </p:nvSpPr>
        <p:spPr>
          <a:xfrm>
            <a:off x="5591773" y="18546264"/>
            <a:ext cx="1440000" cy="6126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/>
              <a:t>DB</a:t>
            </a:r>
            <a:endParaRPr b="1" sz="900">
              <a:solidFill>
                <a:srgbClr val="000000"/>
              </a:solidFill>
            </a:endParaRPr>
          </a:p>
        </p:txBody>
      </p:sp>
      <p:cxnSp>
        <p:nvCxnSpPr>
          <p:cNvPr id="502" name="Google Shape;502;p20"/>
          <p:cNvCxnSpPr>
            <a:stCxn id="500" idx="2"/>
            <a:endCxn id="501" idx="0"/>
          </p:cNvCxnSpPr>
          <p:nvPr/>
        </p:nvCxnSpPr>
        <p:spPr>
          <a:xfrm>
            <a:off x="4501457" y="1424361"/>
            <a:ext cx="1200" cy="17121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3" name="Google Shape;503;p20"/>
          <p:cNvSpPr/>
          <p:nvPr/>
        </p:nvSpPr>
        <p:spPr>
          <a:xfrm>
            <a:off x="3530450" y="6816308"/>
            <a:ext cx="166200" cy="2358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0"/>
          <p:cNvSpPr txBox="1"/>
          <p:nvPr/>
        </p:nvSpPr>
        <p:spPr>
          <a:xfrm>
            <a:off x="4536425" y="16245403"/>
            <a:ext cx="168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내부 월렛 차감 처리</a:t>
            </a:r>
            <a:endParaRPr sz="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(사용자의 서비스 월렛(wallet)잔액 - 최종 청구 요금)</a:t>
            </a:r>
            <a:endParaRPr sz="800">
              <a:solidFill>
                <a:srgbClr val="595959"/>
              </a:solidFill>
            </a:endParaRPr>
          </a:p>
        </p:txBody>
      </p:sp>
      <p:sp>
        <p:nvSpPr>
          <p:cNvPr id="505" name="Google Shape;505;p20"/>
          <p:cNvSpPr txBox="1"/>
          <p:nvPr/>
        </p:nvSpPr>
        <p:spPr>
          <a:xfrm>
            <a:off x="4530075" y="16936461"/>
            <a:ext cx="1724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영수증 데이터 저장</a:t>
            </a:r>
            <a:endParaRPr sz="800">
              <a:solidFill>
                <a:srgbClr val="595959"/>
              </a:solidFill>
            </a:endParaRPr>
          </a:p>
        </p:txBody>
      </p:sp>
      <p:cxnSp>
        <p:nvCxnSpPr>
          <p:cNvPr id="506" name="Google Shape;506;p20"/>
          <p:cNvCxnSpPr/>
          <p:nvPr/>
        </p:nvCxnSpPr>
        <p:spPr>
          <a:xfrm>
            <a:off x="4477377" y="17223674"/>
            <a:ext cx="18393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07" name="Google Shape;507;p20"/>
          <p:cNvCxnSpPr/>
          <p:nvPr/>
        </p:nvCxnSpPr>
        <p:spPr>
          <a:xfrm>
            <a:off x="4477377" y="16808256"/>
            <a:ext cx="18393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508" name="Google Shape;508;p20"/>
          <p:cNvSpPr txBox="1"/>
          <p:nvPr/>
        </p:nvSpPr>
        <p:spPr>
          <a:xfrm>
            <a:off x="1388075" y="11078205"/>
            <a:ext cx="649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595959"/>
                </a:solidFill>
              </a:rPr>
              <a:t>[ 재접속 시도 ]</a:t>
            </a:r>
            <a:endParaRPr b="1" sz="800">
              <a:solidFill>
                <a:srgbClr val="595959"/>
              </a:solidFill>
            </a:endParaRPr>
          </a:p>
        </p:txBody>
      </p:sp>
      <p:sp>
        <p:nvSpPr>
          <p:cNvPr id="509" name="Google Shape;509;p20"/>
          <p:cNvSpPr txBox="1"/>
          <p:nvPr/>
        </p:nvSpPr>
        <p:spPr>
          <a:xfrm>
            <a:off x="2370363" y="12407120"/>
            <a:ext cx="649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대기 후 재시도</a:t>
            </a:r>
            <a:endParaRPr sz="800">
              <a:solidFill>
                <a:srgbClr val="595959"/>
              </a:solidFill>
            </a:endParaRPr>
          </a:p>
        </p:txBody>
      </p:sp>
      <p:sp>
        <p:nvSpPr>
          <p:cNvPr id="510" name="Google Shape;510;p20"/>
          <p:cNvSpPr txBox="1"/>
          <p:nvPr/>
        </p:nvSpPr>
        <p:spPr>
          <a:xfrm>
            <a:off x="2692050" y="13046175"/>
            <a:ext cx="367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595959"/>
                </a:solidFill>
              </a:rPr>
              <a:t>[ </a:t>
            </a:r>
            <a:r>
              <a:rPr b="1" lang="ko" sz="800">
                <a:solidFill>
                  <a:srgbClr val="595959"/>
                </a:solidFill>
              </a:rPr>
              <a:t>성공</a:t>
            </a:r>
            <a:r>
              <a:rPr b="1" lang="ko" sz="800">
                <a:solidFill>
                  <a:srgbClr val="595959"/>
                </a:solidFill>
              </a:rPr>
              <a:t> ]</a:t>
            </a:r>
            <a:endParaRPr b="1" sz="800">
              <a:solidFill>
                <a:srgbClr val="595959"/>
              </a:solidFill>
            </a:endParaRPr>
          </a:p>
        </p:txBody>
      </p:sp>
      <p:sp>
        <p:nvSpPr>
          <p:cNvPr id="511" name="Google Shape;511;p20"/>
          <p:cNvSpPr txBox="1"/>
          <p:nvPr/>
        </p:nvSpPr>
        <p:spPr>
          <a:xfrm>
            <a:off x="2692050" y="12033580"/>
            <a:ext cx="367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595959"/>
                </a:solidFill>
              </a:rPr>
              <a:t>[ </a:t>
            </a:r>
            <a:r>
              <a:rPr b="1" lang="ko" sz="800">
                <a:solidFill>
                  <a:srgbClr val="595959"/>
                </a:solidFill>
              </a:rPr>
              <a:t>실패</a:t>
            </a:r>
            <a:r>
              <a:rPr b="1" lang="ko" sz="800">
                <a:solidFill>
                  <a:srgbClr val="595959"/>
                </a:solidFill>
              </a:rPr>
              <a:t> ]</a:t>
            </a:r>
            <a:endParaRPr b="1" sz="800">
              <a:solidFill>
                <a:srgbClr val="595959"/>
              </a:solidFill>
            </a:endParaRPr>
          </a:p>
        </p:txBody>
      </p:sp>
      <p:sp>
        <p:nvSpPr>
          <p:cNvPr id="512" name="Google Shape;512;p20"/>
          <p:cNvSpPr/>
          <p:nvPr/>
        </p:nvSpPr>
        <p:spPr>
          <a:xfrm>
            <a:off x="2692420" y="12606158"/>
            <a:ext cx="132366" cy="307109"/>
          </a:xfrm>
          <a:custGeom>
            <a:rect b="b" l="l" r="r" t="t"/>
            <a:pathLst>
              <a:path extrusionOk="0" h="22791" w="8233">
                <a:moveTo>
                  <a:pt x="0" y="0"/>
                </a:moveTo>
                <a:cubicBezTo>
                  <a:pt x="3896" y="1558"/>
                  <a:pt x="7797" y="5391"/>
                  <a:pt x="8177" y="9569"/>
                </a:cubicBezTo>
                <a:cubicBezTo>
                  <a:pt x="8628" y="14529"/>
                  <a:pt x="5202" y="19803"/>
                  <a:pt x="1218" y="22791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513" name="Google Shape;513;p20"/>
          <p:cNvSpPr txBox="1"/>
          <p:nvPr/>
        </p:nvSpPr>
        <p:spPr>
          <a:xfrm>
            <a:off x="1666678" y="7389469"/>
            <a:ext cx="2058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StopTransactionOnEVSideDisconnect = true</a:t>
            </a:r>
            <a:endParaRPr sz="800">
              <a:solidFill>
                <a:srgbClr val="595959"/>
              </a:solidFill>
            </a:endParaRPr>
          </a:p>
        </p:txBody>
      </p:sp>
      <p:sp>
        <p:nvSpPr>
          <p:cNvPr id="514" name="Google Shape;514;p20"/>
          <p:cNvSpPr txBox="1"/>
          <p:nvPr/>
        </p:nvSpPr>
        <p:spPr>
          <a:xfrm>
            <a:off x="2353177" y="8282374"/>
            <a:ext cx="686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에너지 공급 차단</a:t>
            </a:r>
            <a:endParaRPr sz="800">
              <a:solidFill>
                <a:srgbClr val="595959"/>
              </a:solidFill>
            </a:endParaRPr>
          </a:p>
        </p:txBody>
      </p:sp>
      <p:sp>
        <p:nvSpPr>
          <p:cNvPr id="515" name="Google Shape;515;p20"/>
          <p:cNvSpPr txBox="1"/>
          <p:nvPr/>
        </p:nvSpPr>
        <p:spPr>
          <a:xfrm>
            <a:off x="937551" y="7138658"/>
            <a:ext cx="895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595959"/>
                </a:solidFill>
              </a:rPr>
              <a:t>[ 커넥터 물리적 분리 ]</a:t>
            </a:r>
            <a:endParaRPr b="1" sz="800">
              <a:solidFill>
                <a:srgbClr val="595959"/>
              </a:solidFill>
            </a:endParaRPr>
          </a:p>
        </p:txBody>
      </p:sp>
      <p:sp>
        <p:nvSpPr>
          <p:cNvPr id="516" name="Google Shape;516;p20"/>
          <p:cNvSpPr txBox="1"/>
          <p:nvPr/>
        </p:nvSpPr>
        <p:spPr>
          <a:xfrm>
            <a:off x="937550" y="9102495"/>
            <a:ext cx="948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595959"/>
                </a:solidFill>
              </a:rPr>
              <a:t>[ 비상 정지 버튼 사용] </a:t>
            </a:r>
            <a:endParaRPr b="1" sz="800">
              <a:solidFill>
                <a:srgbClr val="595959"/>
              </a:solidFill>
            </a:endParaRPr>
          </a:p>
        </p:txBody>
      </p:sp>
      <p:sp>
        <p:nvSpPr>
          <p:cNvPr id="517" name="Google Shape;517;p20"/>
          <p:cNvSpPr txBox="1"/>
          <p:nvPr/>
        </p:nvSpPr>
        <p:spPr>
          <a:xfrm>
            <a:off x="912092" y="9333222"/>
            <a:ext cx="1806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비상 정지(E-Stop) 물리 버튼 누름 </a:t>
            </a:r>
            <a:endParaRPr sz="800">
              <a:solidFill>
                <a:srgbClr val="595959"/>
              </a:solidFill>
            </a:endParaRPr>
          </a:p>
        </p:txBody>
      </p:sp>
      <p:cxnSp>
        <p:nvCxnSpPr>
          <p:cNvPr id="518" name="Google Shape;518;p20"/>
          <p:cNvCxnSpPr/>
          <p:nvPr/>
        </p:nvCxnSpPr>
        <p:spPr>
          <a:xfrm>
            <a:off x="857245" y="9555470"/>
            <a:ext cx="18486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519" name="Google Shape;519;p20"/>
          <p:cNvSpPr txBox="1"/>
          <p:nvPr/>
        </p:nvSpPr>
        <p:spPr>
          <a:xfrm>
            <a:off x="912092" y="10110319"/>
            <a:ext cx="1806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595959"/>
                </a:solidFill>
              </a:rPr>
              <a:t>[ BMS를 통한 충전 중지 ]</a:t>
            </a:r>
            <a:endParaRPr b="1" sz="800">
              <a:solidFill>
                <a:srgbClr val="595959"/>
              </a:solidFill>
            </a:endParaRPr>
          </a:p>
        </p:txBody>
      </p:sp>
      <p:cxnSp>
        <p:nvCxnSpPr>
          <p:cNvPr id="520" name="Google Shape;520;p20"/>
          <p:cNvCxnSpPr/>
          <p:nvPr/>
        </p:nvCxnSpPr>
        <p:spPr>
          <a:xfrm>
            <a:off x="857245" y="10740662"/>
            <a:ext cx="18486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521" name="Google Shape;521;p20"/>
          <p:cNvSpPr txBox="1"/>
          <p:nvPr/>
        </p:nvSpPr>
        <p:spPr>
          <a:xfrm>
            <a:off x="912092" y="10315098"/>
            <a:ext cx="1806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미리 설정해 둔 목표 충전량에 도달 시 차량이 스스로 중단.</a:t>
            </a:r>
            <a:endParaRPr sz="800">
              <a:solidFill>
                <a:srgbClr val="595959"/>
              </a:solidFill>
            </a:endParaRPr>
          </a:p>
        </p:txBody>
      </p:sp>
      <p:sp>
        <p:nvSpPr>
          <p:cNvPr id="522" name="Google Shape;522;p20"/>
          <p:cNvSpPr txBox="1"/>
          <p:nvPr/>
        </p:nvSpPr>
        <p:spPr>
          <a:xfrm>
            <a:off x="163500" y="2319161"/>
            <a:ext cx="1440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충전 시작 요청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523" name="Google Shape;523;p20"/>
          <p:cNvSpPr txBox="1"/>
          <p:nvPr/>
        </p:nvSpPr>
        <p:spPr>
          <a:xfrm>
            <a:off x="163500" y="1952298"/>
            <a:ext cx="1440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충전기의 QR 코드를 스캔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524" name="Google Shape;524;p20"/>
          <p:cNvSpPr txBox="1"/>
          <p:nvPr/>
        </p:nvSpPr>
        <p:spPr>
          <a:xfrm>
            <a:off x="3780122" y="2822296"/>
            <a:ext cx="1440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사용자 계정 확인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525" name="Google Shape;525;p20"/>
          <p:cNvSpPr txBox="1"/>
          <p:nvPr/>
        </p:nvSpPr>
        <p:spPr>
          <a:xfrm>
            <a:off x="3780122" y="3163704"/>
            <a:ext cx="1440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사용자 결제 수단 확인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526" name="Google Shape;526;p20"/>
          <p:cNvSpPr txBox="1"/>
          <p:nvPr/>
        </p:nvSpPr>
        <p:spPr>
          <a:xfrm>
            <a:off x="3780122" y="3505148"/>
            <a:ext cx="1440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idTag 생성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527" name="Google Shape;527;p20"/>
          <p:cNvSpPr txBox="1"/>
          <p:nvPr/>
        </p:nvSpPr>
        <p:spPr>
          <a:xfrm>
            <a:off x="3780122" y="14771025"/>
            <a:ext cx="1440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데이터 동기화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528" name="Google Shape;528;p20"/>
          <p:cNvSpPr txBox="1"/>
          <p:nvPr/>
        </p:nvSpPr>
        <p:spPr>
          <a:xfrm>
            <a:off x="3453563" y="15103800"/>
            <a:ext cx="2093100" cy="31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내부 과금 전력량 계산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(meterStop - meterStart = 실제 사용한 전력량)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529" name="Google Shape;529;p20"/>
          <p:cNvSpPr txBox="1"/>
          <p:nvPr/>
        </p:nvSpPr>
        <p:spPr>
          <a:xfrm>
            <a:off x="3453563" y="15613656"/>
            <a:ext cx="2093100" cy="31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최종 청구 요금 산정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(사용 전력량 X 서비스 단가 = 최종 청구 요금)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530" name="Google Shape;530;p20"/>
          <p:cNvSpPr txBox="1"/>
          <p:nvPr/>
        </p:nvSpPr>
        <p:spPr>
          <a:xfrm>
            <a:off x="1974959" y="17724754"/>
            <a:ext cx="1440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충전기 내부의 큐를 비움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1"/>
          <p:cNvSpPr txBox="1"/>
          <p:nvPr/>
        </p:nvSpPr>
        <p:spPr>
          <a:xfrm>
            <a:off x="163500" y="264671"/>
            <a:ext cx="6873000" cy="738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lt1"/>
                </a:solidFill>
              </a:rPr>
              <a:t>7</a:t>
            </a:r>
            <a:r>
              <a:rPr b="1" lang="ko" sz="1800">
                <a:solidFill>
                  <a:schemeClr val="lt1"/>
                </a:solidFill>
              </a:rPr>
              <a:t>. QR </a:t>
            </a:r>
            <a:r>
              <a:rPr b="1" lang="ko" sz="1800">
                <a:solidFill>
                  <a:schemeClr val="lt1"/>
                </a:solidFill>
              </a:rPr>
              <a:t>후스캔 시나리오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lt1"/>
                </a:solidFill>
              </a:rPr>
              <a:t> - 차량에 충전 커넥터 먼저 연결 후 QR 스캔</a:t>
            </a:r>
            <a:endParaRPr b="1" sz="1800">
              <a:solidFill>
                <a:schemeClr val="lt1"/>
              </a:solidFill>
            </a:endParaRPr>
          </a:p>
        </p:txBody>
      </p:sp>
      <p:pic>
        <p:nvPicPr>
          <p:cNvPr id="536" name="Google Shape;53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99161" y="2360866"/>
            <a:ext cx="5235665" cy="12450051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21"/>
          <p:cNvSpPr txBox="1"/>
          <p:nvPr/>
        </p:nvSpPr>
        <p:spPr>
          <a:xfrm>
            <a:off x="7880500" y="737882"/>
            <a:ext cx="6873000" cy="461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lt1"/>
                </a:solidFill>
              </a:rPr>
              <a:t>서버 상태 흐름</a:t>
            </a:r>
            <a:endParaRPr b="1" sz="1800">
              <a:solidFill>
                <a:schemeClr val="lt1"/>
              </a:solidFill>
            </a:endParaRPr>
          </a:p>
        </p:txBody>
      </p:sp>
      <p:pic>
        <p:nvPicPr>
          <p:cNvPr id="538" name="Google Shape;53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94492"/>
            <a:ext cx="6895199" cy="9554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22"/>
          <p:cNvSpPr/>
          <p:nvPr/>
        </p:nvSpPr>
        <p:spPr>
          <a:xfrm>
            <a:off x="2203175" y="1622522"/>
            <a:ext cx="2475000" cy="73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하드웨어(충전기)에 커넥터 연결 감지 </a:t>
            </a:r>
            <a:endParaRPr sz="900"/>
          </a:p>
        </p:txBody>
      </p:sp>
      <p:cxnSp>
        <p:nvCxnSpPr>
          <p:cNvPr id="544" name="Google Shape;544;p22"/>
          <p:cNvCxnSpPr>
            <a:stCxn id="543" idx="2"/>
          </p:cNvCxnSpPr>
          <p:nvPr/>
        </p:nvCxnSpPr>
        <p:spPr>
          <a:xfrm>
            <a:off x="3440675" y="2360522"/>
            <a:ext cx="5400" cy="65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5" name="Google Shape;545;p22"/>
          <p:cNvSpPr/>
          <p:nvPr/>
        </p:nvSpPr>
        <p:spPr>
          <a:xfrm>
            <a:off x="2250800" y="3014017"/>
            <a:ext cx="2475000" cy="73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StatusNotification - Preparing - 하드웨어가 서버로 상태 전송 </a:t>
            </a:r>
            <a:endParaRPr sz="900"/>
          </a:p>
        </p:txBody>
      </p:sp>
      <p:cxnSp>
        <p:nvCxnSpPr>
          <p:cNvPr id="546" name="Google Shape;546;p22"/>
          <p:cNvCxnSpPr/>
          <p:nvPr/>
        </p:nvCxnSpPr>
        <p:spPr>
          <a:xfrm>
            <a:off x="3437975" y="3810943"/>
            <a:ext cx="5400" cy="65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7" name="Google Shape;547;p22"/>
          <p:cNvSpPr/>
          <p:nvPr/>
        </p:nvSpPr>
        <p:spPr>
          <a:xfrm>
            <a:off x="2205875" y="4405512"/>
            <a:ext cx="2475000" cy="73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사용자: 앱 열고 QR 코드 스캔 </a:t>
            </a:r>
            <a:endParaRPr sz="900"/>
          </a:p>
        </p:txBody>
      </p:sp>
      <p:cxnSp>
        <p:nvCxnSpPr>
          <p:cNvPr id="548" name="Google Shape;548;p22"/>
          <p:cNvCxnSpPr>
            <a:stCxn id="547" idx="2"/>
          </p:cNvCxnSpPr>
          <p:nvPr/>
        </p:nvCxnSpPr>
        <p:spPr>
          <a:xfrm flipH="1">
            <a:off x="3442775" y="5143512"/>
            <a:ext cx="600" cy="72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9" name="Google Shape;549;p22"/>
          <p:cNvSpPr/>
          <p:nvPr/>
        </p:nvSpPr>
        <p:spPr>
          <a:xfrm>
            <a:off x="2085125" y="5869480"/>
            <a:ext cx="2716500" cy="13449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스캔한 cp_id의 현재 상태가 'Preparing' 상태가 맞는가? </a:t>
            </a:r>
            <a:endParaRPr sz="900"/>
          </a:p>
        </p:txBody>
      </p:sp>
      <p:cxnSp>
        <p:nvCxnSpPr>
          <p:cNvPr id="550" name="Google Shape;550;p22"/>
          <p:cNvCxnSpPr>
            <a:stCxn id="549" idx="2"/>
          </p:cNvCxnSpPr>
          <p:nvPr/>
        </p:nvCxnSpPr>
        <p:spPr>
          <a:xfrm flipH="1">
            <a:off x="3439175" y="7214380"/>
            <a:ext cx="4200" cy="52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1" name="Google Shape;551;p22"/>
          <p:cNvCxnSpPr/>
          <p:nvPr/>
        </p:nvCxnSpPr>
        <p:spPr>
          <a:xfrm flipH="1" rot="10800000">
            <a:off x="2526000" y="7729871"/>
            <a:ext cx="1920900" cy="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2" name="Google Shape;552;p22"/>
          <p:cNvCxnSpPr/>
          <p:nvPr/>
        </p:nvCxnSpPr>
        <p:spPr>
          <a:xfrm flipH="1">
            <a:off x="2518200" y="7740971"/>
            <a:ext cx="7800" cy="53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3" name="Google Shape;553;p22"/>
          <p:cNvCxnSpPr/>
          <p:nvPr/>
        </p:nvCxnSpPr>
        <p:spPr>
          <a:xfrm>
            <a:off x="4454625" y="7718589"/>
            <a:ext cx="15900" cy="53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4" name="Google Shape;554;p22"/>
          <p:cNvSpPr/>
          <p:nvPr/>
        </p:nvSpPr>
        <p:spPr>
          <a:xfrm>
            <a:off x="1265175" y="8256351"/>
            <a:ext cx="1920900" cy="656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결제 가승인 프로세스 진행 - 회원 검증 및 가승인 요청 </a:t>
            </a:r>
            <a:endParaRPr sz="900"/>
          </a:p>
        </p:txBody>
      </p:sp>
      <p:sp>
        <p:nvSpPr>
          <p:cNvPr id="555" name="Google Shape;555;p22"/>
          <p:cNvSpPr/>
          <p:nvPr/>
        </p:nvSpPr>
        <p:spPr>
          <a:xfrm>
            <a:off x="3952325" y="8256351"/>
            <a:ext cx="1920900" cy="656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앱 화면에 오류 알림 - "커넥터를 먼저 연결해 주세요" (초기 화면으로 리다이렉트) </a:t>
            </a:r>
            <a:endParaRPr sz="900"/>
          </a:p>
        </p:txBody>
      </p:sp>
      <p:cxnSp>
        <p:nvCxnSpPr>
          <p:cNvPr id="556" name="Google Shape;556;p22"/>
          <p:cNvCxnSpPr/>
          <p:nvPr/>
        </p:nvCxnSpPr>
        <p:spPr>
          <a:xfrm flipH="1">
            <a:off x="2085125" y="8912451"/>
            <a:ext cx="7800" cy="53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7" name="Google Shape;557;p22"/>
          <p:cNvSpPr/>
          <p:nvPr/>
        </p:nvSpPr>
        <p:spPr>
          <a:xfrm>
            <a:off x="730775" y="9449609"/>
            <a:ext cx="2716500" cy="13449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가승인 결제 성공?  </a:t>
            </a:r>
            <a:endParaRPr sz="900"/>
          </a:p>
        </p:txBody>
      </p:sp>
      <p:cxnSp>
        <p:nvCxnSpPr>
          <p:cNvPr id="558" name="Google Shape;558;p22"/>
          <p:cNvCxnSpPr>
            <a:stCxn id="557" idx="2"/>
          </p:cNvCxnSpPr>
          <p:nvPr/>
        </p:nvCxnSpPr>
        <p:spPr>
          <a:xfrm flipH="1">
            <a:off x="2080025" y="10794509"/>
            <a:ext cx="9000" cy="81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9" name="Google Shape;559;p22"/>
          <p:cNvCxnSpPr/>
          <p:nvPr/>
        </p:nvCxnSpPr>
        <p:spPr>
          <a:xfrm flipH="1" rot="10800000">
            <a:off x="2079925" y="11016197"/>
            <a:ext cx="2188500" cy="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0" name="Google Shape;560;p22"/>
          <p:cNvCxnSpPr/>
          <p:nvPr/>
        </p:nvCxnSpPr>
        <p:spPr>
          <a:xfrm flipH="1">
            <a:off x="4252650" y="11004916"/>
            <a:ext cx="7800" cy="58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1" name="Google Shape;561;p22"/>
          <p:cNvSpPr/>
          <p:nvPr/>
        </p:nvSpPr>
        <p:spPr>
          <a:xfrm>
            <a:off x="847025" y="11608899"/>
            <a:ext cx="2475000" cy="73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서버: RemoteStartTransaction 명령 전송 - 하드웨어로 원격 충전 기동 요청 </a:t>
            </a:r>
            <a:endParaRPr sz="900"/>
          </a:p>
        </p:txBody>
      </p:sp>
      <p:sp>
        <p:nvSpPr>
          <p:cNvPr id="562" name="Google Shape;562;p22"/>
          <p:cNvSpPr/>
          <p:nvPr/>
        </p:nvSpPr>
        <p:spPr>
          <a:xfrm>
            <a:off x="3851538" y="11608881"/>
            <a:ext cx="2475000" cy="73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앱 화면에 가승인 실패 알림 - "결제 수단을 확인해 주세요" </a:t>
            </a:r>
            <a:endParaRPr sz="900"/>
          </a:p>
        </p:txBody>
      </p:sp>
      <p:cxnSp>
        <p:nvCxnSpPr>
          <p:cNvPr id="563" name="Google Shape;563;p22"/>
          <p:cNvCxnSpPr/>
          <p:nvPr/>
        </p:nvCxnSpPr>
        <p:spPr>
          <a:xfrm flipH="1">
            <a:off x="2085125" y="12347260"/>
            <a:ext cx="7800" cy="53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4" name="Google Shape;564;p22"/>
          <p:cNvSpPr/>
          <p:nvPr/>
        </p:nvSpPr>
        <p:spPr>
          <a:xfrm>
            <a:off x="730775" y="12884436"/>
            <a:ext cx="2716500" cy="13449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하드웨어가 명령을 수락(Accepted)? </a:t>
            </a:r>
            <a:endParaRPr sz="900"/>
          </a:p>
        </p:txBody>
      </p:sp>
      <p:cxnSp>
        <p:nvCxnSpPr>
          <p:cNvPr id="565" name="Google Shape;565;p22"/>
          <p:cNvCxnSpPr/>
          <p:nvPr/>
        </p:nvCxnSpPr>
        <p:spPr>
          <a:xfrm flipH="1">
            <a:off x="2084525" y="14204416"/>
            <a:ext cx="9000" cy="81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6" name="Google Shape;566;p22"/>
          <p:cNvCxnSpPr/>
          <p:nvPr/>
        </p:nvCxnSpPr>
        <p:spPr>
          <a:xfrm flipH="1" rot="10800000">
            <a:off x="2079925" y="14512911"/>
            <a:ext cx="2188500" cy="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7" name="Google Shape;567;p22"/>
          <p:cNvCxnSpPr/>
          <p:nvPr/>
        </p:nvCxnSpPr>
        <p:spPr>
          <a:xfrm flipH="1">
            <a:off x="4252650" y="14524011"/>
            <a:ext cx="7800" cy="58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8" name="Google Shape;568;p22"/>
          <p:cNvSpPr/>
          <p:nvPr/>
        </p:nvSpPr>
        <p:spPr>
          <a:xfrm>
            <a:off x="847025" y="15043725"/>
            <a:ext cx="2475000" cy="73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StatusNotification - Charging (충전 중) 변경  </a:t>
            </a:r>
            <a:endParaRPr sz="900"/>
          </a:p>
        </p:txBody>
      </p:sp>
      <p:sp>
        <p:nvSpPr>
          <p:cNvPr id="569" name="Google Shape;569;p22"/>
          <p:cNvSpPr/>
          <p:nvPr/>
        </p:nvSpPr>
        <p:spPr>
          <a:xfrm>
            <a:off x="3851550" y="15105932"/>
            <a:ext cx="2475000" cy="73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앱 화면에 시스템 오류 알림  - "충전기 시작 명령 실패" </a:t>
            </a:r>
            <a:endParaRPr sz="900"/>
          </a:p>
        </p:txBody>
      </p:sp>
      <p:cxnSp>
        <p:nvCxnSpPr>
          <p:cNvPr id="570" name="Google Shape;570;p22"/>
          <p:cNvCxnSpPr/>
          <p:nvPr/>
        </p:nvCxnSpPr>
        <p:spPr>
          <a:xfrm flipH="1">
            <a:off x="2080025" y="15782104"/>
            <a:ext cx="9000" cy="81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1" name="Google Shape;571;p22"/>
          <p:cNvSpPr/>
          <p:nvPr/>
        </p:nvSpPr>
        <p:spPr>
          <a:xfrm>
            <a:off x="851525" y="16596367"/>
            <a:ext cx="2475000" cy="73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미터링 및 실시간 데이터 저장 - MeterValues 수신 및 누적 저장 </a:t>
            </a:r>
            <a:endParaRPr sz="900"/>
          </a:p>
        </p:txBody>
      </p:sp>
      <p:sp>
        <p:nvSpPr>
          <p:cNvPr id="572" name="Google Shape;572;p22"/>
          <p:cNvSpPr txBox="1"/>
          <p:nvPr/>
        </p:nvSpPr>
        <p:spPr>
          <a:xfrm>
            <a:off x="2025050" y="7718589"/>
            <a:ext cx="7017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15">
                <a:solidFill>
                  <a:schemeClr val="dk2"/>
                </a:solidFill>
              </a:rPr>
              <a:t>YES</a:t>
            </a:r>
            <a:endParaRPr b="1" sz="315">
              <a:solidFill>
                <a:schemeClr val="dk2"/>
              </a:solidFill>
            </a:endParaRPr>
          </a:p>
        </p:txBody>
      </p:sp>
      <p:sp>
        <p:nvSpPr>
          <p:cNvPr id="573" name="Google Shape;573;p22"/>
          <p:cNvSpPr txBox="1"/>
          <p:nvPr/>
        </p:nvSpPr>
        <p:spPr>
          <a:xfrm>
            <a:off x="1601763" y="11060657"/>
            <a:ext cx="7017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15">
                <a:solidFill>
                  <a:schemeClr val="dk2"/>
                </a:solidFill>
              </a:rPr>
              <a:t>YES</a:t>
            </a:r>
            <a:endParaRPr b="1" sz="315">
              <a:solidFill>
                <a:schemeClr val="dk2"/>
              </a:solidFill>
            </a:endParaRPr>
          </a:p>
        </p:txBody>
      </p:sp>
      <p:sp>
        <p:nvSpPr>
          <p:cNvPr id="574" name="Google Shape;574;p22"/>
          <p:cNvSpPr txBox="1"/>
          <p:nvPr/>
        </p:nvSpPr>
        <p:spPr>
          <a:xfrm>
            <a:off x="4561925" y="7718589"/>
            <a:ext cx="7017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15">
                <a:solidFill>
                  <a:schemeClr val="dk2"/>
                </a:solidFill>
              </a:rPr>
              <a:t>NO</a:t>
            </a:r>
            <a:endParaRPr b="1" sz="315">
              <a:solidFill>
                <a:schemeClr val="dk2"/>
              </a:solidFill>
            </a:endParaRPr>
          </a:p>
        </p:txBody>
      </p:sp>
      <p:sp>
        <p:nvSpPr>
          <p:cNvPr id="575" name="Google Shape;575;p22"/>
          <p:cNvSpPr txBox="1"/>
          <p:nvPr/>
        </p:nvSpPr>
        <p:spPr>
          <a:xfrm>
            <a:off x="4252650" y="11019091"/>
            <a:ext cx="7017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15">
                <a:solidFill>
                  <a:schemeClr val="dk2"/>
                </a:solidFill>
              </a:rPr>
              <a:t>NO</a:t>
            </a:r>
            <a:endParaRPr b="1" sz="315">
              <a:solidFill>
                <a:schemeClr val="dk2"/>
              </a:solidFill>
            </a:endParaRPr>
          </a:p>
        </p:txBody>
      </p:sp>
      <p:sp>
        <p:nvSpPr>
          <p:cNvPr id="576" name="Google Shape;576;p22"/>
          <p:cNvSpPr txBox="1"/>
          <p:nvPr/>
        </p:nvSpPr>
        <p:spPr>
          <a:xfrm>
            <a:off x="1601763" y="14495483"/>
            <a:ext cx="7017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15">
                <a:solidFill>
                  <a:schemeClr val="dk2"/>
                </a:solidFill>
              </a:rPr>
              <a:t>YES</a:t>
            </a:r>
            <a:endParaRPr b="1" sz="315">
              <a:solidFill>
                <a:schemeClr val="dk2"/>
              </a:solidFill>
            </a:endParaRPr>
          </a:p>
        </p:txBody>
      </p:sp>
      <p:sp>
        <p:nvSpPr>
          <p:cNvPr id="577" name="Google Shape;577;p22"/>
          <p:cNvSpPr txBox="1"/>
          <p:nvPr/>
        </p:nvSpPr>
        <p:spPr>
          <a:xfrm>
            <a:off x="4268425" y="14579432"/>
            <a:ext cx="7017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15">
                <a:solidFill>
                  <a:schemeClr val="dk2"/>
                </a:solidFill>
              </a:rPr>
              <a:t>NO</a:t>
            </a:r>
            <a:endParaRPr b="1" sz="315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23"/>
          <p:cNvSpPr txBox="1"/>
          <p:nvPr/>
        </p:nvSpPr>
        <p:spPr>
          <a:xfrm>
            <a:off x="163500" y="264671"/>
            <a:ext cx="6873000" cy="738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lt1"/>
                </a:solidFill>
              </a:rPr>
              <a:t>8.</a:t>
            </a:r>
            <a:r>
              <a:rPr b="1" lang="ko" sz="1800">
                <a:solidFill>
                  <a:schemeClr val="lt1"/>
                </a:solidFill>
              </a:rPr>
              <a:t> QR </a:t>
            </a:r>
            <a:r>
              <a:rPr b="1" lang="ko" sz="1800">
                <a:solidFill>
                  <a:schemeClr val="lt1"/>
                </a:solidFill>
              </a:rPr>
              <a:t>선스캔 시나리오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lt1"/>
                </a:solidFill>
              </a:rPr>
              <a:t> - QR을 먼저 스캔한 후 차량에 커넥터를 꽂는 방식</a:t>
            </a:r>
            <a:endParaRPr b="1" sz="1800">
              <a:solidFill>
                <a:schemeClr val="lt1"/>
              </a:solidFill>
            </a:endParaRPr>
          </a:p>
        </p:txBody>
      </p:sp>
      <p:pic>
        <p:nvPicPr>
          <p:cNvPr id="583" name="Google Shape;58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900" y="1575414"/>
            <a:ext cx="6895199" cy="1033018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23"/>
          <p:cNvSpPr txBox="1"/>
          <p:nvPr/>
        </p:nvSpPr>
        <p:spPr>
          <a:xfrm>
            <a:off x="7538900" y="481239"/>
            <a:ext cx="6873000" cy="461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lt1"/>
                </a:solidFill>
              </a:rPr>
              <a:t>서버 상태 흐름</a:t>
            </a:r>
            <a:endParaRPr b="1" sz="1800">
              <a:solidFill>
                <a:schemeClr val="lt1"/>
              </a:solidFill>
            </a:endParaRPr>
          </a:p>
        </p:txBody>
      </p:sp>
      <p:pic>
        <p:nvPicPr>
          <p:cNvPr id="585" name="Google Shape;58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70434" y="1683699"/>
            <a:ext cx="3396682" cy="136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24"/>
          <p:cNvSpPr/>
          <p:nvPr/>
        </p:nvSpPr>
        <p:spPr>
          <a:xfrm>
            <a:off x="2205875" y="1611616"/>
            <a:ext cx="2475000" cy="73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사용자: 앱 열고 QR 코드 스캔 </a:t>
            </a:r>
            <a:endParaRPr sz="900"/>
          </a:p>
        </p:txBody>
      </p:sp>
      <p:cxnSp>
        <p:nvCxnSpPr>
          <p:cNvPr id="591" name="Google Shape;591;p24"/>
          <p:cNvCxnSpPr>
            <a:stCxn id="590" idx="2"/>
          </p:cNvCxnSpPr>
          <p:nvPr/>
        </p:nvCxnSpPr>
        <p:spPr>
          <a:xfrm flipH="1">
            <a:off x="3442775" y="2349616"/>
            <a:ext cx="600" cy="72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2" name="Google Shape;592;p24"/>
          <p:cNvSpPr/>
          <p:nvPr/>
        </p:nvSpPr>
        <p:spPr>
          <a:xfrm>
            <a:off x="2085125" y="3075584"/>
            <a:ext cx="2716500" cy="13449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스캔한 cp_id의 현재 상태가  'Available' 상태가 맞는가? </a:t>
            </a:r>
            <a:endParaRPr sz="900"/>
          </a:p>
        </p:txBody>
      </p:sp>
      <p:cxnSp>
        <p:nvCxnSpPr>
          <p:cNvPr id="593" name="Google Shape;593;p24"/>
          <p:cNvCxnSpPr>
            <a:stCxn id="592" idx="2"/>
          </p:cNvCxnSpPr>
          <p:nvPr/>
        </p:nvCxnSpPr>
        <p:spPr>
          <a:xfrm flipH="1">
            <a:off x="3439175" y="4420484"/>
            <a:ext cx="4200" cy="52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4" name="Google Shape;594;p24"/>
          <p:cNvCxnSpPr/>
          <p:nvPr/>
        </p:nvCxnSpPr>
        <p:spPr>
          <a:xfrm flipH="1" rot="10800000">
            <a:off x="2526000" y="4935975"/>
            <a:ext cx="1920900" cy="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5" name="Google Shape;595;p24"/>
          <p:cNvCxnSpPr/>
          <p:nvPr/>
        </p:nvCxnSpPr>
        <p:spPr>
          <a:xfrm flipH="1">
            <a:off x="2518200" y="4947075"/>
            <a:ext cx="7800" cy="53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6" name="Google Shape;596;p24"/>
          <p:cNvCxnSpPr/>
          <p:nvPr/>
        </p:nvCxnSpPr>
        <p:spPr>
          <a:xfrm>
            <a:off x="4454625" y="4924693"/>
            <a:ext cx="15900" cy="53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7" name="Google Shape;597;p24"/>
          <p:cNvSpPr/>
          <p:nvPr/>
        </p:nvSpPr>
        <p:spPr>
          <a:xfrm>
            <a:off x="1265175" y="5462455"/>
            <a:ext cx="1920900" cy="656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결제 가승인 프로세스 진행 - 회원 검증 및 가승인 요청 </a:t>
            </a:r>
            <a:endParaRPr sz="900"/>
          </a:p>
        </p:txBody>
      </p:sp>
      <p:sp>
        <p:nvSpPr>
          <p:cNvPr id="598" name="Google Shape;598;p24"/>
          <p:cNvSpPr/>
          <p:nvPr/>
        </p:nvSpPr>
        <p:spPr>
          <a:xfrm>
            <a:off x="3952325" y="5462455"/>
            <a:ext cx="1920900" cy="656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앱 화면에 오류 알림 - "커넥터를 먼저 연결해 주세요" (초기 화면으로 리다이렉트) </a:t>
            </a:r>
            <a:endParaRPr sz="900"/>
          </a:p>
        </p:txBody>
      </p:sp>
      <p:cxnSp>
        <p:nvCxnSpPr>
          <p:cNvPr id="599" name="Google Shape;599;p24"/>
          <p:cNvCxnSpPr/>
          <p:nvPr/>
        </p:nvCxnSpPr>
        <p:spPr>
          <a:xfrm flipH="1">
            <a:off x="2085125" y="6118555"/>
            <a:ext cx="7800" cy="53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00" name="Google Shape;600;p24"/>
          <p:cNvSpPr/>
          <p:nvPr/>
        </p:nvSpPr>
        <p:spPr>
          <a:xfrm>
            <a:off x="730775" y="6655713"/>
            <a:ext cx="2716500" cy="13449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가승인 결제 성공?  </a:t>
            </a:r>
            <a:endParaRPr sz="900"/>
          </a:p>
        </p:txBody>
      </p:sp>
      <p:cxnSp>
        <p:nvCxnSpPr>
          <p:cNvPr id="601" name="Google Shape;601;p24"/>
          <p:cNvCxnSpPr>
            <a:stCxn id="600" idx="2"/>
          </p:cNvCxnSpPr>
          <p:nvPr/>
        </p:nvCxnSpPr>
        <p:spPr>
          <a:xfrm flipH="1">
            <a:off x="2080025" y="8000613"/>
            <a:ext cx="9000" cy="81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2" name="Google Shape;602;p24"/>
          <p:cNvCxnSpPr/>
          <p:nvPr/>
        </p:nvCxnSpPr>
        <p:spPr>
          <a:xfrm flipH="1" rot="10800000">
            <a:off x="2079925" y="8222301"/>
            <a:ext cx="2188500" cy="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3" name="Google Shape;603;p24"/>
          <p:cNvCxnSpPr/>
          <p:nvPr/>
        </p:nvCxnSpPr>
        <p:spPr>
          <a:xfrm flipH="1">
            <a:off x="4252650" y="8211020"/>
            <a:ext cx="7800" cy="58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04" name="Google Shape;604;p24"/>
          <p:cNvSpPr/>
          <p:nvPr/>
        </p:nvSpPr>
        <p:spPr>
          <a:xfrm>
            <a:off x="860238" y="13274941"/>
            <a:ext cx="2475000" cy="73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서버: RemoteStartTransaction 명령 전송 - 하드웨어로 원격 충전 기동 요청 </a:t>
            </a:r>
            <a:endParaRPr sz="900"/>
          </a:p>
        </p:txBody>
      </p:sp>
      <p:cxnSp>
        <p:nvCxnSpPr>
          <p:cNvPr id="605" name="Google Shape;605;p24"/>
          <p:cNvCxnSpPr>
            <a:stCxn id="604" idx="2"/>
            <a:endCxn id="606" idx="0"/>
          </p:cNvCxnSpPr>
          <p:nvPr/>
        </p:nvCxnSpPr>
        <p:spPr>
          <a:xfrm flipH="1">
            <a:off x="2089038" y="14012941"/>
            <a:ext cx="8700" cy="52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06" name="Google Shape;606;p24"/>
          <p:cNvSpPr/>
          <p:nvPr/>
        </p:nvSpPr>
        <p:spPr>
          <a:xfrm>
            <a:off x="730775" y="14533247"/>
            <a:ext cx="2716500" cy="13449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하드웨어가 명령을 수락(Accepted)? </a:t>
            </a:r>
            <a:endParaRPr sz="900"/>
          </a:p>
        </p:txBody>
      </p:sp>
      <p:cxnSp>
        <p:nvCxnSpPr>
          <p:cNvPr id="607" name="Google Shape;607;p24"/>
          <p:cNvCxnSpPr/>
          <p:nvPr/>
        </p:nvCxnSpPr>
        <p:spPr>
          <a:xfrm flipH="1">
            <a:off x="2084525" y="15853228"/>
            <a:ext cx="9000" cy="81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8" name="Google Shape;608;p24"/>
          <p:cNvCxnSpPr/>
          <p:nvPr/>
        </p:nvCxnSpPr>
        <p:spPr>
          <a:xfrm flipH="1" rot="10800000">
            <a:off x="2079925" y="16161722"/>
            <a:ext cx="2188500" cy="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9" name="Google Shape;609;p24"/>
          <p:cNvCxnSpPr/>
          <p:nvPr/>
        </p:nvCxnSpPr>
        <p:spPr>
          <a:xfrm flipH="1">
            <a:off x="4252650" y="16172822"/>
            <a:ext cx="7800" cy="58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0" name="Google Shape;610;p24"/>
          <p:cNvSpPr/>
          <p:nvPr/>
        </p:nvSpPr>
        <p:spPr>
          <a:xfrm>
            <a:off x="847025" y="16692537"/>
            <a:ext cx="2475000" cy="73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StatusNotification - Charging (충전 중) 변경  </a:t>
            </a:r>
            <a:endParaRPr sz="900"/>
          </a:p>
        </p:txBody>
      </p:sp>
      <p:sp>
        <p:nvSpPr>
          <p:cNvPr id="611" name="Google Shape;611;p24"/>
          <p:cNvSpPr/>
          <p:nvPr/>
        </p:nvSpPr>
        <p:spPr>
          <a:xfrm>
            <a:off x="3851550" y="16754743"/>
            <a:ext cx="2475000" cy="73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앱 화면에 시스템 오류 알림  - "충전기 시작 명령 실패" </a:t>
            </a:r>
            <a:endParaRPr sz="900"/>
          </a:p>
        </p:txBody>
      </p:sp>
      <p:cxnSp>
        <p:nvCxnSpPr>
          <p:cNvPr id="612" name="Google Shape;612;p24"/>
          <p:cNvCxnSpPr/>
          <p:nvPr/>
        </p:nvCxnSpPr>
        <p:spPr>
          <a:xfrm flipH="1">
            <a:off x="2080025" y="17430916"/>
            <a:ext cx="9000" cy="81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3" name="Google Shape;613;p24"/>
          <p:cNvSpPr/>
          <p:nvPr/>
        </p:nvSpPr>
        <p:spPr>
          <a:xfrm>
            <a:off x="851525" y="18245179"/>
            <a:ext cx="2475000" cy="73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미터링 및 실시간 데이터 저장 - MeterValues 수신 및 누적 저장 </a:t>
            </a:r>
            <a:endParaRPr sz="900"/>
          </a:p>
        </p:txBody>
      </p:sp>
      <p:sp>
        <p:nvSpPr>
          <p:cNvPr id="614" name="Google Shape;614;p24"/>
          <p:cNvSpPr txBox="1"/>
          <p:nvPr/>
        </p:nvSpPr>
        <p:spPr>
          <a:xfrm>
            <a:off x="2025050" y="4924693"/>
            <a:ext cx="7017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15">
                <a:solidFill>
                  <a:schemeClr val="dk2"/>
                </a:solidFill>
              </a:rPr>
              <a:t>YES</a:t>
            </a:r>
            <a:endParaRPr b="1" sz="315">
              <a:solidFill>
                <a:schemeClr val="dk2"/>
              </a:solidFill>
            </a:endParaRPr>
          </a:p>
        </p:txBody>
      </p:sp>
      <p:sp>
        <p:nvSpPr>
          <p:cNvPr id="615" name="Google Shape;615;p24"/>
          <p:cNvSpPr txBox="1"/>
          <p:nvPr/>
        </p:nvSpPr>
        <p:spPr>
          <a:xfrm>
            <a:off x="1601763" y="8266761"/>
            <a:ext cx="7017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15">
                <a:solidFill>
                  <a:schemeClr val="dk2"/>
                </a:solidFill>
              </a:rPr>
              <a:t>YES</a:t>
            </a:r>
            <a:endParaRPr b="1" sz="315">
              <a:solidFill>
                <a:schemeClr val="dk2"/>
              </a:solidFill>
            </a:endParaRPr>
          </a:p>
        </p:txBody>
      </p:sp>
      <p:sp>
        <p:nvSpPr>
          <p:cNvPr id="616" name="Google Shape;616;p24"/>
          <p:cNvSpPr txBox="1"/>
          <p:nvPr/>
        </p:nvSpPr>
        <p:spPr>
          <a:xfrm>
            <a:off x="4561925" y="4924693"/>
            <a:ext cx="7017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15">
                <a:solidFill>
                  <a:schemeClr val="dk2"/>
                </a:solidFill>
              </a:rPr>
              <a:t>NO</a:t>
            </a:r>
            <a:endParaRPr b="1" sz="315">
              <a:solidFill>
                <a:schemeClr val="dk2"/>
              </a:solidFill>
            </a:endParaRPr>
          </a:p>
        </p:txBody>
      </p:sp>
      <p:sp>
        <p:nvSpPr>
          <p:cNvPr id="617" name="Google Shape;617;p24"/>
          <p:cNvSpPr txBox="1"/>
          <p:nvPr/>
        </p:nvSpPr>
        <p:spPr>
          <a:xfrm>
            <a:off x="4252650" y="8225195"/>
            <a:ext cx="7017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15">
                <a:solidFill>
                  <a:schemeClr val="dk2"/>
                </a:solidFill>
              </a:rPr>
              <a:t>NO</a:t>
            </a:r>
            <a:endParaRPr b="1" sz="315">
              <a:solidFill>
                <a:schemeClr val="dk2"/>
              </a:solidFill>
            </a:endParaRPr>
          </a:p>
        </p:txBody>
      </p:sp>
      <p:sp>
        <p:nvSpPr>
          <p:cNvPr id="618" name="Google Shape;618;p24"/>
          <p:cNvSpPr txBox="1"/>
          <p:nvPr/>
        </p:nvSpPr>
        <p:spPr>
          <a:xfrm>
            <a:off x="1601763" y="16144295"/>
            <a:ext cx="7017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15">
                <a:solidFill>
                  <a:schemeClr val="dk2"/>
                </a:solidFill>
              </a:rPr>
              <a:t>YES</a:t>
            </a:r>
            <a:endParaRPr b="1" sz="315">
              <a:solidFill>
                <a:schemeClr val="dk2"/>
              </a:solidFill>
            </a:endParaRPr>
          </a:p>
        </p:txBody>
      </p:sp>
      <p:sp>
        <p:nvSpPr>
          <p:cNvPr id="619" name="Google Shape;619;p24"/>
          <p:cNvSpPr txBox="1"/>
          <p:nvPr/>
        </p:nvSpPr>
        <p:spPr>
          <a:xfrm>
            <a:off x="4268425" y="16228243"/>
            <a:ext cx="7017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15">
                <a:solidFill>
                  <a:schemeClr val="dk2"/>
                </a:solidFill>
              </a:rPr>
              <a:t>NO</a:t>
            </a:r>
            <a:endParaRPr b="1" sz="315">
              <a:solidFill>
                <a:schemeClr val="dk2"/>
              </a:solidFill>
            </a:endParaRPr>
          </a:p>
        </p:txBody>
      </p:sp>
      <p:sp>
        <p:nvSpPr>
          <p:cNvPr id="620" name="Google Shape;620;p24"/>
          <p:cNvSpPr/>
          <p:nvPr/>
        </p:nvSpPr>
        <p:spPr>
          <a:xfrm>
            <a:off x="847025" y="8763116"/>
            <a:ext cx="2475000" cy="73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앱 화면: "커넥터 연결 안내"  - "60초 이내에 커넥터를 연결하세요"</a:t>
            </a:r>
            <a:endParaRPr sz="900"/>
          </a:p>
        </p:txBody>
      </p:sp>
      <p:sp>
        <p:nvSpPr>
          <p:cNvPr id="621" name="Google Shape;621;p24"/>
          <p:cNvSpPr/>
          <p:nvPr/>
        </p:nvSpPr>
        <p:spPr>
          <a:xfrm>
            <a:off x="3851538" y="8763099"/>
            <a:ext cx="2475000" cy="73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앱 화면에 가승인 실패 알림 - "결제 수단을 확인해 주세요" </a:t>
            </a:r>
            <a:endParaRPr sz="900"/>
          </a:p>
        </p:txBody>
      </p:sp>
      <p:cxnSp>
        <p:nvCxnSpPr>
          <p:cNvPr id="622" name="Google Shape;622;p24"/>
          <p:cNvCxnSpPr/>
          <p:nvPr/>
        </p:nvCxnSpPr>
        <p:spPr>
          <a:xfrm flipH="1">
            <a:off x="2075525" y="9514001"/>
            <a:ext cx="9000" cy="81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3" name="Google Shape;623;p24"/>
          <p:cNvSpPr/>
          <p:nvPr/>
        </p:nvSpPr>
        <p:spPr>
          <a:xfrm>
            <a:off x="847025" y="10328264"/>
            <a:ext cx="2475000" cy="73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시간 내에 하드웨어에 커넥터가 연결되었는가? </a:t>
            </a:r>
            <a:endParaRPr sz="900"/>
          </a:p>
        </p:txBody>
      </p:sp>
      <p:cxnSp>
        <p:nvCxnSpPr>
          <p:cNvPr id="624" name="Google Shape;624;p24"/>
          <p:cNvCxnSpPr>
            <a:stCxn id="623" idx="2"/>
          </p:cNvCxnSpPr>
          <p:nvPr/>
        </p:nvCxnSpPr>
        <p:spPr>
          <a:xfrm flipH="1">
            <a:off x="2082725" y="11066264"/>
            <a:ext cx="1800" cy="73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5" name="Google Shape;625;p24"/>
          <p:cNvCxnSpPr/>
          <p:nvPr/>
        </p:nvCxnSpPr>
        <p:spPr>
          <a:xfrm flipH="1" rot="10800000">
            <a:off x="2093138" y="11311474"/>
            <a:ext cx="2188500" cy="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6" name="Google Shape;626;p24"/>
          <p:cNvCxnSpPr/>
          <p:nvPr/>
        </p:nvCxnSpPr>
        <p:spPr>
          <a:xfrm flipH="1">
            <a:off x="4265863" y="11322574"/>
            <a:ext cx="7800" cy="58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7" name="Google Shape;627;p24"/>
          <p:cNvSpPr/>
          <p:nvPr/>
        </p:nvSpPr>
        <p:spPr>
          <a:xfrm>
            <a:off x="860238" y="11842289"/>
            <a:ext cx="2475000" cy="73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StatusNotification - Preparing (준비 중) 수신   </a:t>
            </a:r>
            <a:endParaRPr sz="900"/>
          </a:p>
        </p:txBody>
      </p:sp>
      <p:sp>
        <p:nvSpPr>
          <p:cNvPr id="628" name="Google Shape;628;p24"/>
          <p:cNvSpPr/>
          <p:nvPr/>
        </p:nvSpPr>
        <p:spPr>
          <a:xfrm>
            <a:off x="3864763" y="11904495"/>
            <a:ext cx="2475000" cy="73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가승인 결제 취소 및 세션 종료 - 앱 화면에 "연결 시간 초과" 알림 </a:t>
            </a:r>
            <a:endParaRPr sz="900"/>
          </a:p>
        </p:txBody>
      </p:sp>
      <p:sp>
        <p:nvSpPr>
          <p:cNvPr id="629" name="Google Shape;629;p24"/>
          <p:cNvSpPr txBox="1"/>
          <p:nvPr/>
        </p:nvSpPr>
        <p:spPr>
          <a:xfrm>
            <a:off x="1614975" y="11294047"/>
            <a:ext cx="7017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15">
                <a:solidFill>
                  <a:schemeClr val="dk2"/>
                </a:solidFill>
              </a:rPr>
              <a:t>YES</a:t>
            </a:r>
            <a:endParaRPr b="1" sz="315">
              <a:solidFill>
                <a:schemeClr val="dk2"/>
              </a:solidFill>
            </a:endParaRPr>
          </a:p>
        </p:txBody>
      </p:sp>
      <p:sp>
        <p:nvSpPr>
          <p:cNvPr id="630" name="Google Shape;630;p24"/>
          <p:cNvSpPr txBox="1"/>
          <p:nvPr/>
        </p:nvSpPr>
        <p:spPr>
          <a:xfrm>
            <a:off x="4281638" y="11377995"/>
            <a:ext cx="7017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15">
                <a:solidFill>
                  <a:schemeClr val="dk2"/>
                </a:solidFill>
              </a:rPr>
              <a:t>NO</a:t>
            </a:r>
            <a:endParaRPr b="1" sz="315">
              <a:solidFill>
                <a:schemeClr val="dk2"/>
              </a:solidFill>
            </a:endParaRPr>
          </a:p>
        </p:txBody>
      </p:sp>
      <p:cxnSp>
        <p:nvCxnSpPr>
          <p:cNvPr id="631" name="Google Shape;631;p24"/>
          <p:cNvCxnSpPr>
            <a:stCxn id="627" idx="2"/>
            <a:endCxn id="604" idx="0"/>
          </p:cNvCxnSpPr>
          <p:nvPr/>
        </p:nvCxnSpPr>
        <p:spPr>
          <a:xfrm>
            <a:off x="2097738" y="12580289"/>
            <a:ext cx="0" cy="69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633575" y="1353908"/>
            <a:ext cx="3405534" cy="12727250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25"/>
          <p:cNvSpPr txBox="1"/>
          <p:nvPr/>
        </p:nvSpPr>
        <p:spPr>
          <a:xfrm>
            <a:off x="163500" y="152136"/>
            <a:ext cx="6873000" cy="461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lt1"/>
                </a:solidFill>
              </a:rPr>
              <a:t>9. 충전 시작 - 완료 - 결제 프로세스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638" name="Google Shape;638;p25"/>
          <p:cNvSpPr/>
          <p:nvPr/>
        </p:nvSpPr>
        <p:spPr>
          <a:xfrm>
            <a:off x="166525" y="754976"/>
            <a:ext cx="1436100" cy="2730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700"/>
              <a:t>클라이언트</a:t>
            </a:r>
            <a:endParaRPr b="1" sz="700"/>
          </a:p>
        </p:txBody>
      </p:sp>
      <p:sp>
        <p:nvSpPr>
          <p:cNvPr id="639" name="Google Shape;639;p25"/>
          <p:cNvSpPr/>
          <p:nvPr/>
        </p:nvSpPr>
        <p:spPr>
          <a:xfrm>
            <a:off x="3781457" y="754976"/>
            <a:ext cx="1440000" cy="2730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700"/>
              <a:t>백엔드 서버</a:t>
            </a:r>
            <a:endParaRPr b="1" sz="700"/>
          </a:p>
        </p:txBody>
      </p:sp>
      <p:sp>
        <p:nvSpPr>
          <p:cNvPr id="640" name="Google Shape;640;p25"/>
          <p:cNvSpPr/>
          <p:nvPr/>
        </p:nvSpPr>
        <p:spPr>
          <a:xfrm>
            <a:off x="170390" y="19045033"/>
            <a:ext cx="1436100" cy="2730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700">
                <a:solidFill>
                  <a:srgbClr val="000000"/>
                </a:solidFill>
              </a:rPr>
              <a:t>클라이언트</a:t>
            </a:r>
            <a:endParaRPr b="1" sz="700"/>
          </a:p>
        </p:txBody>
      </p:sp>
      <p:sp>
        <p:nvSpPr>
          <p:cNvPr id="641" name="Google Shape;641;p25"/>
          <p:cNvSpPr/>
          <p:nvPr/>
        </p:nvSpPr>
        <p:spPr>
          <a:xfrm>
            <a:off x="3782746" y="19045033"/>
            <a:ext cx="1440000" cy="2730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ko" sz="700">
                <a:solidFill>
                  <a:srgbClr val="000000"/>
                </a:solidFill>
              </a:rPr>
              <a:t>백엔드 서버</a:t>
            </a:r>
            <a:endParaRPr b="1" sz="700">
              <a:solidFill>
                <a:srgbClr val="000000"/>
              </a:solidFill>
            </a:endParaRPr>
          </a:p>
        </p:txBody>
      </p:sp>
      <p:cxnSp>
        <p:nvCxnSpPr>
          <p:cNvPr id="642" name="Google Shape;642;p25"/>
          <p:cNvCxnSpPr>
            <a:stCxn id="638" idx="2"/>
            <a:endCxn id="640" idx="0"/>
          </p:cNvCxnSpPr>
          <p:nvPr/>
        </p:nvCxnSpPr>
        <p:spPr>
          <a:xfrm>
            <a:off x="884575" y="1027976"/>
            <a:ext cx="3900" cy="180171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3" name="Google Shape;643;p25"/>
          <p:cNvCxnSpPr>
            <a:stCxn id="639" idx="2"/>
            <a:endCxn id="641" idx="0"/>
          </p:cNvCxnSpPr>
          <p:nvPr/>
        </p:nvCxnSpPr>
        <p:spPr>
          <a:xfrm>
            <a:off x="4501457" y="1027976"/>
            <a:ext cx="1200" cy="180171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4" name="Google Shape;644;p25"/>
          <p:cNvSpPr/>
          <p:nvPr/>
        </p:nvSpPr>
        <p:spPr>
          <a:xfrm>
            <a:off x="1972941" y="754976"/>
            <a:ext cx="1438200" cy="2730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700"/>
              <a:t>하드웨어</a:t>
            </a:r>
            <a:endParaRPr b="1" sz="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700"/>
              <a:t>(COSTEL)</a:t>
            </a:r>
            <a:endParaRPr b="1" sz="700"/>
          </a:p>
        </p:txBody>
      </p:sp>
      <p:cxnSp>
        <p:nvCxnSpPr>
          <p:cNvPr id="645" name="Google Shape;645;p25"/>
          <p:cNvCxnSpPr>
            <a:stCxn id="644" idx="2"/>
            <a:endCxn id="646" idx="0"/>
          </p:cNvCxnSpPr>
          <p:nvPr/>
        </p:nvCxnSpPr>
        <p:spPr>
          <a:xfrm>
            <a:off x="2692041" y="1027976"/>
            <a:ext cx="2700" cy="180171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6" name="Google Shape;646;p25"/>
          <p:cNvSpPr/>
          <p:nvPr/>
        </p:nvSpPr>
        <p:spPr>
          <a:xfrm>
            <a:off x="1975518" y="19045025"/>
            <a:ext cx="1438200" cy="2730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700"/>
              <a:t>하드웨어</a:t>
            </a:r>
            <a:endParaRPr b="1" sz="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700"/>
              <a:t>(</a:t>
            </a:r>
            <a:r>
              <a:rPr b="1" lang="ko" sz="700">
                <a:solidFill>
                  <a:srgbClr val="000000"/>
                </a:solidFill>
              </a:rPr>
              <a:t>NANCOME</a:t>
            </a:r>
            <a:r>
              <a:rPr b="1" lang="ko" sz="700"/>
              <a:t>)</a:t>
            </a:r>
            <a:endParaRPr b="1" sz="700"/>
          </a:p>
        </p:txBody>
      </p:sp>
      <p:sp>
        <p:nvSpPr>
          <p:cNvPr id="647" name="Google Shape;647;p25"/>
          <p:cNvSpPr txBox="1"/>
          <p:nvPr/>
        </p:nvSpPr>
        <p:spPr>
          <a:xfrm>
            <a:off x="166525" y="1162226"/>
            <a:ext cx="6846300" cy="182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36000" lIns="91425" spcFirstLastPara="1" rIns="91425" wrap="square" tIns="1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FFFF"/>
                </a:solidFill>
              </a:rPr>
              <a:t>Phase 1: QR 스캔 (기기 인식 및 상태 검증)</a:t>
            </a:r>
            <a:endParaRPr b="1" sz="800">
              <a:solidFill>
                <a:srgbClr val="FFFFFF"/>
              </a:solidFill>
            </a:endParaRPr>
          </a:p>
        </p:txBody>
      </p:sp>
      <p:cxnSp>
        <p:nvCxnSpPr>
          <p:cNvPr id="648" name="Google Shape;648;p25"/>
          <p:cNvCxnSpPr/>
          <p:nvPr/>
        </p:nvCxnSpPr>
        <p:spPr>
          <a:xfrm>
            <a:off x="854737" y="1534057"/>
            <a:ext cx="3652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649" name="Google Shape;649;p25"/>
          <p:cNvSpPr txBox="1"/>
          <p:nvPr/>
        </p:nvSpPr>
        <p:spPr>
          <a:xfrm>
            <a:off x="926685" y="1374281"/>
            <a:ext cx="2394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QR 스캔 API 요청 (충전기 ID)</a:t>
            </a:r>
            <a:endParaRPr sz="800">
              <a:solidFill>
                <a:srgbClr val="595959"/>
              </a:solidFill>
            </a:endParaRPr>
          </a:p>
        </p:txBody>
      </p:sp>
      <p:cxnSp>
        <p:nvCxnSpPr>
          <p:cNvPr id="650" name="Google Shape;650;p25"/>
          <p:cNvCxnSpPr/>
          <p:nvPr/>
        </p:nvCxnSpPr>
        <p:spPr>
          <a:xfrm>
            <a:off x="4473204" y="7094416"/>
            <a:ext cx="1833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51" name="Google Shape;651;p25"/>
          <p:cNvCxnSpPr/>
          <p:nvPr/>
        </p:nvCxnSpPr>
        <p:spPr>
          <a:xfrm>
            <a:off x="2693500" y="6033103"/>
            <a:ext cx="18417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triangle"/>
            <a:tailEnd len="med" w="med" type="oval"/>
          </a:ln>
        </p:spPr>
      </p:cxnSp>
      <p:sp>
        <p:nvSpPr>
          <p:cNvPr id="652" name="Google Shape;652;p25"/>
          <p:cNvSpPr/>
          <p:nvPr/>
        </p:nvSpPr>
        <p:spPr>
          <a:xfrm>
            <a:off x="5591773" y="754976"/>
            <a:ext cx="1440000" cy="2730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700"/>
              <a:t>DB</a:t>
            </a:r>
            <a:endParaRPr b="1" sz="700"/>
          </a:p>
        </p:txBody>
      </p:sp>
      <p:sp>
        <p:nvSpPr>
          <p:cNvPr id="653" name="Google Shape;653;p25"/>
          <p:cNvSpPr/>
          <p:nvPr/>
        </p:nvSpPr>
        <p:spPr>
          <a:xfrm>
            <a:off x="5591773" y="19045033"/>
            <a:ext cx="1440000" cy="2730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700"/>
              <a:t>DB</a:t>
            </a:r>
            <a:endParaRPr b="1" sz="700">
              <a:solidFill>
                <a:srgbClr val="000000"/>
              </a:solidFill>
            </a:endParaRPr>
          </a:p>
        </p:txBody>
      </p:sp>
      <p:cxnSp>
        <p:nvCxnSpPr>
          <p:cNvPr id="654" name="Google Shape;654;p25"/>
          <p:cNvCxnSpPr>
            <a:stCxn id="652" idx="2"/>
            <a:endCxn id="653" idx="0"/>
          </p:cNvCxnSpPr>
          <p:nvPr/>
        </p:nvCxnSpPr>
        <p:spPr>
          <a:xfrm>
            <a:off x="6311773" y="1027976"/>
            <a:ext cx="0" cy="180171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5" name="Google Shape;655;p25"/>
          <p:cNvSpPr txBox="1"/>
          <p:nvPr/>
        </p:nvSpPr>
        <p:spPr>
          <a:xfrm>
            <a:off x="166525" y="4064055"/>
            <a:ext cx="6846300" cy="182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36000" lIns="91425" spcFirstLastPara="1" rIns="91425" wrap="square" tIns="1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FFFF"/>
                </a:solidFill>
              </a:rPr>
              <a:t>Phase 2: 결제 권한 검증 (사용자 Wallet 확인)</a:t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656" name="Google Shape;656;p25"/>
          <p:cNvSpPr txBox="1"/>
          <p:nvPr/>
        </p:nvSpPr>
        <p:spPr>
          <a:xfrm>
            <a:off x="166525" y="5614720"/>
            <a:ext cx="6846300" cy="182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36000" lIns="91425" spcFirstLastPara="1" rIns="91425" wrap="square" tIns="1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FFFF"/>
                </a:solidFill>
              </a:rPr>
              <a:t>Phase 3: 원격 충전 제어 및 시작 (OCCP 통신)</a:t>
            </a:r>
            <a:endParaRPr b="1" sz="800">
              <a:solidFill>
                <a:srgbClr val="FFFFFF"/>
              </a:solidFill>
            </a:endParaRPr>
          </a:p>
        </p:txBody>
      </p:sp>
      <p:cxnSp>
        <p:nvCxnSpPr>
          <p:cNvPr id="657" name="Google Shape;657;p25"/>
          <p:cNvCxnSpPr/>
          <p:nvPr/>
        </p:nvCxnSpPr>
        <p:spPr>
          <a:xfrm>
            <a:off x="4471315" y="1713257"/>
            <a:ext cx="18450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658" name="Google Shape;658;p25"/>
          <p:cNvSpPr txBox="1"/>
          <p:nvPr/>
        </p:nvSpPr>
        <p:spPr>
          <a:xfrm>
            <a:off x="4543272" y="1547518"/>
            <a:ext cx="1720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QR 스캔 API 요청 (충전기 ID)</a:t>
            </a:r>
            <a:endParaRPr sz="800">
              <a:solidFill>
                <a:srgbClr val="595959"/>
              </a:solidFill>
            </a:endParaRPr>
          </a:p>
        </p:txBody>
      </p:sp>
      <p:cxnSp>
        <p:nvCxnSpPr>
          <p:cNvPr id="659" name="Google Shape;659;p25"/>
          <p:cNvCxnSpPr/>
          <p:nvPr/>
        </p:nvCxnSpPr>
        <p:spPr>
          <a:xfrm>
            <a:off x="4501529" y="4677654"/>
            <a:ext cx="18402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round/>
            <a:headEnd len="med" w="med" type="triangle"/>
            <a:tailEnd len="med" w="med" type="oval"/>
          </a:ln>
        </p:spPr>
      </p:cxnSp>
      <p:sp>
        <p:nvSpPr>
          <p:cNvPr id="660" name="Google Shape;660;p25"/>
          <p:cNvSpPr txBox="1"/>
          <p:nvPr/>
        </p:nvSpPr>
        <p:spPr>
          <a:xfrm>
            <a:off x="4543272" y="4504627"/>
            <a:ext cx="1720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잔액 데이터 반환</a:t>
            </a:r>
            <a:endParaRPr sz="800">
              <a:solidFill>
                <a:srgbClr val="595959"/>
              </a:solidFill>
            </a:endParaRPr>
          </a:p>
        </p:txBody>
      </p:sp>
      <p:grpSp>
        <p:nvGrpSpPr>
          <p:cNvPr id="661" name="Google Shape;661;p25"/>
          <p:cNvGrpSpPr/>
          <p:nvPr/>
        </p:nvGrpSpPr>
        <p:grpSpPr>
          <a:xfrm>
            <a:off x="170624" y="8646824"/>
            <a:ext cx="4392149" cy="2448165"/>
            <a:chOff x="4275648" y="7193708"/>
            <a:chExt cx="3483621" cy="1155013"/>
          </a:xfrm>
        </p:grpSpPr>
        <p:sp>
          <p:nvSpPr>
            <p:cNvPr id="662" name="Google Shape;662;p25"/>
            <p:cNvSpPr/>
            <p:nvPr/>
          </p:nvSpPr>
          <p:spPr>
            <a:xfrm>
              <a:off x="4275668" y="7193720"/>
              <a:ext cx="3483600" cy="11550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25"/>
            <p:cNvSpPr/>
            <p:nvPr/>
          </p:nvSpPr>
          <p:spPr>
            <a:xfrm>
              <a:off x="4275648" y="7193708"/>
              <a:ext cx="479100" cy="678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700">
                  <a:solidFill>
                    <a:schemeClr val="lt1"/>
                  </a:solidFill>
                </a:rPr>
                <a:t>loop</a:t>
              </a:r>
              <a:endParaRPr b="1" sz="700">
                <a:solidFill>
                  <a:schemeClr val="lt1"/>
                </a:solidFill>
              </a:endParaRPr>
            </a:p>
          </p:txBody>
        </p:sp>
      </p:grpSp>
      <p:grpSp>
        <p:nvGrpSpPr>
          <p:cNvPr id="664" name="Google Shape;664;p25"/>
          <p:cNvGrpSpPr/>
          <p:nvPr/>
        </p:nvGrpSpPr>
        <p:grpSpPr>
          <a:xfrm>
            <a:off x="170939" y="2005031"/>
            <a:ext cx="4392148" cy="431997"/>
            <a:chOff x="170939" y="1852631"/>
            <a:chExt cx="4392148" cy="431997"/>
          </a:xfrm>
        </p:grpSpPr>
        <p:grpSp>
          <p:nvGrpSpPr>
            <p:cNvPr id="665" name="Google Shape;665;p25"/>
            <p:cNvGrpSpPr/>
            <p:nvPr/>
          </p:nvGrpSpPr>
          <p:grpSpPr>
            <a:xfrm>
              <a:off x="170939" y="1852631"/>
              <a:ext cx="4392148" cy="431997"/>
              <a:chOff x="4275648" y="7193708"/>
              <a:chExt cx="3483620" cy="198601"/>
            </a:xfrm>
          </p:grpSpPr>
          <p:sp>
            <p:nvSpPr>
              <p:cNvPr id="666" name="Google Shape;666;p25"/>
              <p:cNvSpPr/>
              <p:nvPr/>
            </p:nvSpPr>
            <p:spPr>
              <a:xfrm>
                <a:off x="4275667" y="7193709"/>
                <a:ext cx="3483600" cy="1986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7" name="Google Shape;667;p25"/>
              <p:cNvSpPr/>
              <p:nvPr/>
            </p:nvSpPr>
            <p:spPr>
              <a:xfrm>
                <a:off x="4275648" y="7193708"/>
                <a:ext cx="479100" cy="65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" sz="700">
                    <a:solidFill>
                      <a:schemeClr val="lt1"/>
                    </a:solidFill>
                  </a:rPr>
                  <a:t>break</a:t>
                </a:r>
                <a:endParaRPr b="1" sz="700">
                  <a:solidFill>
                    <a:schemeClr val="lt1"/>
                  </a:solidFill>
                </a:endParaRPr>
              </a:p>
            </p:txBody>
          </p:sp>
        </p:grpSp>
        <p:sp>
          <p:nvSpPr>
            <p:cNvPr id="668" name="Google Shape;668;p25"/>
            <p:cNvSpPr txBox="1"/>
            <p:nvPr/>
          </p:nvSpPr>
          <p:spPr>
            <a:xfrm>
              <a:off x="926675" y="1854340"/>
              <a:ext cx="15909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800">
                  <a:solidFill>
                    <a:schemeClr val="dk2"/>
                  </a:solidFill>
                </a:rPr>
                <a:t>[ 미등록 기기 ]</a:t>
              </a:r>
              <a:endParaRPr b="1" sz="800">
                <a:solidFill>
                  <a:srgbClr val="595959"/>
                </a:solidFill>
              </a:endParaRPr>
            </a:p>
          </p:txBody>
        </p:sp>
        <p:cxnSp>
          <p:nvCxnSpPr>
            <p:cNvPr id="669" name="Google Shape;669;p25"/>
            <p:cNvCxnSpPr/>
            <p:nvPr/>
          </p:nvCxnSpPr>
          <p:spPr>
            <a:xfrm>
              <a:off x="892025" y="2218143"/>
              <a:ext cx="3638100" cy="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dash"/>
              <a:round/>
              <a:headEnd len="med" w="med" type="triangle"/>
              <a:tailEnd len="med" w="med" type="oval"/>
            </a:ln>
          </p:spPr>
        </p:cxnSp>
        <p:sp>
          <p:nvSpPr>
            <p:cNvPr id="670" name="Google Shape;670;p25"/>
            <p:cNvSpPr txBox="1"/>
            <p:nvPr/>
          </p:nvSpPr>
          <p:spPr>
            <a:xfrm>
              <a:off x="972134" y="2043512"/>
              <a:ext cx="34554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>
                  <a:solidFill>
                    <a:srgbClr val="595959"/>
                  </a:solidFill>
                </a:rPr>
                <a:t>에러 응답 (HTTP 404 -등록되지 않거나 잘못된 QR입니다)</a:t>
              </a:r>
              <a:endParaRPr sz="800">
                <a:solidFill>
                  <a:srgbClr val="595959"/>
                </a:solidFill>
              </a:endParaRPr>
            </a:p>
          </p:txBody>
        </p:sp>
      </p:grpSp>
      <p:cxnSp>
        <p:nvCxnSpPr>
          <p:cNvPr id="671" name="Google Shape;671;p25"/>
          <p:cNvCxnSpPr/>
          <p:nvPr/>
        </p:nvCxnSpPr>
        <p:spPr>
          <a:xfrm>
            <a:off x="4471315" y="4446569"/>
            <a:ext cx="18450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672" name="Google Shape;672;p25"/>
          <p:cNvSpPr txBox="1"/>
          <p:nvPr/>
        </p:nvSpPr>
        <p:spPr>
          <a:xfrm>
            <a:off x="4543272" y="4281084"/>
            <a:ext cx="1720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사용자 Wallet 잔액 조회</a:t>
            </a:r>
            <a:endParaRPr sz="800">
              <a:solidFill>
                <a:srgbClr val="595959"/>
              </a:solidFill>
            </a:endParaRPr>
          </a:p>
        </p:txBody>
      </p:sp>
      <p:sp>
        <p:nvSpPr>
          <p:cNvPr id="673" name="Google Shape;673;p25"/>
          <p:cNvSpPr txBox="1"/>
          <p:nvPr/>
        </p:nvSpPr>
        <p:spPr>
          <a:xfrm>
            <a:off x="1942900" y="6384411"/>
            <a:ext cx="14994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커넥터 잠금 및 전력 공급 시작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674" name="Google Shape;674;p25"/>
          <p:cNvSpPr txBox="1"/>
          <p:nvPr/>
        </p:nvSpPr>
        <p:spPr>
          <a:xfrm>
            <a:off x="166525" y="8409896"/>
            <a:ext cx="6846300" cy="182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36000" lIns="91425" spcFirstLastPara="1" rIns="91425" wrap="square" tIns="1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FFFF"/>
                </a:solidFill>
              </a:rPr>
              <a:t>Phase 4: 충전 중 실시간 데이터 동기화</a:t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675" name="Google Shape;675;p25"/>
          <p:cNvSpPr txBox="1"/>
          <p:nvPr/>
        </p:nvSpPr>
        <p:spPr>
          <a:xfrm>
            <a:off x="2786830" y="5837964"/>
            <a:ext cx="1640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RemoteStartTransaction.req (idTag)</a:t>
            </a:r>
            <a:endParaRPr sz="800">
              <a:solidFill>
                <a:srgbClr val="595959"/>
              </a:solidFill>
            </a:endParaRPr>
          </a:p>
        </p:txBody>
      </p:sp>
      <p:cxnSp>
        <p:nvCxnSpPr>
          <p:cNvPr id="676" name="Google Shape;676;p25"/>
          <p:cNvCxnSpPr/>
          <p:nvPr/>
        </p:nvCxnSpPr>
        <p:spPr>
          <a:xfrm>
            <a:off x="2663750" y="6292824"/>
            <a:ext cx="1843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round/>
            <a:headEnd len="med" w="med" type="oval"/>
            <a:tailEnd len="med" w="med" type="triangle"/>
          </a:ln>
        </p:spPr>
      </p:cxnSp>
      <p:sp>
        <p:nvSpPr>
          <p:cNvPr id="677" name="Google Shape;677;p25"/>
          <p:cNvSpPr txBox="1"/>
          <p:nvPr/>
        </p:nvSpPr>
        <p:spPr>
          <a:xfrm>
            <a:off x="2786825" y="6097975"/>
            <a:ext cx="1918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RemoteStartTransaction.conf (Accepted)</a:t>
            </a:r>
            <a:endParaRPr sz="800">
              <a:solidFill>
                <a:srgbClr val="595959"/>
              </a:solidFill>
            </a:endParaRPr>
          </a:p>
        </p:txBody>
      </p:sp>
      <p:sp>
        <p:nvSpPr>
          <p:cNvPr id="678" name="Google Shape;678;p25"/>
          <p:cNvSpPr txBox="1"/>
          <p:nvPr/>
        </p:nvSpPr>
        <p:spPr>
          <a:xfrm>
            <a:off x="4396750" y="5221322"/>
            <a:ext cx="20481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모든 검증 통과: 가상 idTag 생성 및 세션 초기화</a:t>
            </a:r>
            <a:endParaRPr sz="800">
              <a:solidFill>
                <a:schemeClr val="dk2"/>
              </a:solidFill>
            </a:endParaRPr>
          </a:p>
        </p:txBody>
      </p:sp>
      <p:cxnSp>
        <p:nvCxnSpPr>
          <p:cNvPr id="679" name="Google Shape;679;p25"/>
          <p:cNvCxnSpPr/>
          <p:nvPr/>
        </p:nvCxnSpPr>
        <p:spPr>
          <a:xfrm>
            <a:off x="2661400" y="6825207"/>
            <a:ext cx="1845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680" name="Google Shape;680;p25"/>
          <p:cNvSpPr txBox="1"/>
          <p:nvPr/>
        </p:nvSpPr>
        <p:spPr>
          <a:xfrm>
            <a:off x="2786975" y="6637309"/>
            <a:ext cx="2661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StartTransaction.req (idTag, meterStart, timestamp)</a:t>
            </a:r>
            <a:endParaRPr sz="800">
              <a:solidFill>
                <a:srgbClr val="595959"/>
              </a:solidFill>
            </a:endParaRPr>
          </a:p>
        </p:txBody>
      </p:sp>
      <p:sp>
        <p:nvSpPr>
          <p:cNvPr id="681" name="Google Shape;681;p25"/>
          <p:cNvSpPr txBox="1"/>
          <p:nvPr/>
        </p:nvSpPr>
        <p:spPr>
          <a:xfrm>
            <a:off x="4543278" y="6905137"/>
            <a:ext cx="1667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Transaction 생성 (transaction 채번)</a:t>
            </a:r>
            <a:endParaRPr sz="800">
              <a:solidFill>
                <a:srgbClr val="595959"/>
              </a:solidFill>
            </a:endParaRPr>
          </a:p>
        </p:txBody>
      </p:sp>
      <p:cxnSp>
        <p:nvCxnSpPr>
          <p:cNvPr id="682" name="Google Shape;682;p25"/>
          <p:cNvCxnSpPr/>
          <p:nvPr/>
        </p:nvCxnSpPr>
        <p:spPr>
          <a:xfrm>
            <a:off x="2696375" y="7373947"/>
            <a:ext cx="18387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round/>
            <a:headEnd len="med" w="med" type="triangle"/>
            <a:tailEnd len="med" w="med" type="oval"/>
          </a:ln>
        </p:spPr>
      </p:cxnSp>
      <p:sp>
        <p:nvSpPr>
          <p:cNvPr id="683" name="Google Shape;683;p25"/>
          <p:cNvSpPr txBox="1"/>
          <p:nvPr/>
        </p:nvSpPr>
        <p:spPr>
          <a:xfrm>
            <a:off x="2786825" y="7168621"/>
            <a:ext cx="2394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StartTransaction.conf (transactionId, Accepted)</a:t>
            </a:r>
            <a:endParaRPr sz="800">
              <a:solidFill>
                <a:srgbClr val="595959"/>
              </a:solidFill>
            </a:endParaRPr>
          </a:p>
        </p:txBody>
      </p:sp>
      <p:cxnSp>
        <p:nvCxnSpPr>
          <p:cNvPr id="684" name="Google Shape;684;p25"/>
          <p:cNvCxnSpPr/>
          <p:nvPr/>
        </p:nvCxnSpPr>
        <p:spPr>
          <a:xfrm>
            <a:off x="2662125" y="7637461"/>
            <a:ext cx="18450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685" name="Google Shape;685;p25"/>
          <p:cNvSpPr txBox="1"/>
          <p:nvPr/>
        </p:nvSpPr>
        <p:spPr>
          <a:xfrm>
            <a:off x="2793875" y="7439691"/>
            <a:ext cx="2088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StatusNotification.req (status = Charging)</a:t>
            </a:r>
            <a:endParaRPr sz="800">
              <a:solidFill>
                <a:srgbClr val="595959"/>
              </a:solidFill>
            </a:endParaRPr>
          </a:p>
        </p:txBody>
      </p:sp>
      <p:cxnSp>
        <p:nvCxnSpPr>
          <p:cNvPr id="686" name="Google Shape;686;p25"/>
          <p:cNvCxnSpPr/>
          <p:nvPr/>
        </p:nvCxnSpPr>
        <p:spPr>
          <a:xfrm>
            <a:off x="2694675" y="7930031"/>
            <a:ext cx="18402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round/>
            <a:headEnd len="med" w="med" type="triangle"/>
            <a:tailEnd len="med" w="med" type="oval"/>
          </a:ln>
        </p:spPr>
      </p:cxnSp>
      <p:sp>
        <p:nvSpPr>
          <p:cNvPr id="687" name="Google Shape;687;p25"/>
          <p:cNvSpPr txBox="1"/>
          <p:nvPr/>
        </p:nvSpPr>
        <p:spPr>
          <a:xfrm>
            <a:off x="2786980" y="7724704"/>
            <a:ext cx="1640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solidFill>
                  <a:schemeClr val="dk2"/>
                </a:solidFill>
              </a:rPr>
              <a:t>StatusNotification.conf()</a:t>
            </a:r>
            <a:endParaRPr sz="800">
              <a:solidFill>
                <a:srgbClr val="595959"/>
              </a:solidFill>
            </a:endParaRPr>
          </a:p>
        </p:txBody>
      </p:sp>
      <p:cxnSp>
        <p:nvCxnSpPr>
          <p:cNvPr id="688" name="Google Shape;688;p25"/>
          <p:cNvCxnSpPr/>
          <p:nvPr/>
        </p:nvCxnSpPr>
        <p:spPr>
          <a:xfrm>
            <a:off x="876818" y="8216668"/>
            <a:ext cx="36582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round/>
            <a:headEnd len="med" w="med" type="triangle"/>
            <a:tailEnd len="med" w="med" type="oval"/>
          </a:ln>
        </p:spPr>
      </p:cxnSp>
      <p:sp>
        <p:nvSpPr>
          <p:cNvPr id="689" name="Google Shape;689;p25"/>
          <p:cNvSpPr txBox="1"/>
          <p:nvPr/>
        </p:nvSpPr>
        <p:spPr>
          <a:xfrm>
            <a:off x="972134" y="8016665"/>
            <a:ext cx="3455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충전 시작 성공 API 응답 (충전 화면 전환)</a:t>
            </a:r>
            <a:endParaRPr sz="800">
              <a:solidFill>
                <a:srgbClr val="595959"/>
              </a:solidFill>
            </a:endParaRPr>
          </a:p>
        </p:txBody>
      </p:sp>
      <p:sp>
        <p:nvSpPr>
          <p:cNvPr id="690" name="Google Shape;690;p25"/>
          <p:cNvSpPr txBox="1"/>
          <p:nvPr/>
        </p:nvSpPr>
        <p:spPr>
          <a:xfrm>
            <a:off x="2786825" y="8663699"/>
            <a:ext cx="2527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chemeClr val="dk2"/>
                </a:solidFill>
              </a:rPr>
              <a:t>[ 주기적 전송 (MeterValueSampleinterval) ]</a:t>
            </a:r>
            <a:endParaRPr b="1" sz="800">
              <a:solidFill>
                <a:srgbClr val="595959"/>
              </a:solidFill>
            </a:endParaRPr>
          </a:p>
        </p:txBody>
      </p:sp>
      <p:cxnSp>
        <p:nvCxnSpPr>
          <p:cNvPr id="691" name="Google Shape;691;p25"/>
          <p:cNvCxnSpPr/>
          <p:nvPr/>
        </p:nvCxnSpPr>
        <p:spPr>
          <a:xfrm>
            <a:off x="2661400" y="9021090"/>
            <a:ext cx="183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692" name="Google Shape;692;p25"/>
          <p:cNvSpPr txBox="1"/>
          <p:nvPr/>
        </p:nvSpPr>
        <p:spPr>
          <a:xfrm>
            <a:off x="2786823" y="8844889"/>
            <a:ext cx="2232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MeterValues.req (transactionid, 실시간 사용량)</a:t>
            </a:r>
            <a:endParaRPr sz="800">
              <a:solidFill>
                <a:srgbClr val="595959"/>
              </a:solidFill>
            </a:endParaRPr>
          </a:p>
        </p:txBody>
      </p:sp>
      <p:cxnSp>
        <p:nvCxnSpPr>
          <p:cNvPr id="693" name="Google Shape;693;p25"/>
          <p:cNvCxnSpPr/>
          <p:nvPr/>
        </p:nvCxnSpPr>
        <p:spPr>
          <a:xfrm>
            <a:off x="2695700" y="9237260"/>
            <a:ext cx="1834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round/>
            <a:headEnd len="med" w="med" type="triangle"/>
            <a:tailEnd len="med" w="med" type="oval"/>
          </a:ln>
        </p:spPr>
      </p:cxnSp>
      <p:sp>
        <p:nvSpPr>
          <p:cNvPr id="694" name="Google Shape;694;p25"/>
          <p:cNvSpPr txBox="1"/>
          <p:nvPr/>
        </p:nvSpPr>
        <p:spPr>
          <a:xfrm>
            <a:off x="2786830" y="9061059"/>
            <a:ext cx="1640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MeterValues.conf()</a:t>
            </a:r>
            <a:endParaRPr sz="800">
              <a:solidFill>
                <a:srgbClr val="595959"/>
              </a:solidFill>
            </a:endParaRPr>
          </a:p>
        </p:txBody>
      </p:sp>
      <p:cxnSp>
        <p:nvCxnSpPr>
          <p:cNvPr id="695" name="Google Shape;695;p25"/>
          <p:cNvCxnSpPr/>
          <p:nvPr/>
        </p:nvCxnSpPr>
        <p:spPr>
          <a:xfrm>
            <a:off x="892025" y="9441182"/>
            <a:ext cx="36381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round/>
            <a:headEnd len="med" w="med" type="triangle"/>
            <a:tailEnd len="med" w="med" type="oval"/>
          </a:ln>
        </p:spPr>
      </p:cxnSp>
      <p:sp>
        <p:nvSpPr>
          <p:cNvPr id="696" name="Google Shape;696;p25"/>
          <p:cNvSpPr txBox="1"/>
          <p:nvPr/>
        </p:nvSpPr>
        <p:spPr>
          <a:xfrm>
            <a:off x="972134" y="9284484"/>
            <a:ext cx="3455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실시간 충전량, 요금 업데이트 (웹소켓)</a:t>
            </a:r>
            <a:endParaRPr sz="800">
              <a:solidFill>
                <a:srgbClr val="595959"/>
              </a:solidFill>
            </a:endParaRPr>
          </a:p>
        </p:txBody>
      </p:sp>
      <p:sp>
        <p:nvSpPr>
          <p:cNvPr id="697" name="Google Shape;697;p25"/>
          <p:cNvSpPr txBox="1"/>
          <p:nvPr/>
        </p:nvSpPr>
        <p:spPr>
          <a:xfrm>
            <a:off x="166525" y="11235277"/>
            <a:ext cx="6846300" cy="182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36000" lIns="91425" spcFirstLastPara="1" rIns="91425" wrap="square" tIns="14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FFFF"/>
                </a:solidFill>
              </a:rPr>
              <a:t>Phase 5: 충전 종료 및 결제 처리</a:t>
            </a:r>
            <a:endParaRPr b="1" sz="800">
              <a:solidFill>
                <a:srgbClr val="FFFFFF"/>
              </a:solidFill>
            </a:endParaRPr>
          </a:p>
        </p:txBody>
      </p:sp>
      <p:grpSp>
        <p:nvGrpSpPr>
          <p:cNvPr id="698" name="Google Shape;698;p25"/>
          <p:cNvGrpSpPr/>
          <p:nvPr/>
        </p:nvGrpSpPr>
        <p:grpSpPr>
          <a:xfrm>
            <a:off x="170572" y="11495503"/>
            <a:ext cx="4392151" cy="5399942"/>
            <a:chOff x="4275648" y="7193708"/>
            <a:chExt cx="3483622" cy="1575613"/>
          </a:xfrm>
        </p:grpSpPr>
        <p:sp>
          <p:nvSpPr>
            <p:cNvPr id="699" name="Google Shape;699;p25"/>
            <p:cNvSpPr/>
            <p:nvPr/>
          </p:nvSpPr>
          <p:spPr>
            <a:xfrm>
              <a:off x="4275670" y="7193721"/>
              <a:ext cx="3483600" cy="1575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25"/>
            <p:cNvSpPr/>
            <p:nvPr/>
          </p:nvSpPr>
          <p:spPr>
            <a:xfrm>
              <a:off x="4275648" y="7193708"/>
              <a:ext cx="479100" cy="62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700">
                  <a:solidFill>
                    <a:schemeClr val="lt1"/>
                  </a:solidFill>
                </a:rPr>
                <a:t>alt</a:t>
              </a:r>
              <a:endParaRPr b="1" sz="700">
                <a:solidFill>
                  <a:schemeClr val="lt1"/>
                </a:solidFill>
              </a:endParaRPr>
            </a:p>
          </p:txBody>
        </p:sp>
      </p:grpSp>
      <p:sp>
        <p:nvSpPr>
          <p:cNvPr id="701" name="Google Shape;701;p25"/>
          <p:cNvSpPr txBox="1"/>
          <p:nvPr/>
        </p:nvSpPr>
        <p:spPr>
          <a:xfrm>
            <a:off x="2786825" y="11518464"/>
            <a:ext cx="1640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chemeClr val="dk2"/>
                </a:solidFill>
              </a:rPr>
              <a:t>[ 앱에서 원격 종료 ]</a:t>
            </a:r>
            <a:endParaRPr b="1" sz="800">
              <a:solidFill>
                <a:srgbClr val="595959"/>
              </a:solidFill>
            </a:endParaRPr>
          </a:p>
        </p:txBody>
      </p:sp>
      <p:cxnSp>
        <p:nvCxnSpPr>
          <p:cNvPr id="702" name="Google Shape;702;p25"/>
          <p:cNvCxnSpPr/>
          <p:nvPr/>
        </p:nvCxnSpPr>
        <p:spPr>
          <a:xfrm>
            <a:off x="853375" y="11846659"/>
            <a:ext cx="36480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703" name="Google Shape;703;p25"/>
          <p:cNvSpPr txBox="1"/>
          <p:nvPr/>
        </p:nvSpPr>
        <p:spPr>
          <a:xfrm>
            <a:off x="972125" y="11681743"/>
            <a:ext cx="3455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충전 종료 API 요청</a:t>
            </a:r>
            <a:endParaRPr sz="800">
              <a:solidFill>
                <a:srgbClr val="595959"/>
              </a:solidFill>
            </a:endParaRPr>
          </a:p>
        </p:txBody>
      </p:sp>
      <p:cxnSp>
        <p:nvCxnSpPr>
          <p:cNvPr id="704" name="Google Shape;704;p25"/>
          <p:cNvCxnSpPr/>
          <p:nvPr/>
        </p:nvCxnSpPr>
        <p:spPr>
          <a:xfrm>
            <a:off x="2695700" y="12095749"/>
            <a:ext cx="1834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triangle"/>
            <a:tailEnd len="med" w="med" type="oval"/>
          </a:ln>
        </p:spPr>
      </p:cxnSp>
      <p:sp>
        <p:nvSpPr>
          <p:cNvPr id="705" name="Google Shape;705;p25"/>
          <p:cNvSpPr txBox="1"/>
          <p:nvPr/>
        </p:nvSpPr>
        <p:spPr>
          <a:xfrm>
            <a:off x="2786830" y="11904270"/>
            <a:ext cx="1640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RemoteStopTransaction.req</a:t>
            </a:r>
            <a:endParaRPr sz="800">
              <a:solidFill>
                <a:srgbClr val="595959"/>
              </a:solidFill>
            </a:endParaRPr>
          </a:p>
        </p:txBody>
      </p:sp>
      <p:cxnSp>
        <p:nvCxnSpPr>
          <p:cNvPr id="706" name="Google Shape;706;p25"/>
          <p:cNvCxnSpPr/>
          <p:nvPr/>
        </p:nvCxnSpPr>
        <p:spPr>
          <a:xfrm>
            <a:off x="2668634" y="12345096"/>
            <a:ext cx="18387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round/>
            <a:headEnd len="med" w="med" type="oval"/>
            <a:tailEnd len="med" w="med" type="triangle"/>
          </a:ln>
        </p:spPr>
      </p:cxnSp>
      <p:sp>
        <p:nvSpPr>
          <p:cNvPr id="707" name="Google Shape;707;p25"/>
          <p:cNvSpPr txBox="1"/>
          <p:nvPr/>
        </p:nvSpPr>
        <p:spPr>
          <a:xfrm>
            <a:off x="2793874" y="12153617"/>
            <a:ext cx="1918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RemoteStopTransaction.conf(Accepted)</a:t>
            </a:r>
            <a:endParaRPr sz="800">
              <a:solidFill>
                <a:srgbClr val="595959"/>
              </a:solidFill>
            </a:endParaRPr>
          </a:p>
        </p:txBody>
      </p:sp>
      <p:sp>
        <p:nvSpPr>
          <p:cNvPr id="708" name="Google Shape;708;p25"/>
          <p:cNvSpPr txBox="1"/>
          <p:nvPr/>
        </p:nvSpPr>
        <p:spPr>
          <a:xfrm>
            <a:off x="1942900" y="12419964"/>
            <a:ext cx="14994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전력 차단 및 커넥터 잠금 해제</a:t>
            </a:r>
            <a:endParaRPr sz="800">
              <a:solidFill>
                <a:schemeClr val="dk2"/>
              </a:solidFill>
            </a:endParaRPr>
          </a:p>
        </p:txBody>
      </p:sp>
      <p:cxnSp>
        <p:nvCxnSpPr>
          <p:cNvPr id="709" name="Google Shape;709;p25"/>
          <p:cNvCxnSpPr/>
          <p:nvPr/>
        </p:nvCxnSpPr>
        <p:spPr>
          <a:xfrm>
            <a:off x="2668634" y="12842435"/>
            <a:ext cx="18387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round/>
            <a:headEnd len="med" w="med" type="oval"/>
            <a:tailEnd len="med" w="med" type="triangle"/>
          </a:ln>
        </p:spPr>
      </p:cxnSp>
      <p:sp>
        <p:nvSpPr>
          <p:cNvPr id="710" name="Google Shape;710;p25"/>
          <p:cNvSpPr txBox="1"/>
          <p:nvPr/>
        </p:nvSpPr>
        <p:spPr>
          <a:xfrm>
            <a:off x="2793874" y="12660578"/>
            <a:ext cx="1918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StopTransaction.req (reason: Remote)</a:t>
            </a:r>
            <a:endParaRPr sz="800">
              <a:solidFill>
                <a:srgbClr val="595959"/>
              </a:solidFill>
            </a:endParaRPr>
          </a:p>
        </p:txBody>
      </p:sp>
      <p:cxnSp>
        <p:nvCxnSpPr>
          <p:cNvPr id="711" name="Google Shape;711;p25"/>
          <p:cNvCxnSpPr/>
          <p:nvPr/>
        </p:nvCxnSpPr>
        <p:spPr>
          <a:xfrm>
            <a:off x="4501529" y="1935605"/>
            <a:ext cx="18402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round/>
            <a:headEnd len="med" w="med" type="triangle"/>
            <a:tailEnd len="med" w="med" type="oval"/>
          </a:ln>
        </p:spPr>
      </p:cxnSp>
      <p:sp>
        <p:nvSpPr>
          <p:cNvPr id="712" name="Google Shape;712;p25"/>
          <p:cNvSpPr txBox="1"/>
          <p:nvPr/>
        </p:nvSpPr>
        <p:spPr>
          <a:xfrm>
            <a:off x="4543272" y="1767396"/>
            <a:ext cx="1720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상태 데이터 반환</a:t>
            </a:r>
            <a:endParaRPr sz="800">
              <a:solidFill>
                <a:srgbClr val="595959"/>
              </a:solidFill>
            </a:endParaRPr>
          </a:p>
        </p:txBody>
      </p:sp>
      <p:sp>
        <p:nvSpPr>
          <p:cNvPr id="713" name="Google Shape;713;p25"/>
          <p:cNvSpPr txBox="1"/>
          <p:nvPr/>
        </p:nvSpPr>
        <p:spPr>
          <a:xfrm>
            <a:off x="2786825" y="12997881"/>
            <a:ext cx="1640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chemeClr val="dk2"/>
                </a:solidFill>
              </a:rPr>
              <a:t>[ 물리적 커넥터 분리 ]</a:t>
            </a:r>
            <a:endParaRPr b="1" sz="800">
              <a:solidFill>
                <a:srgbClr val="595959"/>
              </a:solidFill>
            </a:endParaRPr>
          </a:p>
        </p:txBody>
      </p:sp>
      <p:sp>
        <p:nvSpPr>
          <p:cNvPr id="714" name="Google Shape;714;p25"/>
          <p:cNvSpPr txBox="1"/>
          <p:nvPr/>
        </p:nvSpPr>
        <p:spPr>
          <a:xfrm>
            <a:off x="1942900" y="13163625"/>
            <a:ext cx="14994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전력 즉시 차단</a:t>
            </a:r>
            <a:endParaRPr sz="800">
              <a:solidFill>
                <a:schemeClr val="dk2"/>
              </a:solidFill>
            </a:endParaRPr>
          </a:p>
        </p:txBody>
      </p:sp>
      <p:cxnSp>
        <p:nvCxnSpPr>
          <p:cNvPr id="715" name="Google Shape;715;p25"/>
          <p:cNvCxnSpPr/>
          <p:nvPr/>
        </p:nvCxnSpPr>
        <p:spPr>
          <a:xfrm>
            <a:off x="2668634" y="13579775"/>
            <a:ext cx="18387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round/>
            <a:headEnd len="med" w="med" type="oval"/>
            <a:tailEnd len="med" w="med" type="triangle"/>
          </a:ln>
        </p:spPr>
      </p:cxnSp>
      <p:sp>
        <p:nvSpPr>
          <p:cNvPr id="716" name="Google Shape;716;p25"/>
          <p:cNvSpPr txBox="1"/>
          <p:nvPr/>
        </p:nvSpPr>
        <p:spPr>
          <a:xfrm>
            <a:off x="2793875" y="13397461"/>
            <a:ext cx="2394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StopTransaction.req (reason: EVDisconnected)</a:t>
            </a:r>
            <a:endParaRPr sz="800">
              <a:solidFill>
                <a:srgbClr val="595959"/>
              </a:solidFill>
            </a:endParaRPr>
          </a:p>
        </p:txBody>
      </p:sp>
      <p:cxnSp>
        <p:nvCxnSpPr>
          <p:cNvPr id="717" name="Google Shape;717;p25"/>
          <p:cNvCxnSpPr/>
          <p:nvPr/>
        </p:nvCxnSpPr>
        <p:spPr>
          <a:xfrm>
            <a:off x="172650" y="12923628"/>
            <a:ext cx="43347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18" name="Google Shape;718;p25"/>
          <p:cNvCxnSpPr/>
          <p:nvPr/>
        </p:nvCxnSpPr>
        <p:spPr>
          <a:xfrm>
            <a:off x="172650" y="13654329"/>
            <a:ext cx="43347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19" name="Google Shape;719;p25"/>
          <p:cNvSpPr txBox="1"/>
          <p:nvPr/>
        </p:nvSpPr>
        <p:spPr>
          <a:xfrm>
            <a:off x="2786825" y="13729635"/>
            <a:ext cx="1640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chemeClr val="dk2"/>
                </a:solidFill>
              </a:rPr>
              <a:t>[ 비상 정비 버튼 ]</a:t>
            </a:r>
            <a:endParaRPr b="1" sz="800">
              <a:solidFill>
                <a:srgbClr val="595959"/>
              </a:solidFill>
            </a:endParaRPr>
          </a:p>
        </p:txBody>
      </p:sp>
      <p:sp>
        <p:nvSpPr>
          <p:cNvPr id="720" name="Google Shape;720;p25"/>
          <p:cNvSpPr txBox="1"/>
          <p:nvPr/>
        </p:nvSpPr>
        <p:spPr>
          <a:xfrm>
            <a:off x="1942900" y="13904543"/>
            <a:ext cx="14994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하드웨어 전력 즉시 차단</a:t>
            </a:r>
            <a:endParaRPr sz="800">
              <a:solidFill>
                <a:schemeClr val="dk2"/>
              </a:solidFill>
            </a:endParaRPr>
          </a:p>
        </p:txBody>
      </p:sp>
      <p:cxnSp>
        <p:nvCxnSpPr>
          <p:cNvPr id="721" name="Google Shape;721;p25"/>
          <p:cNvCxnSpPr/>
          <p:nvPr/>
        </p:nvCxnSpPr>
        <p:spPr>
          <a:xfrm>
            <a:off x="2668634" y="14336223"/>
            <a:ext cx="18387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round/>
            <a:headEnd len="med" w="med" type="oval"/>
            <a:tailEnd len="med" w="med" type="triangle"/>
          </a:ln>
        </p:spPr>
      </p:cxnSp>
      <p:sp>
        <p:nvSpPr>
          <p:cNvPr id="722" name="Google Shape;722;p25"/>
          <p:cNvSpPr txBox="1"/>
          <p:nvPr/>
        </p:nvSpPr>
        <p:spPr>
          <a:xfrm>
            <a:off x="2793875" y="14136831"/>
            <a:ext cx="2394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StopTransaction.req (reason: EmergencyStop)</a:t>
            </a:r>
            <a:endParaRPr sz="800">
              <a:solidFill>
                <a:srgbClr val="595959"/>
              </a:solidFill>
            </a:endParaRPr>
          </a:p>
        </p:txBody>
      </p:sp>
      <p:cxnSp>
        <p:nvCxnSpPr>
          <p:cNvPr id="723" name="Google Shape;723;p25"/>
          <p:cNvCxnSpPr/>
          <p:nvPr/>
        </p:nvCxnSpPr>
        <p:spPr>
          <a:xfrm>
            <a:off x="172650" y="14410533"/>
            <a:ext cx="43347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24" name="Google Shape;724;p25"/>
          <p:cNvSpPr txBox="1"/>
          <p:nvPr/>
        </p:nvSpPr>
        <p:spPr>
          <a:xfrm>
            <a:off x="2786825" y="14486087"/>
            <a:ext cx="1640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chemeClr val="dk2"/>
                </a:solidFill>
              </a:rPr>
              <a:t>[ 완충 (BMS 제어) ]</a:t>
            </a:r>
            <a:endParaRPr b="1" sz="800">
              <a:solidFill>
                <a:srgbClr val="595959"/>
              </a:solidFill>
            </a:endParaRPr>
          </a:p>
        </p:txBody>
      </p:sp>
      <p:sp>
        <p:nvSpPr>
          <p:cNvPr id="725" name="Google Shape;725;p25"/>
          <p:cNvSpPr txBox="1"/>
          <p:nvPr/>
        </p:nvSpPr>
        <p:spPr>
          <a:xfrm>
            <a:off x="1942900" y="14647332"/>
            <a:ext cx="14994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목표량 도달 또는 차량측 전류 차단</a:t>
            </a:r>
            <a:endParaRPr sz="800">
              <a:solidFill>
                <a:schemeClr val="dk2"/>
              </a:solidFill>
            </a:endParaRPr>
          </a:p>
        </p:txBody>
      </p:sp>
      <p:cxnSp>
        <p:nvCxnSpPr>
          <p:cNvPr id="726" name="Google Shape;726;p25"/>
          <p:cNvCxnSpPr/>
          <p:nvPr/>
        </p:nvCxnSpPr>
        <p:spPr>
          <a:xfrm>
            <a:off x="2668634" y="15089877"/>
            <a:ext cx="18387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round/>
            <a:headEnd len="med" w="med" type="oval"/>
            <a:tailEnd len="med" w="med" type="triangle"/>
          </a:ln>
        </p:spPr>
      </p:cxnSp>
      <p:sp>
        <p:nvSpPr>
          <p:cNvPr id="727" name="Google Shape;727;p25"/>
          <p:cNvSpPr txBox="1"/>
          <p:nvPr/>
        </p:nvSpPr>
        <p:spPr>
          <a:xfrm>
            <a:off x="2793875" y="14898097"/>
            <a:ext cx="2394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StopTransaction.req (reason: Local / Other)</a:t>
            </a:r>
            <a:endParaRPr sz="800">
              <a:solidFill>
                <a:srgbClr val="595959"/>
              </a:solidFill>
            </a:endParaRPr>
          </a:p>
        </p:txBody>
      </p:sp>
      <p:cxnSp>
        <p:nvCxnSpPr>
          <p:cNvPr id="728" name="Google Shape;728;p25"/>
          <p:cNvCxnSpPr/>
          <p:nvPr/>
        </p:nvCxnSpPr>
        <p:spPr>
          <a:xfrm>
            <a:off x="2691178" y="17106396"/>
            <a:ext cx="18387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round/>
            <a:headEnd len="med" w="med" type="triangle"/>
            <a:tailEnd len="med" w="med" type="oval"/>
          </a:ln>
        </p:spPr>
      </p:cxnSp>
      <p:sp>
        <p:nvSpPr>
          <p:cNvPr id="729" name="Google Shape;729;p25"/>
          <p:cNvSpPr txBox="1"/>
          <p:nvPr/>
        </p:nvSpPr>
        <p:spPr>
          <a:xfrm>
            <a:off x="2793875" y="16939800"/>
            <a:ext cx="1590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StopTransaction.conf</a:t>
            </a:r>
            <a:endParaRPr sz="800">
              <a:solidFill>
                <a:srgbClr val="595959"/>
              </a:solidFill>
            </a:endParaRPr>
          </a:p>
        </p:txBody>
      </p:sp>
      <p:cxnSp>
        <p:nvCxnSpPr>
          <p:cNvPr id="730" name="Google Shape;730;p25"/>
          <p:cNvCxnSpPr/>
          <p:nvPr/>
        </p:nvCxnSpPr>
        <p:spPr>
          <a:xfrm>
            <a:off x="2668634" y="17433075"/>
            <a:ext cx="18387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731" name="Google Shape;731;p25"/>
          <p:cNvSpPr txBox="1"/>
          <p:nvPr/>
        </p:nvSpPr>
        <p:spPr>
          <a:xfrm>
            <a:off x="2793875" y="17170825"/>
            <a:ext cx="1640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StatusNotification.req (status: Available)</a:t>
            </a:r>
            <a:endParaRPr sz="800">
              <a:solidFill>
                <a:srgbClr val="595959"/>
              </a:solidFill>
            </a:endParaRPr>
          </a:p>
        </p:txBody>
      </p:sp>
      <p:cxnSp>
        <p:nvCxnSpPr>
          <p:cNvPr id="732" name="Google Shape;732;p25"/>
          <p:cNvCxnSpPr/>
          <p:nvPr/>
        </p:nvCxnSpPr>
        <p:spPr>
          <a:xfrm>
            <a:off x="2691178" y="17625228"/>
            <a:ext cx="18387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round/>
            <a:headEnd len="med" w="med" type="triangle"/>
            <a:tailEnd len="med" w="med" type="oval"/>
          </a:ln>
        </p:spPr>
      </p:cxnSp>
      <p:sp>
        <p:nvSpPr>
          <p:cNvPr id="733" name="Google Shape;733;p25"/>
          <p:cNvSpPr txBox="1"/>
          <p:nvPr/>
        </p:nvSpPr>
        <p:spPr>
          <a:xfrm>
            <a:off x="2793875" y="17458123"/>
            <a:ext cx="1590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StatusNotification</a:t>
            </a:r>
            <a:r>
              <a:rPr lang="ko" sz="800">
                <a:solidFill>
                  <a:srgbClr val="595959"/>
                </a:solidFill>
              </a:rPr>
              <a:t>.conf()</a:t>
            </a:r>
            <a:endParaRPr sz="800">
              <a:solidFill>
                <a:srgbClr val="595959"/>
              </a:solidFill>
            </a:endParaRPr>
          </a:p>
        </p:txBody>
      </p:sp>
      <p:sp>
        <p:nvSpPr>
          <p:cNvPr id="734" name="Google Shape;734;p25"/>
          <p:cNvSpPr txBox="1"/>
          <p:nvPr/>
        </p:nvSpPr>
        <p:spPr>
          <a:xfrm>
            <a:off x="3782750" y="17683433"/>
            <a:ext cx="3249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서버 내부 결제 및 영수증 처리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735" name="Google Shape;735;p25"/>
          <p:cNvSpPr txBox="1"/>
          <p:nvPr/>
        </p:nvSpPr>
        <p:spPr>
          <a:xfrm>
            <a:off x="3345746" y="17959279"/>
            <a:ext cx="2331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과금 전력량 계산: (meterStop - meterStart) * 요금단가</a:t>
            </a:r>
            <a:endParaRPr sz="800">
              <a:solidFill>
                <a:srgbClr val="595959"/>
              </a:solidFill>
            </a:endParaRPr>
          </a:p>
        </p:txBody>
      </p:sp>
      <p:cxnSp>
        <p:nvCxnSpPr>
          <p:cNvPr id="736" name="Google Shape;736;p25"/>
          <p:cNvCxnSpPr/>
          <p:nvPr/>
        </p:nvCxnSpPr>
        <p:spPr>
          <a:xfrm>
            <a:off x="4471334" y="18283164"/>
            <a:ext cx="18387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737" name="Google Shape;737;p25"/>
          <p:cNvSpPr txBox="1"/>
          <p:nvPr/>
        </p:nvSpPr>
        <p:spPr>
          <a:xfrm>
            <a:off x="4596575" y="18124212"/>
            <a:ext cx="1720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사용자 Wallet 잔액 즉시 차감 (Update)</a:t>
            </a:r>
            <a:endParaRPr sz="800">
              <a:solidFill>
                <a:srgbClr val="595959"/>
              </a:solidFill>
            </a:endParaRPr>
          </a:p>
        </p:txBody>
      </p:sp>
      <p:cxnSp>
        <p:nvCxnSpPr>
          <p:cNvPr id="738" name="Google Shape;738;p25"/>
          <p:cNvCxnSpPr/>
          <p:nvPr/>
        </p:nvCxnSpPr>
        <p:spPr>
          <a:xfrm>
            <a:off x="4471334" y="18507441"/>
            <a:ext cx="18387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739" name="Google Shape;739;p25"/>
          <p:cNvSpPr txBox="1"/>
          <p:nvPr/>
        </p:nvSpPr>
        <p:spPr>
          <a:xfrm>
            <a:off x="4596575" y="18348489"/>
            <a:ext cx="1720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영수증 데이터 저장</a:t>
            </a:r>
            <a:endParaRPr sz="800">
              <a:solidFill>
                <a:srgbClr val="595959"/>
              </a:solidFill>
            </a:endParaRPr>
          </a:p>
        </p:txBody>
      </p:sp>
      <p:cxnSp>
        <p:nvCxnSpPr>
          <p:cNvPr id="740" name="Google Shape;740;p25"/>
          <p:cNvCxnSpPr/>
          <p:nvPr/>
        </p:nvCxnSpPr>
        <p:spPr>
          <a:xfrm>
            <a:off x="4505211" y="18715623"/>
            <a:ext cx="18387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round/>
            <a:headEnd len="med" w="med" type="triangle"/>
            <a:tailEnd len="med" w="med" type="oval"/>
          </a:ln>
        </p:spPr>
      </p:cxnSp>
      <p:sp>
        <p:nvSpPr>
          <p:cNvPr id="741" name="Google Shape;741;p25"/>
          <p:cNvSpPr txBox="1"/>
          <p:nvPr/>
        </p:nvSpPr>
        <p:spPr>
          <a:xfrm>
            <a:off x="4607908" y="18556688"/>
            <a:ext cx="1590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트랜잭션 커밋 완료</a:t>
            </a:r>
            <a:endParaRPr sz="800">
              <a:solidFill>
                <a:srgbClr val="595959"/>
              </a:solidFill>
            </a:endParaRPr>
          </a:p>
        </p:txBody>
      </p:sp>
      <p:cxnSp>
        <p:nvCxnSpPr>
          <p:cNvPr id="742" name="Google Shape;742;p25"/>
          <p:cNvCxnSpPr/>
          <p:nvPr/>
        </p:nvCxnSpPr>
        <p:spPr>
          <a:xfrm>
            <a:off x="891425" y="18968207"/>
            <a:ext cx="3627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round/>
            <a:headEnd len="med" w="med" type="triangle"/>
            <a:tailEnd len="med" w="med" type="oval"/>
          </a:ln>
        </p:spPr>
      </p:cxnSp>
      <p:sp>
        <p:nvSpPr>
          <p:cNvPr id="743" name="Google Shape;743;p25"/>
          <p:cNvSpPr txBox="1"/>
          <p:nvPr/>
        </p:nvSpPr>
        <p:spPr>
          <a:xfrm>
            <a:off x="994308" y="18793864"/>
            <a:ext cx="1590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충전 완료 푸시 알림 및 영수증 반환</a:t>
            </a:r>
            <a:endParaRPr sz="800">
              <a:solidFill>
                <a:srgbClr val="595959"/>
              </a:solidFill>
            </a:endParaRPr>
          </a:p>
        </p:txBody>
      </p:sp>
      <p:grpSp>
        <p:nvGrpSpPr>
          <p:cNvPr id="744" name="Google Shape;744;p25"/>
          <p:cNvGrpSpPr/>
          <p:nvPr/>
        </p:nvGrpSpPr>
        <p:grpSpPr>
          <a:xfrm>
            <a:off x="170939" y="2482622"/>
            <a:ext cx="4392148" cy="431997"/>
            <a:chOff x="170939" y="1852631"/>
            <a:chExt cx="4392148" cy="431997"/>
          </a:xfrm>
        </p:grpSpPr>
        <p:grpSp>
          <p:nvGrpSpPr>
            <p:cNvPr id="745" name="Google Shape;745;p25"/>
            <p:cNvGrpSpPr/>
            <p:nvPr/>
          </p:nvGrpSpPr>
          <p:grpSpPr>
            <a:xfrm>
              <a:off x="170939" y="1852631"/>
              <a:ext cx="4392148" cy="431997"/>
              <a:chOff x="4275648" y="7193708"/>
              <a:chExt cx="3483620" cy="198601"/>
            </a:xfrm>
          </p:grpSpPr>
          <p:sp>
            <p:nvSpPr>
              <p:cNvPr id="746" name="Google Shape;746;p25"/>
              <p:cNvSpPr/>
              <p:nvPr/>
            </p:nvSpPr>
            <p:spPr>
              <a:xfrm>
                <a:off x="4275667" y="7193709"/>
                <a:ext cx="3483600" cy="1986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7" name="Google Shape;747;p25"/>
              <p:cNvSpPr/>
              <p:nvPr/>
            </p:nvSpPr>
            <p:spPr>
              <a:xfrm>
                <a:off x="4275648" y="7193708"/>
                <a:ext cx="479100" cy="65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" sz="700">
                    <a:solidFill>
                      <a:schemeClr val="lt1"/>
                    </a:solidFill>
                  </a:rPr>
                  <a:t>break</a:t>
                </a:r>
                <a:endParaRPr b="1" sz="700">
                  <a:solidFill>
                    <a:schemeClr val="lt1"/>
                  </a:solidFill>
                </a:endParaRPr>
              </a:p>
            </p:txBody>
          </p:sp>
        </p:grpSp>
        <p:sp>
          <p:nvSpPr>
            <p:cNvPr id="748" name="Google Shape;748;p25"/>
            <p:cNvSpPr txBox="1"/>
            <p:nvPr/>
          </p:nvSpPr>
          <p:spPr>
            <a:xfrm>
              <a:off x="926675" y="1854340"/>
              <a:ext cx="15909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800">
                  <a:solidFill>
                    <a:schemeClr val="dk2"/>
                  </a:solidFill>
                </a:rPr>
                <a:t>[ 기기 고장 (status: Faulted) ]</a:t>
              </a:r>
              <a:endParaRPr b="1" sz="800">
                <a:solidFill>
                  <a:schemeClr val="dk2"/>
                </a:solidFill>
              </a:endParaRPr>
            </a:p>
          </p:txBody>
        </p:sp>
        <p:cxnSp>
          <p:nvCxnSpPr>
            <p:cNvPr id="749" name="Google Shape;749;p25"/>
            <p:cNvCxnSpPr/>
            <p:nvPr/>
          </p:nvCxnSpPr>
          <p:spPr>
            <a:xfrm>
              <a:off x="892025" y="2218143"/>
              <a:ext cx="3638100" cy="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dash"/>
              <a:round/>
              <a:headEnd len="med" w="med" type="triangle"/>
              <a:tailEnd len="med" w="med" type="oval"/>
            </a:ln>
          </p:spPr>
        </p:cxnSp>
        <p:sp>
          <p:nvSpPr>
            <p:cNvPr id="750" name="Google Shape;750;p25"/>
            <p:cNvSpPr txBox="1"/>
            <p:nvPr/>
          </p:nvSpPr>
          <p:spPr>
            <a:xfrm>
              <a:off x="972134" y="2043512"/>
              <a:ext cx="34554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>
                  <a:solidFill>
                    <a:schemeClr val="dk2"/>
                  </a:solidFill>
                </a:rPr>
                <a:t>에러 응답 (HTTP 500 또는 409 - 기기 고장으로 사용 불가)</a:t>
              </a:r>
              <a:endParaRPr sz="800">
                <a:solidFill>
                  <a:srgbClr val="595959"/>
                </a:solidFill>
              </a:endParaRPr>
            </a:p>
          </p:txBody>
        </p:sp>
      </p:grpSp>
      <p:grpSp>
        <p:nvGrpSpPr>
          <p:cNvPr id="751" name="Google Shape;751;p25"/>
          <p:cNvGrpSpPr/>
          <p:nvPr/>
        </p:nvGrpSpPr>
        <p:grpSpPr>
          <a:xfrm>
            <a:off x="170939" y="2960214"/>
            <a:ext cx="4392148" cy="431997"/>
            <a:chOff x="170939" y="1852631"/>
            <a:chExt cx="4392148" cy="431997"/>
          </a:xfrm>
        </p:grpSpPr>
        <p:grpSp>
          <p:nvGrpSpPr>
            <p:cNvPr id="752" name="Google Shape;752;p25"/>
            <p:cNvGrpSpPr/>
            <p:nvPr/>
          </p:nvGrpSpPr>
          <p:grpSpPr>
            <a:xfrm>
              <a:off x="170939" y="1852631"/>
              <a:ext cx="4392148" cy="431997"/>
              <a:chOff x="4275648" y="7193708"/>
              <a:chExt cx="3483620" cy="198601"/>
            </a:xfrm>
          </p:grpSpPr>
          <p:sp>
            <p:nvSpPr>
              <p:cNvPr id="753" name="Google Shape;753;p25"/>
              <p:cNvSpPr/>
              <p:nvPr/>
            </p:nvSpPr>
            <p:spPr>
              <a:xfrm>
                <a:off x="4275667" y="7193709"/>
                <a:ext cx="3483600" cy="1986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4" name="Google Shape;754;p25"/>
              <p:cNvSpPr/>
              <p:nvPr/>
            </p:nvSpPr>
            <p:spPr>
              <a:xfrm>
                <a:off x="4275648" y="7193708"/>
                <a:ext cx="479100" cy="65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" sz="700">
                    <a:solidFill>
                      <a:schemeClr val="lt1"/>
                    </a:solidFill>
                  </a:rPr>
                  <a:t>break</a:t>
                </a:r>
                <a:endParaRPr b="1" sz="700">
                  <a:solidFill>
                    <a:schemeClr val="lt1"/>
                  </a:solidFill>
                </a:endParaRPr>
              </a:p>
            </p:txBody>
          </p:sp>
        </p:grpSp>
        <p:sp>
          <p:nvSpPr>
            <p:cNvPr id="755" name="Google Shape;755;p25"/>
            <p:cNvSpPr txBox="1"/>
            <p:nvPr/>
          </p:nvSpPr>
          <p:spPr>
            <a:xfrm>
              <a:off x="926675" y="1854350"/>
              <a:ext cx="34554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800">
                  <a:solidFill>
                    <a:schemeClr val="dk2"/>
                  </a:solidFill>
                </a:rPr>
                <a:t>[ 기기 점검 / 운영중지 (status: Unavailable) ]</a:t>
              </a:r>
              <a:endParaRPr b="1" sz="800">
                <a:solidFill>
                  <a:schemeClr val="dk2"/>
                </a:solidFill>
              </a:endParaRPr>
            </a:p>
          </p:txBody>
        </p:sp>
        <p:cxnSp>
          <p:nvCxnSpPr>
            <p:cNvPr id="756" name="Google Shape;756;p25"/>
            <p:cNvCxnSpPr/>
            <p:nvPr/>
          </p:nvCxnSpPr>
          <p:spPr>
            <a:xfrm>
              <a:off x="892025" y="2218143"/>
              <a:ext cx="3638100" cy="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dash"/>
              <a:round/>
              <a:headEnd len="med" w="med" type="triangle"/>
              <a:tailEnd len="med" w="med" type="oval"/>
            </a:ln>
          </p:spPr>
        </p:cxnSp>
        <p:sp>
          <p:nvSpPr>
            <p:cNvPr id="757" name="Google Shape;757;p25"/>
            <p:cNvSpPr txBox="1"/>
            <p:nvPr/>
          </p:nvSpPr>
          <p:spPr>
            <a:xfrm>
              <a:off x="972134" y="2043512"/>
              <a:ext cx="34554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>
                  <a:solidFill>
                    <a:schemeClr val="dk2"/>
                  </a:solidFill>
                </a:rPr>
                <a:t>에러 응답 (HTTP 409 - 관리자에 의해 사용이 제한된 기기)</a:t>
              </a:r>
              <a:endParaRPr sz="800">
                <a:solidFill>
                  <a:schemeClr val="dk2"/>
                </a:solidFill>
              </a:endParaRPr>
            </a:p>
          </p:txBody>
        </p:sp>
      </p:grpSp>
      <p:grpSp>
        <p:nvGrpSpPr>
          <p:cNvPr id="758" name="Google Shape;758;p25"/>
          <p:cNvGrpSpPr/>
          <p:nvPr/>
        </p:nvGrpSpPr>
        <p:grpSpPr>
          <a:xfrm>
            <a:off x="170939" y="3437806"/>
            <a:ext cx="4392148" cy="431997"/>
            <a:chOff x="170939" y="1852631"/>
            <a:chExt cx="4392148" cy="431997"/>
          </a:xfrm>
        </p:grpSpPr>
        <p:grpSp>
          <p:nvGrpSpPr>
            <p:cNvPr id="759" name="Google Shape;759;p25"/>
            <p:cNvGrpSpPr/>
            <p:nvPr/>
          </p:nvGrpSpPr>
          <p:grpSpPr>
            <a:xfrm>
              <a:off x="170939" y="1852631"/>
              <a:ext cx="4392148" cy="431997"/>
              <a:chOff x="4275648" y="7193708"/>
              <a:chExt cx="3483620" cy="198601"/>
            </a:xfrm>
          </p:grpSpPr>
          <p:sp>
            <p:nvSpPr>
              <p:cNvPr id="760" name="Google Shape;760;p25"/>
              <p:cNvSpPr/>
              <p:nvPr/>
            </p:nvSpPr>
            <p:spPr>
              <a:xfrm>
                <a:off x="4275667" y="7193709"/>
                <a:ext cx="3483600" cy="1986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1" name="Google Shape;761;p25"/>
              <p:cNvSpPr/>
              <p:nvPr/>
            </p:nvSpPr>
            <p:spPr>
              <a:xfrm>
                <a:off x="4275648" y="7193708"/>
                <a:ext cx="479100" cy="65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" sz="700">
                    <a:solidFill>
                      <a:schemeClr val="lt1"/>
                    </a:solidFill>
                  </a:rPr>
                  <a:t>break</a:t>
                </a:r>
                <a:endParaRPr b="1" sz="700">
                  <a:solidFill>
                    <a:schemeClr val="lt1"/>
                  </a:solidFill>
                </a:endParaRPr>
              </a:p>
            </p:txBody>
          </p:sp>
        </p:grpSp>
        <p:sp>
          <p:nvSpPr>
            <p:cNvPr id="762" name="Google Shape;762;p25"/>
            <p:cNvSpPr txBox="1"/>
            <p:nvPr/>
          </p:nvSpPr>
          <p:spPr>
            <a:xfrm>
              <a:off x="926675" y="1854350"/>
              <a:ext cx="34554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800">
                  <a:solidFill>
                    <a:schemeClr val="dk2"/>
                  </a:solidFill>
                </a:rPr>
                <a:t>[ 이미 사용 중 (status: Charging, Preparing, Finishing 등) ]</a:t>
              </a:r>
              <a:endParaRPr b="1" sz="800">
                <a:solidFill>
                  <a:schemeClr val="dk2"/>
                </a:solidFill>
              </a:endParaRPr>
            </a:p>
          </p:txBody>
        </p:sp>
        <p:cxnSp>
          <p:nvCxnSpPr>
            <p:cNvPr id="763" name="Google Shape;763;p25"/>
            <p:cNvCxnSpPr/>
            <p:nvPr/>
          </p:nvCxnSpPr>
          <p:spPr>
            <a:xfrm>
              <a:off x="892025" y="2218143"/>
              <a:ext cx="3638100" cy="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dash"/>
              <a:round/>
              <a:headEnd len="med" w="med" type="triangle"/>
              <a:tailEnd len="med" w="med" type="oval"/>
            </a:ln>
          </p:spPr>
        </p:cxnSp>
        <p:sp>
          <p:nvSpPr>
            <p:cNvPr id="764" name="Google Shape;764;p25"/>
            <p:cNvSpPr txBox="1"/>
            <p:nvPr/>
          </p:nvSpPr>
          <p:spPr>
            <a:xfrm>
              <a:off x="972134" y="2043512"/>
              <a:ext cx="34554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>
                  <a:solidFill>
                    <a:schemeClr val="dk2"/>
                  </a:solidFill>
                </a:rPr>
                <a:t>에러 응답 (HTTP 409 - 이미 다른 사용자가 이용 중입니다)</a:t>
              </a:r>
              <a:endParaRPr sz="800">
                <a:solidFill>
                  <a:schemeClr val="dk2"/>
                </a:solidFill>
              </a:endParaRPr>
            </a:p>
          </p:txBody>
        </p:sp>
      </p:grpSp>
      <p:grpSp>
        <p:nvGrpSpPr>
          <p:cNvPr id="765" name="Google Shape;765;p25"/>
          <p:cNvGrpSpPr/>
          <p:nvPr/>
        </p:nvGrpSpPr>
        <p:grpSpPr>
          <a:xfrm>
            <a:off x="170939" y="4726789"/>
            <a:ext cx="4392148" cy="431997"/>
            <a:chOff x="170939" y="1852631"/>
            <a:chExt cx="4392148" cy="431997"/>
          </a:xfrm>
        </p:grpSpPr>
        <p:grpSp>
          <p:nvGrpSpPr>
            <p:cNvPr id="766" name="Google Shape;766;p25"/>
            <p:cNvGrpSpPr/>
            <p:nvPr/>
          </p:nvGrpSpPr>
          <p:grpSpPr>
            <a:xfrm>
              <a:off x="170939" y="1852631"/>
              <a:ext cx="4392148" cy="431997"/>
              <a:chOff x="4275648" y="7193708"/>
              <a:chExt cx="3483620" cy="198601"/>
            </a:xfrm>
          </p:grpSpPr>
          <p:sp>
            <p:nvSpPr>
              <p:cNvPr id="767" name="Google Shape;767;p25"/>
              <p:cNvSpPr/>
              <p:nvPr/>
            </p:nvSpPr>
            <p:spPr>
              <a:xfrm>
                <a:off x="4275667" y="7193709"/>
                <a:ext cx="3483600" cy="1986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8" name="Google Shape;768;p25"/>
              <p:cNvSpPr/>
              <p:nvPr/>
            </p:nvSpPr>
            <p:spPr>
              <a:xfrm>
                <a:off x="4275648" y="7193708"/>
                <a:ext cx="479100" cy="65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" sz="700">
                    <a:solidFill>
                      <a:schemeClr val="lt1"/>
                    </a:solidFill>
                  </a:rPr>
                  <a:t>break</a:t>
                </a:r>
                <a:endParaRPr b="1" sz="700">
                  <a:solidFill>
                    <a:schemeClr val="lt1"/>
                  </a:solidFill>
                </a:endParaRPr>
              </a:p>
            </p:txBody>
          </p:sp>
        </p:grpSp>
        <p:sp>
          <p:nvSpPr>
            <p:cNvPr id="769" name="Google Shape;769;p25"/>
            <p:cNvSpPr txBox="1"/>
            <p:nvPr/>
          </p:nvSpPr>
          <p:spPr>
            <a:xfrm>
              <a:off x="926675" y="1854350"/>
              <a:ext cx="34554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800">
                  <a:solidFill>
                    <a:schemeClr val="dk2"/>
                  </a:solidFill>
                </a:rPr>
                <a:t>[ 최소 충전 금액 미달 ]</a:t>
              </a:r>
              <a:endParaRPr b="1" sz="800">
                <a:solidFill>
                  <a:schemeClr val="dk2"/>
                </a:solidFill>
              </a:endParaRPr>
            </a:p>
          </p:txBody>
        </p:sp>
        <p:cxnSp>
          <p:nvCxnSpPr>
            <p:cNvPr id="770" name="Google Shape;770;p25"/>
            <p:cNvCxnSpPr/>
            <p:nvPr/>
          </p:nvCxnSpPr>
          <p:spPr>
            <a:xfrm>
              <a:off x="892025" y="2218143"/>
              <a:ext cx="3638100" cy="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dash"/>
              <a:round/>
              <a:headEnd len="med" w="med" type="triangle"/>
              <a:tailEnd len="med" w="med" type="oval"/>
            </a:ln>
          </p:spPr>
        </p:cxnSp>
        <p:sp>
          <p:nvSpPr>
            <p:cNvPr id="771" name="Google Shape;771;p25"/>
            <p:cNvSpPr txBox="1"/>
            <p:nvPr/>
          </p:nvSpPr>
          <p:spPr>
            <a:xfrm>
              <a:off x="972134" y="2043512"/>
              <a:ext cx="34554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>
                  <a:solidFill>
                    <a:schemeClr val="dk2"/>
                  </a:solidFill>
                </a:rPr>
                <a:t>에러 응답 (HTTP 402 - 월렛 잔액이 부족합니다)</a:t>
              </a:r>
              <a:endParaRPr sz="800">
                <a:solidFill>
                  <a:schemeClr val="dk2"/>
                </a:solidFill>
              </a:endParaRPr>
            </a:p>
          </p:txBody>
        </p:sp>
      </p:grpSp>
      <p:cxnSp>
        <p:nvCxnSpPr>
          <p:cNvPr id="772" name="Google Shape;772;p25"/>
          <p:cNvCxnSpPr/>
          <p:nvPr/>
        </p:nvCxnSpPr>
        <p:spPr>
          <a:xfrm>
            <a:off x="172650" y="15171729"/>
            <a:ext cx="43347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73" name="Google Shape;773;p25"/>
          <p:cNvSpPr txBox="1"/>
          <p:nvPr/>
        </p:nvSpPr>
        <p:spPr>
          <a:xfrm>
            <a:off x="2786825" y="15243931"/>
            <a:ext cx="1640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chemeClr val="dk2"/>
                </a:solidFill>
              </a:rPr>
              <a:t>[ wallet 잔액 부족(서버 강제 종료) ]</a:t>
            </a:r>
            <a:endParaRPr b="1" sz="800">
              <a:solidFill>
                <a:srgbClr val="595959"/>
              </a:solidFill>
            </a:endParaRPr>
          </a:p>
        </p:txBody>
      </p:sp>
      <p:sp>
        <p:nvSpPr>
          <p:cNvPr id="774" name="Google Shape;774;p25"/>
          <p:cNvSpPr txBox="1"/>
          <p:nvPr/>
        </p:nvSpPr>
        <p:spPr>
          <a:xfrm>
            <a:off x="2034063" y="16329953"/>
            <a:ext cx="13218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전력 차단 및 커넥터 잠금 해제</a:t>
            </a:r>
            <a:endParaRPr sz="800">
              <a:solidFill>
                <a:schemeClr val="dk2"/>
              </a:solidFill>
            </a:endParaRPr>
          </a:p>
        </p:txBody>
      </p:sp>
      <p:cxnSp>
        <p:nvCxnSpPr>
          <p:cNvPr id="775" name="Google Shape;775;p25"/>
          <p:cNvCxnSpPr/>
          <p:nvPr/>
        </p:nvCxnSpPr>
        <p:spPr>
          <a:xfrm>
            <a:off x="2668634" y="16848602"/>
            <a:ext cx="18387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round/>
            <a:headEnd len="med" w="med" type="oval"/>
            <a:tailEnd len="med" w="med" type="triangle"/>
          </a:ln>
        </p:spPr>
      </p:cxnSp>
      <p:sp>
        <p:nvSpPr>
          <p:cNvPr id="776" name="Google Shape;776;p25"/>
          <p:cNvSpPr txBox="1"/>
          <p:nvPr/>
        </p:nvSpPr>
        <p:spPr>
          <a:xfrm>
            <a:off x="2793875" y="16552065"/>
            <a:ext cx="1640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StopTransaction.req (reason: Remote)</a:t>
            </a:r>
            <a:endParaRPr sz="800">
              <a:solidFill>
                <a:srgbClr val="595959"/>
              </a:solidFill>
            </a:endParaRPr>
          </a:p>
        </p:txBody>
      </p:sp>
      <p:sp>
        <p:nvSpPr>
          <p:cNvPr id="777" name="Google Shape;777;p25"/>
          <p:cNvSpPr txBox="1"/>
          <p:nvPr/>
        </p:nvSpPr>
        <p:spPr>
          <a:xfrm>
            <a:off x="3457652" y="15422079"/>
            <a:ext cx="20883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phase 4에서 잔액 부족 감지 시 서버가 자동 실행</a:t>
            </a:r>
            <a:endParaRPr sz="800">
              <a:solidFill>
                <a:schemeClr val="dk2"/>
              </a:solidFill>
            </a:endParaRPr>
          </a:p>
        </p:txBody>
      </p:sp>
      <p:cxnSp>
        <p:nvCxnSpPr>
          <p:cNvPr id="778" name="Google Shape;778;p25"/>
          <p:cNvCxnSpPr/>
          <p:nvPr/>
        </p:nvCxnSpPr>
        <p:spPr>
          <a:xfrm>
            <a:off x="2691362" y="15953357"/>
            <a:ext cx="18387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triangle"/>
            <a:tailEnd len="med" w="med" type="oval"/>
          </a:ln>
        </p:spPr>
      </p:cxnSp>
      <p:sp>
        <p:nvSpPr>
          <p:cNvPr id="779" name="Google Shape;779;p25"/>
          <p:cNvSpPr txBox="1"/>
          <p:nvPr/>
        </p:nvSpPr>
        <p:spPr>
          <a:xfrm>
            <a:off x="2793875" y="15682189"/>
            <a:ext cx="1640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RemoteStopTransaction.req (transactionid)</a:t>
            </a:r>
            <a:endParaRPr sz="800">
              <a:solidFill>
                <a:srgbClr val="595959"/>
              </a:solidFill>
            </a:endParaRPr>
          </a:p>
        </p:txBody>
      </p:sp>
      <p:cxnSp>
        <p:nvCxnSpPr>
          <p:cNvPr id="780" name="Google Shape;780;p25"/>
          <p:cNvCxnSpPr/>
          <p:nvPr/>
        </p:nvCxnSpPr>
        <p:spPr>
          <a:xfrm>
            <a:off x="2668634" y="16253457"/>
            <a:ext cx="18387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round/>
            <a:headEnd len="med" w="med" type="oval"/>
            <a:tailEnd len="med" w="med" type="triangle"/>
          </a:ln>
        </p:spPr>
      </p:cxnSp>
      <p:sp>
        <p:nvSpPr>
          <p:cNvPr id="781" name="Google Shape;781;p25"/>
          <p:cNvSpPr txBox="1"/>
          <p:nvPr/>
        </p:nvSpPr>
        <p:spPr>
          <a:xfrm>
            <a:off x="2793875" y="15982289"/>
            <a:ext cx="1640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RemoteStopTransaction.req (Accepted)</a:t>
            </a:r>
            <a:endParaRPr sz="800">
              <a:solidFill>
                <a:srgbClr val="595959"/>
              </a:solidFill>
            </a:endParaRPr>
          </a:p>
        </p:txBody>
      </p:sp>
      <p:cxnSp>
        <p:nvCxnSpPr>
          <p:cNvPr id="782" name="Google Shape;782;p25"/>
          <p:cNvCxnSpPr/>
          <p:nvPr/>
        </p:nvCxnSpPr>
        <p:spPr>
          <a:xfrm>
            <a:off x="4475274" y="9767815"/>
            <a:ext cx="183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783" name="Google Shape;783;p25"/>
          <p:cNvSpPr txBox="1"/>
          <p:nvPr/>
        </p:nvSpPr>
        <p:spPr>
          <a:xfrm>
            <a:off x="4600699" y="9489575"/>
            <a:ext cx="1640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현재 누적 과금액 계산 및 wallet 잔액 확인</a:t>
            </a:r>
            <a:endParaRPr sz="800">
              <a:solidFill>
                <a:srgbClr val="595959"/>
              </a:solidFill>
            </a:endParaRPr>
          </a:p>
        </p:txBody>
      </p:sp>
      <p:cxnSp>
        <p:nvCxnSpPr>
          <p:cNvPr id="784" name="Google Shape;784;p25"/>
          <p:cNvCxnSpPr/>
          <p:nvPr/>
        </p:nvCxnSpPr>
        <p:spPr>
          <a:xfrm>
            <a:off x="4508103" y="10024560"/>
            <a:ext cx="1834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round/>
            <a:headEnd len="med" w="med" type="triangle"/>
            <a:tailEnd len="med" w="med" type="oval"/>
          </a:ln>
        </p:spPr>
      </p:cxnSp>
      <p:sp>
        <p:nvSpPr>
          <p:cNvPr id="785" name="Google Shape;785;p25"/>
          <p:cNvSpPr txBox="1"/>
          <p:nvPr/>
        </p:nvSpPr>
        <p:spPr>
          <a:xfrm>
            <a:off x="4599233" y="9848359"/>
            <a:ext cx="1640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잔액 검증 결과 반환</a:t>
            </a:r>
            <a:endParaRPr sz="800">
              <a:solidFill>
                <a:srgbClr val="595959"/>
              </a:solidFill>
            </a:endParaRPr>
          </a:p>
        </p:txBody>
      </p:sp>
      <p:grpSp>
        <p:nvGrpSpPr>
          <p:cNvPr id="786" name="Google Shape;786;p25"/>
          <p:cNvGrpSpPr/>
          <p:nvPr/>
        </p:nvGrpSpPr>
        <p:grpSpPr>
          <a:xfrm>
            <a:off x="829296" y="10142975"/>
            <a:ext cx="4619475" cy="885405"/>
            <a:chOff x="4275648" y="7193708"/>
            <a:chExt cx="3663923" cy="770721"/>
          </a:xfrm>
        </p:grpSpPr>
        <p:sp>
          <p:nvSpPr>
            <p:cNvPr id="787" name="Google Shape;787;p25"/>
            <p:cNvSpPr/>
            <p:nvPr/>
          </p:nvSpPr>
          <p:spPr>
            <a:xfrm>
              <a:off x="4275671" y="7193729"/>
              <a:ext cx="3663900" cy="7707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25"/>
            <p:cNvSpPr/>
            <p:nvPr/>
          </p:nvSpPr>
          <p:spPr>
            <a:xfrm>
              <a:off x="4275648" y="7193708"/>
              <a:ext cx="479100" cy="125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700">
                  <a:solidFill>
                    <a:schemeClr val="lt1"/>
                  </a:solidFill>
                </a:rPr>
                <a:t>alt</a:t>
              </a:r>
              <a:endParaRPr b="1" sz="700">
                <a:solidFill>
                  <a:schemeClr val="lt1"/>
                </a:solidFill>
              </a:endParaRPr>
            </a:p>
          </p:txBody>
        </p:sp>
      </p:grpSp>
      <p:sp>
        <p:nvSpPr>
          <p:cNvPr id="789" name="Google Shape;789;p25"/>
          <p:cNvSpPr txBox="1"/>
          <p:nvPr/>
        </p:nvSpPr>
        <p:spPr>
          <a:xfrm>
            <a:off x="2786825" y="10163569"/>
            <a:ext cx="2527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chemeClr val="dk2"/>
                </a:solidFill>
              </a:rPr>
              <a:t>월렛 잔액 부족</a:t>
            </a:r>
            <a:endParaRPr b="1"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chemeClr val="dk2"/>
                </a:solidFill>
              </a:rPr>
              <a:t>(wallet 잔액 &lt;= 현재 누적 과금액)</a:t>
            </a:r>
            <a:endParaRPr b="1" sz="800">
              <a:solidFill>
                <a:srgbClr val="595959"/>
              </a:solidFill>
            </a:endParaRPr>
          </a:p>
        </p:txBody>
      </p:sp>
      <p:cxnSp>
        <p:nvCxnSpPr>
          <p:cNvPr id="790" name="Google Shape;790;p25"/>
          <p:cNvCxnSpPr/>
          <p:nvPr/>
        </p:nvCxnSpPr>
        <p:spPr>
          <a:xfrm>
            <a:off x="892025" y="10957089"/>
            <a:ext cx="36381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round/>
            <a:headEnd len="med" w="med" type="triangle"/>
            <a:tailEnd len="med" w="med" type="oval"/>
          </a:ln>
        </p:spPr>
      </p:cxnSp>
      <p:sp>
        <p:nvSpPr>
          <p:cNvPr id="791" name="Google Shape;791;p25"/>
          <p:cNvSpPr txBox="1"/>
          <p:nvPr/>
        </p:nvSpPr>
        <p:spPr>
          <a:xfrm>
            <a:off x="972134" y="10800392"/>
            <a:ext cx="3455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잔액 부족 경고 및 강제 종료 예정 알림 (Push/웹소켓) </a:t>
            </a:r>
            <a:endParaRPr sz="800">
              <a:solidFill>
                <a:srgbClr val="595959"/>
              </a:solidFill>
            </a:endParaRPr>
          </a:p>
        </p:txBody>
      </p:sp>
      <p:sp>
        <p:nvSpPr>
          <p:cNvPr id="792" name="Google Shape;792;p25"/>
          <p:cNvSpPr txBox="1"/>
          <p:nvPr/>
        </p:nvSpPr>
        <p:spPr>
          <a:xfrm>
            <a:off x="3753562" y="10463317"/>
            <a:ext cx="1499400" cy="31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Phase 5의 </a:t>
            </a:r>
            <a:r>
              <a:rPr lang="ko" sz="800">
                <a:solidFill>
                  <a:schemeClr val="dk2"/>
                </a:solidFill>
              </a:rPr>
              <a:t>wallet 잔액 부족 프로세스로 강제 전환</a:t>
            </a:r>
            <a:r>
              <a:rPr lang="ko" sz="800">
                <a:solidFill>
                  <a:schemeClr val="dk2"/>
                </a:solidFill>
              </a:rPr>
              <a:t> 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26"/>
          <p:cNvSpPr txBox="1"/>
          <p:nvPr/>
        </p:nvSpPr>
        <p:spPr>
          <a:xfrm>
            <a:off x="2418325" y="13143740"/>
            <a:ext cx="2444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ChargePointServer 생성</a:t>
            </a: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sp>
        <p:nvSpPr>
          <p:cNvPr id="798" name="Google Shape;798;p26"/>
          <p:cNvSpPr txBox="1"/>
          <p:nvPr/>
        </p:nvSpPr>
        <p:spPr>
          <a:xfrm>
            <a:off x="-7338396" y="1169334"/>
            <a:ext cx="3280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2. 관리자 모드: 서버 URL(wss://) 및 Profile 2 설정</a:t>
            </a: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sp>
        <p:nvSpPr>
          <p:cNvPr id="799" name="Google Shape;799;p26"/>
          <p:cNvSpPr txBox="1"/>
          <p:nvPr/>
        </p:nvSpPr>
        <p:spPr>
          <a:xfrm>
            <a:off x="-7118029" y="2329741"/>
            <a:ext cx="3618600" cy="30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chemeClr val="lt1"/>
                </a:solidFill>
              </a:rPr>
              <a:t>Phase 2: 보안 웹소켓 연결 (OCPP 1.6J)</a:t>
            </a:r>
            <a:endParaRPr b="1" sz="800">
              <a:solidFill>
                <a:schemeClr val="lt1"/>
              </a:solidFill>
            </a:endParaRPr>
          </a:p>
        </p:txBody>
      </p:sp>
      <p:sp>
        <p:nvSpPr>
          <p:cNvPr id="800" name="Google Shape;800;p26"/>
          <p:cNvSpPr txBox="1"/>
          <p:nvPr/>
        </p:nvSpPr>
        <p:spPr>
          <a:xfrm>
            <a:off x="-6843503" y="3262347"/>
            <a:ext cx="338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4. TLS Handshake &amp; Upgrade: websocket (Security Profile 2 적용)</a:t>
            </a:r>
            <a:endParaRPr sz="800">
              <a:solidFill>
                <a:schemeClr val="dk2"/>
              </a:solidFill>
            </a:endParaRPr>
          </a:p>
        </p:txBody>
      </p:sp>
      <p:grpSp>
        <p:nvGrpSpPr>
          <p:cNvPr id="801" name="Google Shape;801;p26"/>
          <p:cNvGrpSpPr/>
          <p:nvPr/>
        </p:nvGrpSpPr>
        <p:grpSpPr>
          <a:xfrm>
            <a:off x="-6785494" y="3933143"/>
            <a:ext cx="3623100" cy="1755201"/>
            <a:chOff x="-2312887" y="3250809"/>
            <a:chExt cx="3623100" cy="1235100"/>
          </a:xfrm>
        </p:grpSpPr>
        <p:sp>
          <p:nvSpPr>
            <p:cNvPr id="802" name="Google Shape;802;p26"/>
            <p:cNvSpPr/>
            <p:nvPr/>
          </p:nvSpPr>
          <p:spPr>
            <a:xfrm>
              <a:off x="-2312887" y="3250809"/>
              <a:ext cx="3623100" cy="1235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26"/>
            <p:cNvSpPr/>
            <p:nvPr/>
          </p:nvSpPr>
          <p:spPr>
            <a:xfrm>
              <a:off x="-2312887" y="3254409"/>
              <a:ext cx="582300" cy="1848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700">
                  <a:solidFill>
                    <a:schemeClr val="lt1"/>
                  </a:solidFill>
                </a:rPr>
                <a:t>LOOP</a:t>
              </a:r>
              <a:endParaRPr b="1" sz="700">
                <a:solidFill>
                  <a:schemeClr val="lt1"/>
                </a:solidFill>
              </a:endParaRPr>
            </a:p>
          </p:txBody>
        </p:sp>
      </p:grpSp>
      <p:sp>
        <p:nvSpPr>
          <p:cNvPr id="804" name="Google Shape;804;p26"/>
          <p:cNvSpPr txBox="1"/>
          <p:nvPr/>
        </p:nvSpPr>
        <p:spPr>
          <a:xfrm>
            <a:off x="-6494107" y="8113165"/>
            <a:ext cx="6427200" cy="30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chemeClr val="lt1"/>
                </a:solidFill>
              </a:rPr>
              <a:t>Phase 4: 예외/장애 시나리오 (Edge Case)</a:t>
            </a:r>
            <a:endParaRPr b="1" sz="800">
              <a:solidFill>
                <a:schemeClr val="lt1"/>
              </a:solidFill>
            </a:endParaRPr>
          </a:p>
        </p:txBody>
      </p:sp>
      <p:grpSp>
        <p:nvGrpSpPr>
          <p:cNvPr id="805" name="Google Shape;805;p26"/>
          <p:cNvGrpSpPr/>
          <p:nvPr/>
        </p:nvGrpSpPr>
        <p:grpSpPr>
          <a:xfrm>
            <a:off x="-6444186" y="9238688"/>
            <a:ext cx="6327300" cy="2288113"/>
            <a:chOff x="501347" y="9102196"/>
            <a:chExt cx="6327300" cy="1610100"/>
          </a:xfrm>
        </p:grpSpPr>
        <p:sp>
          <p:nvSpPr>
            <p:cNvPr id="806" name="Google Shape;806;p26"/>
            <p:cNvSpPr/>
            <p:nvPr/>
          </p:nvSpPr>
          <p:spPr>
            <a:xfrm>
              <a:off x="501347" y="9102196"/>
              <a:ext cx="6327300" cy="1610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26"/>
            <p:cNvSpPr/>
            <p:nvPr/>
          </p:nvSpPr>
          <p:spPr>
            <a:xfrm>
              <a:off x="501358" y="9105806"/>
              <a:ext cx="1381500" cy="1848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700">
                  <a:solidFill>
                    <a:schemeClr val="lt1"/>
                  </a:solidFill>
                </a:rPr>
                <a:t>비상 정지 버튼 클릭</a:t>
              </a:r>
              <a:endParaRPr b="1" sz="700">
                <a:solidFill>
                  <a:schemeClr val="lt1"/>
                </a:solidFill>
              </a:endParaRPr>
            </a:p>
          </p:txBody>
        </p:sp>
      </p:grpSp>
      <p:sp>
        <p:nvSpPr>
          <p:cNvPr id="808" name="Google Shape;808;p26"/>
          <p:cNvSpPr txBox="1"/>
          <p:nvPr/>
        </p:nvSpPr>
        <p:spPr>
          <a:xfrm>
            <a:off x="163500" y="264671"/>
            <a:ext cx="6873000" cy="461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lt1"/>
                </a:solidFill>
              </a:rPr>
              <a:t>2. 초기 접속 프로세스</a:t>
            </a:r>
            <a:endParaRPr b="1" sz="1800">
              <a:solidFill>
                <a:schemeClr val="lt1"/>
              </a:solidFill>
            </a:endParaRPr>
          </a:p>
        </p:txBody>
      </p:sp>
      <p:grpSp>
        <p:nvGrpSpPr>
          <p:cNvPr id="809" name="Google Shape;809;p26"/>
          <p:cNvGrpSpPr/>
          <p:nvPr/>
        </p:nvGrpSpPr>
        <p:grpSpPr>
          <a:xfrm>
            <a:off x="170698" y="1306719"/>
            <a:ext cx="6915000" cy="17718275"/>
            <a:chOff x="170698" y="919513"/>
            <a:chExt cx="6915000" cy="12468000"/>
          </a:xfrm>
        </p:grpSpPr>
        <p:sp>
          <p:nvSpPr>
            <p:cNvPr id="810" name="Google Shape;810;p26"/>
            <p:cNvSpPr/>
            <p:nvPr/>
          </p:nvSpPr>
          <p:spPr>
            <a:xfrm>
              <a:off x="170698" y="919513"/>
              <a:ext cx="1653000" cy="396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900"/>
                <a:t>하드웨어</a:t>
              </a:r>
              <a:endParaRPr b="1" sz="9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900"/>
                <a:t>(COSTEL)</a:t>
              </a:r>
              <a:endParaRPr b="1" sz="900"/>
            </a:p>
          </p:txBody>
        </p:sp>
        <p:sp>
          <p:nvSpPr>
            <p:cNvPr id="811" name="Google Shape;811;p26"/>
            <p:cNvSpPr/>
            <p:nvPr/>
          </p:nvSpPr>
          <p:spPr>
            <a:xfrm>
              <a:off x="1924698" y="919513"/>
              <a:ext cx="1653000" cy="396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900"/>
                <a:t>서버</a:t>
              </a:r>
              <a:endParaRPr b="1" sz="9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900"/>
                <a:t>(WebSocket)</a:t>
              </a:r>
              <a:endParaRPr b="1" sz="900"/>
            </a:p>
          </p:txBody>
        </p:sp>
        <p:sp>
          <p:nvSpPr>
            <p:cNvPr id="812" name="Google Shape;812;p26"/>
            <p:cNvSpPr/>
            <p:nvPr/>
          </p:nvSpPr>
          <p:spPr>
            <a:xfrm>
              <a:off x="3678698" y="919513"/>
              <a:ext cx="1653000" cy="396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900"/>
                <a:t>OCPP</a:t>
              </a:r>
              <a:endParaRPr b="1" sz="900"/>
            </a:p>
          </p:txBody>
        </p:sp>
        <p:sp>
          <p:nvSpPr>
            <p:cNvPr id="813" name="Google Shape;813;p26"/>
            <p:cNvSpPr/>
            <p:nvPr/>
          </p:nvSpPr>
          <p:spPr>
            <a:xfrm>
              <a:off x="5432698" y="919513"/>
              <a:ext cx="1653000" cy="396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900"/>
                <a:t>DB</a:t>
              </a:r>
              <a:endParaRPr b="1" sz="900"/>
            </a:p>
          </p:txBody>
        </p:sp>
        <p:sp>
          <p:nvSpPr>
            <p:cNvPr id="814" name="Google Shape;814;p26"/>
            <p:cNvSpPr/>
            <p:nvPr/>
          </p:nvSpPr>
          <p:spPr>
            <a:xfrm>
              <a:off x="170698" y="12990613"/>
              <a:ext cx="1653000" cy="396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900"/>
                <a:t>하드웨어</a:t>
              </a:r>
              <a:endParaRPr b="1" sz="9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900"/>
                <a:t>(COSTEL)</a:t>
              </a:r>
              <a:endParaRPr b="1" sz="900"/>
            </a:p>
          </p:txBody>
        </p:sp>
        <p:sp>
          <p:nvSpPr>
            <p:cNvPr id="815" name="Google Shape;815;p26"/>
            <p:cNvSpPr/>
            <p:nvPr/>
          </p:nvSpPr>
          <p:spPr>
            <a:xfrm>
              <a:off x="1924698" y="12990613"/>
              <a:ext cx="1653000" cy="396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900"/>
                <a:t>서버</a:t>
              </a:r>
              <a:endParaRPr b="1" sz="9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900"/>
                <a:t>(WebSocket)</a:t>
              </a:r>
              <a:endParaRPr b="1" sz="900"/>
            </a:p>
          </p:txBody>
        </p:sp>
        <p:sp>
          <p:nvSpPr>
            <p:cNvPr id="816" name="Google Shape;816;p26"/>
            <p:cNvSpPr/>
            <p:nvPr/>
          </p:nvSpPr>
          <p:spPr>
            <a:xfrm>
              <a:off x="3678698" y="12990613"/>
              <a:ext cx="1653000" cy="396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900"/>
                <a:t>OCPP</a:t>
              </a:r>
              <a:endParaRPr b="1" sz="900"/>
            </a:p>
          </p:txBody>
        </p:sp>
        <p:sp>
          <p:nvSpPr>
            <p:cNvPr id="817" name="Google Shape;817;p26"/>
            <p:cNvSpPr/>
            <p:nvPr/>
          </p:nvSpPr>
          <p:spPr>
            <a:xfrm>
              <a:off x="5432698" y="12990613"/>
              <a:ext cx="1653000" cy="396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900"/>
                <a:t>DB</a:t>
              </a:r>
              <a:endParaRPr b="1" sz="900"/>
            </a:p>
          </p:txBody>
        </p:sp>
        <p:cxnSp>
          <p:nvCxnSpPr>
            <p:cNvPr id="818" name="Google Shape;818;p26"/>
            <p:cNvCxnSpPr>
              <a:stCxn id="810" idx="2"/>
              <a:endCxn id="814" idx="0"/>
            </p:cNvCxnSpPr>
            <p:nvPr/>
          </p:nvCxnSpPr>
          <p:spPr>
            <a:xfrm>
              <a:off x="997198" y="1316413"/>
              <a:ext cx="0" cy="11674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9" name="Google Shape;819;p26"/>
            <p:cNvCxnSpPr>
              <a:stCxn id="811" idx="2"/>
              <a:endCxn id="815" idx="0"/>
            </p:cNvCxnSpPr>
            <p:nvPr/>
          </p:nvCxnSpPr>
          <p:spPr>
            <a:xfrm>
              <a:off x="2751198" y="1316413"/>
              <a:ext cx="0" cy="11674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0" name="Google Shape;820;p26"/>
            <p:cNvCxnSpPr>
              <a:stCxn id="812" idx="2"/>
              <a:endCxn id="816" idx="0"/>
            </p:cNvCxnSpPr>
            <p:nvPr/>
          </p:nvCxnSpPr>
          <p:spPr>
            <a:xfrm>
              <a:off x="4505198" y="1316413"/>
              <a:ext cx="0" cy="11674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1" name="Google Shape;821;p26"/>
            <p:cNvCxnSpPr>
              <a:stCxn id="813" idx="2"/>
              <a:endCxn id="817" idx="0"/>
            </p:cNvCxnSpPr>
            <p:nvPr/>
          </p:nvCxnSpPr>
          <p:spPr>
            <a:xfrm>
              <a:off x="6259198" y="1316413"/>
              <a:ext cx="0" cy="11674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22" name="Google Shape;822;p26"/>
          <p:cNvGrpSpPr/>
          <p:nvPr/>
        </p:nvGrpSpPr>
        <p:grpSpPr>
          <a:xfrm>
            <a:off x="861969" y="5220426"/>
            <a:ext cx="5557116" cy="12729361"/>
            <a:chOff x="-2312887" y="3250723"/>
            <a:chExt cx="3623104" cy="8957400"/>
          </a:xfrm>
        </p:grpSpPr>
        <p:sp>
          <p:nvSpPr>
            <p:cNvPr id="823" name="Google Shape;823;p26"/>
            <p:cNvSpPr/>
            <p:nvPr/>
          </p:nvSpPr>
          <p:spPr>
            <a:xfrm>
              <a:off x="-2312883" y="3250723"/>
              <a:ext cx="3623100" cy="89574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26"/>
            <p:cNvSpPr/>
            <p:nvPr/>
          </p:nvSpPr>
          <p:spPr>
            <a:xfrm>
              <a:off x="-2312887" y="3254409"/>
              <a:ext cx="582300" cy="1848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700">
                  <a:solidFill>
                    <a:schemeClr val="lt1"/>
                  </a:solidFill>
                </a:rPr>
                <a:t>LOOP</a:t>
              </a:r>
              <a:endParaRPr b="1" sz="700">
                <a:solidFill>
                  <a:schemeClr val="lt1"/>
                </a:solidFill>
              </a:endParaRPr>
            </a:p>
          </p:txBody>
        </p:sp>
      </p:grpSp>
      <p:grpSp>
        <p:nvGrpSpPr>
          <p:cNvPr id="825" name="Google Shape;825;p26"/>
          <p:cNvGrpSpPr/>
          <p:nvPr/>
        </p:nvGrpSpPr>
        <p:grpSpPr>
          <a:xfrm>
            <a:off x="656250" y="2566968"/>
            <a:ext cx="2444400" cy="566703"/>
            <a:chOff x="656250" y="1806325"/>
            <a:chExt cx="2444400" cy="398778"/>
          </a:xfrm>
        </p:grpSpPr>
        <p:sp>
          <p:nvSpPr>
            <p:cNvPr id="826" name="Google Shape;826;p26"/>
            <p:cNvSpPr txBox="1"/>
            <p:nvPr/>
          </p:nvSpPr>
          <p:spPr>
            <a:xfrm>
              <a:off x="656250" y="1806325"/>
              <a:ext cx="2444400" cy="30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>
                  <a:solidFill>
                    <a:schemeClr val="dk2"/>
                  </a:solidFill>
                  <a:highlight>
                    <a:schemeClr val="lt1"/>
                  </a:highlight>
                </a:rPr>
                <a:t>WSS 연결 요청</a:t>
              </a:r>
              <a:endParaRPr sz="800">
                <a:solidFill>
                  <a:schemeClr val="dk2"/>
                </a:solidFill>
                <a:highlight>
                  <a:schemeClr val="lt1"/>
                </a:highlight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>
                  <a:solidFill>
                    <a:schemeClr val="dk2"/>
                  </a:solidFill>
                  <a:highlight>
                    <a:schemeClr val="lt1"/>
                  </a:highlight>
                </a:rPr>
                <a:t>wss://dev.evws…/ocpp</a:t>
              </a:r>
              <a:endParaRPr sz="800">
                <a:solidFill>
                  <a:schemeClr val="dk2"/>
                </a:solidFill>
                <a:highlight>
                  <a:schemeClr val="lt1"/>
                </a:highlight>
              </a:endParaRPr>
            </a:p>
          </p:txBody>
        </p:sp>
        <p:cxnSp>
          <p:nvCxnSpPr>
            <p:cNvPr id="827" name="Google Shape;827;p26"/>
            <p:cNvCxnSpPr/>
            <p:nvPr/>
          </p:nvCxnSpPr>
          <p:spPr>
            <a:xfrm>
              <a:off x="996000" y="2205103"/>
              <a:ext cx="17649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828" name="Google Shape;828;p26"/>
          <p:cNvGrpSpPr/>
          <p:nvPr/>
        </p:nvGrpSpPr>
        <p:grpSpPr>
          <a:xfrm>
            <a:off x="656250" y="3469337"/>
            <a:ext cx="2444400" cy="566703"/>
            <a:chOff x="656250" y="1806325"/>
            <a:chExt cx="2444400" cy="398778"/>
          </a:xfrm>
        </p:grpSpPr>
        <p:sp>
          <p:nvSpPr>
            <p:cNvPr id="829" name="Google Shape;829;p26"/>
            <p:cNvSpPr txBox="1"/>
            <p:nvPr/>
          </p:nvSpPr>
          <p:spPr>
            <a:xfrm>
              <a:off x="656250" y="1806325"/>
              <a:ext cx="2444400" cy="21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>
                  <a:solidFill>
                    <a:schemeClr val="dk2"/>
                  </a:solidFill>
                  <a:highlight>
                    <a:schemeClr val="lt1"/>
                  </a:highlight>
                </a:rPr>
                <a:t>Header Authorization: Basic admin:1234</a:t>
              </a:r>
              <a:endParaRPr sz="800">
                <a:solidFill>
                  <a:schemeClr val="dk2"/>
                </a:solidFill>
                <a:highlight>
                  <a:schemeClr val="lt1"/>
                </a:highlight>
              </a:endParaRPr>
            </a:p>
          </p:txBody>
        </p:sp>
        <p:cxnSp>
          <p:nvCxnSpPr>
            <p:cNvPr id="830" name="Google Shape;830;p26"/>
            <p:cNvCxnSpPr/>
            <p:nvPr/>
          </p:nvCxnSpPr>
          <p:spPr>
            <a:xfrm>
              <a:off x="996000" y="2205103"/>
              <a:ext cx="17649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831" name="Google Shape;831;p26"/>
          <p:cNvSpPr txBox="1"/>
          <p:nvPr/>
        </p:nvSpPr>
        <p:spPr>
          <a:xfrm>
            <a:off x="656250" y="4371620"/>
            <a:ext cx="2444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Subprotocol: ocpp1.6</a:t>
            </a: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cxnSp>
        <p:nvCxnSpPr>
          <p:cNvPr id="832" name="Google Shape;832;p26"/>
          <p:cNvCxnSpPr/>
          <p:nvPr/>
        </p:nvCxnSpPr>
        <p:spPr>
          <a:xfrm>
            <a:off x="996000" y="4934719"/>
            <a:ext cx="1764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3" name="Google Shape;833;p26"/>
          <p:cNvCxnSpPr/>
          <p:nvPr/>
        </p:nvCxnSpPr>
        <p:spPr>
          <a:xfrm>
            <a:off x="875050" y="7631362"/>
            <a:ext cx="5529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34" name="Google Shape;834;p26"/>
          <p:cNvCxnSpPr/>
          <p:nvPr/>
        </p:nvCxnSpPr>
        <p:spPr>
          <a:xfrm>
            <a:off x="875050" y="9984838"/>
            <a:ext cx="5529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35" name="Google Shape;835;p26"/>
          <p:cNvCxnSpPr/>
          <p:nvPr/>
        </p:nvCxnSpPr>
        <p:spPr>
          <a:xfrm>
            <a:off x="875050" y="12456546"/>
            <a:ext cx="5529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836" name="Google Shape;836;p26"/>
          <p:cNvSpPr txBox="1"/>
          <p:nvPr/>
        </p:nvSpPr>
        <p:spPr>
          <a:xfrm>
            <a:off x="-6297053" y="6145261"/>
            <a:ext cx="3280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600">
                <a:solidFill>
                  <a:schemeClr val="dk2"/>
                </a:solidFill>
              </a:rPr>
              <a:t>[연결 유지 (Keep-Alive)]</a:t>
            </a:r>
            <a:endParaRPr b="1" sz="600">
              <a:solidFill>
                <a:schemeClr val="dk2"/>
              </a:solidFill>
            </a:endParaRPr>
          </a:p>
        </p:txBody>
      </p:sp>
      <p:sp>
        <p:nvSpPr>
          <p:cNvPr id="837" name="Google Shape;837;p26"/>
          <p:cNvSpPr txBox="1"/>
          <p:nvPr/>
        </p:nvSpPr>
        <p:spPr>
          <a:xfrm>
            <a:off x="2643424" y="5154868"/>
            <a:ext cx="1994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600">
                <a:solidFill>
                  <a:schemeClr val="dk2"/>
                </a:solidFill>
              </a:rPr>
              <a:t>[경로]</a:t>
            </a:r>
            <a:endParaRPr b="1" sz="600">
              <a:solidFill>
                <a:schemeClr val="dk2"/>
              </a:solidFill>
            </a:endParaRPr>
          </a:p>
        </p:txBody>
      </p:sp>
      <p:sp>
        <p:nvSpPr>
          <p:cNvPr id="838" name="Google Shape;838;p26"/>
          <p:cNvSpPr txBox="1"/>
          <p:nvPr/>
        </p:nvSpPr>
        <p:spPr>
          <a:xfrm>
            <a:off x="2643424" y="7555772"/>
            <a:ext cx="1994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600">
                <a:solidFill>
                  <a:schemeClr val="dk2"/>
                </a:solidFill>
              </a:rPr>
              <a:t>[Basic Auth 불일치]</a:t>
            </a:r>
            <a:endParaRPr b="1" sz="600">
              <a:solidFill>
                <a:schemeClr val="dk2"/>
              </a:solidFill>
            </a:endParaRPr>
          </a:p>
        </p:txBody>
      </p:sp>
      <p:sp>
        <p:nvSpPr>
          <p:cNvPr id="839" name="Google Shape;839;p26"/>
          <p:cNvSpPr txBox="1"/>
          <p:nvPr/>
        </p:nvSpPr>
        <p:spPr>
          <a:xfrm>
            <a:off x="2643424" y="9911291"/>
            <a:ext cx="1994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600">
                <a:solidFill>
                  <a:schemeClr val="dk2"/>
                </a:solidFill>
              </a:rPr>
              <a:t>[인증 성공]</a:t>
            </a:r>
            <a:endParaRPr b="1" sz="600">
              <a:solidFill>
                <a:schemeClr val="dk2"/>
              </a:solidFill>
            </a:endParaRPr>
          </a:p>
        </p:txBody>
      </p:sp>
      <p:cxnSp>
        <p:nvCxnSpPr>
          <p:cNvPr id="840" name="Google Shape;840;p26"/>
          <p:cNvCxnSpPr/>
          <p:nvPr/>
        </p:nvCxnSpPr>
        <p:spPr>
          <a:xfrm rot="10800000">
            <a:off x="-6447659" y="7113060"/>
            <a:ext cx="3431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oval"/>
            <a:tailEnd len="med" w="med" type="triangle"/>
          </a:ln>
        </p:spPr>
      </p:cxnSp>
      <p:grpSp>
        <p:nvGrpSpPr>
          <p:cNvPr id="841" name="Google Shape;841;p26"/>
          <p:cNvGrpSpPr/>
          <p:nvPr/>
        </p:nvGrpSpPr>
        <p:grpSpPr>
          <a:xfrm>
            <a:off x="656250" y="6952360"/>
            <a:ext cx="2444400" cy="374491"/>
            <a:chOff x="656250" y="4892239"/>
            <a:chExt cx="2444400" cy="263522"/>
          </a:xfrm>
        </p:grpSpPr>
        <p:sp>
          <p:nvSpPr>
            <p:cNvPr id="842" name="Google Shape;842;p26"/>
            <p:cNvSpPr txBox="1"/>
            <p:nvPr/>
          </p:nvSpPr>
          <p:spPr>
            <a:xfrm>
              <a:off x="656250" y="4892239"/>
              <a:ext cx="2444400" cy="21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>
                  <a:solidFill>
                    <a:schemeClr val="dk2"/>
                  </a:solidFill>
                  <a:highlight>
                    <a:schemeClr val="lt1"/>
                  </a:highlight>
                </a:rPr>
                <a:t>연결 종료</a:t>
              </a:r>
              <a:endParaRPr sz="800">
                <a:solidFill>
                  <a:schemeClr val="dk2"/>
                </a:solidFill>
                <a:highlight>
                  <a:schemeClr val="lt1"/>
                </a:highlight>
              </a:endParaRPr>
            </a:p>
          </p:txBody>
        </p:sp>
        <p:cxnSp>
          <p:nvCxnSpPr>
            <p:cNvPr id="843" name="Google Shape;843;p26"/>
            <p:cNvCxnSpPr/>
            <p:nvPr/>
          </p:nvCxnSpPr>
          <p:spPr>
            <a:xfrm rot="10800000">
              <a:off x="994660" y="5155761"/>
              <a:ext cx="178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med" w="med" type="oval"/>
              <a:tailEnd len="med" w="med" type="triangle"/>
            </a:ln>
          </p:spPr>
        </p:cxnSp>
      </p:grpSp>
      <p:sp>
        <p:nvSpPr>
          <p:cNvPr id="844" name="Google Shape;844;p26"/>
          <p:cNvSpPr txBox="1"/>
          <p:nvPr/>
        </p:nvSpPr>
        <p:spPr>
          <a:xfrm>
            <a:off x="656250" y="9343993"/>
            <a:ext cx="2444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연결 종료</a:t>
            </a: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cxnSp>
        <p:nvCxnSpPr>
          <p:cNvPr id="845" name="Google Shape;845;p26"/>
          <p:cNvCxnSpPr/>
          <p:nvPr/>
        </p:nvCxnSpPr>
        <p:spPr>
          <a:xfrm rot="10800000">
            <a:off x="994660" y="9720000"/>
            <a:ext cx="1784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oval"/>
            <a:tailEnd len="med" w="med" type="triangle"/>
          </a:ln>
        </p:spPr>
      </p:cxnSp>
      <p:sp>
        <p:nvSpPr>
          <p:cNvPr id="846" name="Google Shape;846;p26"/>
          <p:cNvSpPr txBox="1"/>
          <p:nvPr/>
        </p:nvSpPr>
        <p:spPr>
          <a:xfrm>
            <a:off x="656250" y="11810044"/>
            <a:ext cx="2444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WebSocket 연결 수락</a:t>
            </a: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cxnSp>
        <p:nvCxnSpPr>
          <p:cNvPr id="847" name="Google Shape;847;p26"/>
          <p:cNvCxnSpPr/>
          <p:nvPr/>
        </p:nvCxnSpPr>
        <p:spPr>
          <a:xfrm rot="10800000">
            <a:off x="994660" y="12186050"/>
            <a:ext cx="1784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oval"/>
            <a:tailEnd len="med" w="med" type="triangle"/>
          </a:ln>
        </p:spPr>
      </p:cxnSp>
      <p:cxnSp>
        <p:nvCxnSpPr>
          <p:cNvPr id="848" name="Google Shape;848;p26"/>
          <p:cNvCxnSpPr/>
          <p:nvPr/>
        </p:nvCxnSpPr>
        <p:spPr>
          <a:xfrm>
            <a:off x="2719850" y="13512363"/>
            <a:ext cx="1791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849" name="Google Shape;849;p26"/>
          <p:cNvCxnSpPr/>
          <p:nvPr/>
        </p:nvCxnSpPr>
        <p:spPr>
          <a:xfrm>
            <a:off x="965550" y="15281361"/>
            <a:ext cx="3546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850" name="Google Shape;850;p26"/>
          <p:cNvSpPr txBox="1"/>
          <p:nvPr/>
        </p:nvSpPr>
        <p:spPr>
          <a:xfrm>
            <a:off x="656250" y="14751714"/>
            <a:ext cx="3981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BootNotification</a:t>
            </a: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vendor, model, serial, firmware</a:t>
            </a: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cxnSp>
        <p:nvCxnSpPr>
          <p:cNvPr id="851" name="Google Shape;851;p26"/>
          <p:cNvCxnSpPr/>
          <p:nvPr/>
        </p:nvCxnSpPr>
        <p:spPr>
          <a:xfrm>
            <a:off x="4474099" y="16116478"/>
            <a:ext cx="1791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852" name="Google Shape;852;p26"/>
          <p:cNvSpPr txBox="1"/>
          <p:nvPr/>
        </p:nvSpPr>
        <p:spPr>
          <a:xfrm>
            <a:off x="4147700" y="15746893"/>
            <a:ext cx="2444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Charge point 저장</a:t>
            </a: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cxnSp>
        <p:nvCxnSpPr>
          <p:cNvPr id="853" name="Google Shape;853;p26"/>
          <p:cNvCxnSpPr/>
          <p:nvPr/>
        </p:nvCxnSpPr>
        <p:spPr>
          <a:xfrm rot="10800000">
            <a:off x="1004673" y="17731378"/>
            <a:ext cx="3530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oval"/>
            <a:tailEnd len="med" w="med" type="triangle"/>
          </a:ln>
        </p:spPr>
      </p:cxnSp>
      <p:sp>
        <p:nvSpPr>
          <p:cNvPr id="854" name="Google Shape;854;p26"/>
          <p:cNvSpPr txBox="1"/>
          <p:nvPr/>
        </p:nvSpPr>
        <p:spPr>
          <a:xfrm>
            <a:off x="656250" y="17194717"/>
            <a:ext cx="3981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BootNotification.conf</a:t>
            </a: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  <a:highlight>
                  <a:schemeClr val="lt1"/>
                </a:highlight>
              </a:rPr>
              <a:t>Accepted, interval, currentTime</a:t>
            </a:r>
            <a:endParaRPr sz="8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9" name="Google Shape;859;p27"/>
          <p:cNvGrpSpPr/>
          <p:nvPr/>
        </p:nvGrpSpPr>
        <p:grpSpPr>
          <a:xfrm>
            <a:off x="311158" y="362627"/>
            <a:ext cx="6577214" cy="18744798"/>
            <a:chOff x="3069097" y="255184"/>
            <a:chExt cx="5410228" cy="11963747"/>
          </a:xfrm>
        </p:grpSpPr>
        <p:sp>
          <p:nvSpPr>
            <p:cNvPr id="860" name="Google Shape;860;p27"/>
            <p:cNvSpPr/>
            <p:nvPr/>
          </p:nvSpPr>
          <p:spPr>
            <a:xfrm>
              <a:off x="3225550" y="9857700"/>
              <a:ext cx="5204700" cy="1863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27"/>
            <p:cNvSpPr/>
            <p:nvPr/>
          </p:nvSpPr>
          <p:spPr>
            <a:xfrm>
              <a:off x="3225541" y="8279700"/>
              <a:ext cx="5204700" cy="14604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27"/>
            <p:cNvSpPr/>
            <p:nvPr/>
          </p:nvSpPr>
          <p:spPr>
            <a:xfrm>
              <a:off x="4350400" y="4620926"/>
              <a:ext cx="2980200" cy="11202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27"/>
            <p:cNvSpPr/>
            <p:nvPr/>
          </p:nvSpPr>
          <p:spPr>
            <a:xfrm>
              <a:off x="3192425" y="255184"/>
              <a:ext cx="2489400" cy="3600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900"/>
                <a:t>하드웨어</a:t>
              </a:r>
              <a:endParaRPr b="1" sz="9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900"/>
                <a:t>(COSTEL)</a:t>
              </a:r>
              <a:endParaRPr b="1" sz="900"/>
            </a:p>
          </p:txBody>
        </p:sp>
        <p:sp>
          <p:nvSpPr>
            <p:cNvPr id="864" name="Google Shape;864;p27"/>
            <p:cNvSpPr/>
            <p:nvPr/>
          </p:nvSpPr>
          <p:spPr>
            <a:xfrm>
              <a:off x="5989875" y="255184"/>
              <a:ext cx="2489400" cy="3600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900"/>
                <a:t>서버</a:t>
              </a:r>
              <a:endParaRPr b="1" sz="900"/>
            </a:p>
          </p:txBody>
        </p:sp>
        <p:sp>
          <p:nvSpPr>
            <p:cNvPr id="865" name="Google Shape;865;p27"/>
            <p:cNvSpPr/>
            <p:nvPr/>
          </p:nvSpPr>
          <p:spPr>
            <a:xfrm>
              <a:off x="3192425" y="11858931"/>
              <a:ext cx="2489400" cy="3600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ko" sz="900">
                  <a:solidFill>
                    <a:schemeClr val="dk1"/>
                  </a:solidFill>
                </a:rPr>
                <a:t>하드웨어</a:t>
              </a:r>
              <a:endParaRPr b="1" sz="900">
                <a:solidFill>
                  <a:schemeClr val="dk1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ko" sz="900">
                  <a:solidFill>
                    <a:schemeClr val="dk1"/>
                  </a:solidFill>
                </a:rPr>
                <a:t>(COSTEL)</a:t>
              </a:r>
              <a:endParaRPr b="1" sz="900">
                <a:solidFill>
                  <a:schemeClr val="dk1"/>
                </a:solidFill>
              </a:endParaRPr>
            </a:p>
          </p:txBody>
        </p:sp>
        <p:sp>
          <p:nvSpPr>
            <p:cNvPr id="866" name="Google Shape;866;p27"/>
            <p:cNvSpPr/>
            <p:nvPr/>
          </p:nvSpPr>
          <p:spPr>
            <a:xfrm>
              <a:off x="5989875" y="11858931"/>
              <a:ext cx="2489400" cy="3600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ko" sz="900">
                  <a:solidFill>
                    <a:schemeClr val="dk1"/>
                  </a:solidFill>
                </a:rPr>
                <a:t>서버</a:t>
              </a:r>
              <a:endParaRPr b="1" sz="900">
                <a:solidFill>
                  <a:schemeClr val="dk1"/>
                </a:solidFill>
              </a:endParaRPr>
            </a:p>
          </p:txBody>
        </p:sp>
        <p:cxnSp>
          <p:nvCxnSpPr>
            <p:cNvPr id="867" name="Google Shape;867;p27"/>
            <p:cNvCxnSpPr>
              <a:stCxn id="863" idx="2"/>
              <a:endCxn id="865" idx="0"/>
            </p:cNvCxnSpPr>
            <p:nvPr/>
          </p:nvCxnSpPr>
          <p:spPr>
            <a:xfrm>
              <a:off x="4437125" y="615184"/>
              <a:ext cx="0" cy="11243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8" name="Google Shape;868;p27"/>
            <p:cNvCxnSpPr>
              <a:stCxn id="864" idx="2"/>
              <a:endCxn id="866" idx="0"/>
            </p:cNvCxnSpPr>
            <p:nvPr/>
          </p:nvCxnSpPr>
          <p:spPr>
            <a:xfrm>
              <a:off x="7234575" y="615184"/>
              <a:ext cx="0" cy="11243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69" name="Google Shape;869;p27"/>
            <p:cNvSpPr txBox="1"/>
            <p:nvPr/>
          </p:nvSpPr>
          <p:spPr>
            <a:xfrm>
              <a:off x="3069100" y="1626781"/>
              <a:ext cx="26985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>
                  <a:solidFill>
                    <a:schemeClr val="dk2"/>
                  </a:solidFill>
                  <a:highlight>
                    <a:schemeClr val="lt1"/>
                  </a:highlight>
                </a:rPr>
                <a:t>2. 관리자 모드: 서버 URL(wss://) 및 Profile 2 설정</a:t>
              </a:r>
              <a:endParaRPr sz="800">
                <a:solidFill>
                  <a:schemeClr val="dk2"/>
                </a:solidFill>
                <a:highlight>
                  <a:schemeClr val="lt1"/>
                </a:highlight>
              </a:endParaRPr>
            </a:p>
          </p:txBody>
        </p:sp>
        <p:sp>
          <p:nvSpPr>
            <p:cNvPr id="870" name="Google Shape;870;p27"/>
            <p:cNvSpPr txBox="1"/>
            <p:nvPr/>
          </p:nvSpPr>
          <p:spPr>
            <a:xfrm>
              <a:off x="3192425" y="764100"/>
              <a:ext cx="5286900" cy="196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800">
                  <a:solidFill>
                    <a:schemeClr val="lt1"/>
                  </a:solidFill>
                </a:rPr>
                <a:t>Phase 1: 현장 설치 및 하드웨어 설정</a:t>
              </a:r>
              <a:endParaRPr b="1" sz="800">
                <a:solidFill>
                  <a:schemeClr val="lt1"/>
                </a:solidFill>
              </a:endParaRPr>
            </a:p>
          </p:txBody>
        </p:sp>
        <p:sp>
          <p:nvSpPr>
            <p:cNvPr id="871" name="Google Shape;871;p27"/>
            <p:cNvSpPr txBox="1"/>
            <p:nvPr/>
          </p:nvSpPr>
          <p:spPr>
            <a:xfrm>
              <a:off x="4438150" y="3291270"/>
              <a:ext cx="27873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>
                  <a:solidFill>
                    <a:schemeClr val="dk2"/>
                  </a:solidFill>
                </a:rPr>
                <a:t>5. HTTP 101 Switching Protocols</a:t>
              </a:r>
              <a:endParaRPr sz="800">
                <a:solidFill>
                  <a:schemeClr val="dk2"/>
                </a:solidFill>
              </a:endParaRPr>
            </a:p>
          </p:txBody>
        </p:sp>
        <p:sp>
          <p:nvSpPr>
            <p:cNvPr id="872" name="Google Shape;872;p27"/>
            <p:cNvSpPr txBox="1"/>
            <p:nvPr/>
          </p:nvSpPr>
          <p:spPr>
            <a:xfrm>
              <a:off x="4353950" y="2489475"/>
              <a:ext cx="2976600" cy="196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800">
                  <a:solidFill>
                    <a:schemeClr val="lt1"/>
                  </a:solidFill>
                </a:rPr>
                <a:t>Phase 2: 보안 웹소켓 연결 (OCPP 1.6J)</a:t>
              </a:r>
              <a:endParaRPr b="1" sz="800">
                <a:solidFill>
                  <a:schemeClr val="lt1"/>
                </a:solidFill>
              </a:endParaRPr>
            </a:p>
          </p:txBody>
        </p:sp>
        <p:sp>
          <p:nvSpPr>
            <p:cNvPr id="873" name="Google Shape;873;p27"/>
            <p:cNvSpPr txBox="1"/>
            <p:nvPr/>
          </p:nvSpPr>
          <p:spPr>
            <a:xfrm>
              <a:off x="4485850" y="4551195"/>
              <a:ext cx="2698500" cy="17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600">
                  <a:solidFill>
                    <a:schemeClr val="dk2"/>
                  </a:solidFill>
                </a:rPr>
                <a:t>[연결 유지 (Keep-Alive)]</a:t>
              </a:r>
              <a:endParaRPr b="1" sz="600">
                <a:solidFill>
                  <a:schemeClr val="dk2"/>
                </a:solidFill>
              </a:endParaRPr>
            </a:p>
          </p:txBody>
        </p:sp>
        <p:sp>
          <p:nvSpPr>
            <p:cNvPr id="874" name="Google Shape;874;p27"/>
            <p:cNvSpPr txBox="1"/>
            <p:nvPr/>
          </p:nvSpPr>
          <p:spPr>
            <a:xfrm>
              <a:off x="4442250" y="4940968"/>
              <a:ext cx="27873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>
                  <a:solidFill>
                    <a:schemeClr val="dk2"/>
                  </a:solidFill>
                </a:rPr>
                <a:t>8. [OCPP] Heartbeat (또는 WS Ping)</a:t>
              </a:r>
              <a:endParaRPr sz="800">
                <a:solidFill>
                  <a:schemeClr val="dk2"/>
                </a:solidFill>
              </a:endParaRPr>
            </a:p>
          </p:txBody>
        </p:sp>
        <p:sp>
          <p:nvSpPr>
            <p:cNvPr id="875" name="Google Shape;875;p27"/>
            <p:cNvSpPr txBox="1"/>
            <p:nvPr/>
          </p:nvSpPr>
          <p:spPr>
            <a:xfrm>
              <a:off x="4435450" y="5352840"/>
              <a:ext cx="27873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>
                  <a:solidFill>
                    <a:schemeClr val="dk2"/>
                  </a:solidFill>
                </a:rPr>
                <a:t>9. [OCPP] Heartbeat.conf (또는 WS Pong)</a:t>
              </a:r>
              <a:endParaRPr sz="800">
                <a:solidFill>
                  <a:schemeClr val="dk2"/>
                </a:solidFill>
              </a:endParaRPr>
            </a:p>
          </p:txBody>
        </p:sp>
        <p:sp>
          <p:nvSpPr>
            <p:cNvPr id="876" name="Google Shape;876;p27"/>
            <p:cNvSpPr txBox="1"/>
            <p:nvPr/>
          </p:nvSpPr>
          <p:spPr>
            <a:xfrm>
              <a:off x="3069097" y="1183314"/>
              <a:ext cx="26985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>
                  <a:solidFill>
                    <a:schemeClr val="dk2"/>
                  </a:solidFill>
                  <a:highlight>
                    <a:schemeClr val="lt1"/>
                  </a:highlight>
                </a:rPr>
                <a:t>1. 물리적 네트워크 연결 (USB 방식)</a:t>
              </a:r>
              <a:endParaRPr sz="800">
                <a:solidFill>
                  <a:schemeClr val="dk2"/>
                </a:solidFill>
                <a:highlight>
                  <a:schemeClr val="lt1"/>
                </a:highlight>
              </a:endParaRPr>
            </a:p>
          </p:txBody>
        </p:sp>
        <p:sp>
          <p:nvSpPr>
            <p:cNvPr id="877" name="Google Shape;877;p27"/>
            <p:cNvSpPr txBox="1"/>
            <p:nvPr/>
          </p:nvSpPr>
          <p:spPr>
            <a:xfrm>
              <a:off x="4437400" y="2828730"/>
              <a:ext cx="27873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>
                  <a:solidFill>
                    <a:schemeClr val="dk2"/>
                  </a:solidFill>
                </a:rPr>
                <a:t>4. TLS Handshake &amp; Upgrade: websocket (Security Profile 2 적용)</a:t>
              </a:r>
              <a:endParaRPr sz="800">
                <a:solidFill>
                  <a:schemeClr val="dk2"/>
                </a:solidFill>
              </a:endParaRPr>
            </a:p>
          </p:txBody>
        </p:sp>
        <p:cxnSp>
          <p:nvCxnSpPr>
            <p:cNvPr id="878" name="Google Shape;878;p27"/>
            <p:cNvCxnSpPr/>
            <p:nvPr/>
          </p:nvCxnSpPr>
          <p:spPr>
            <a:xfrm>
              <a:off x="4412034" y="3212832"/>
              <a:ext cx="2827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oval"/>
              <a:tailEnd len="med" w="med" type="triangle"/>
            </a:ln>
          </p:spPr>
        </p:cxnSp>
        <p:cxnSp>
          <p:nvCxnSpPr>
            <p:cNvPr id="879" name="Google Shape;879;p27"/>
            <p:cNvCxnSpPr/>
            <p:nvPr/>
          </p:nvCxnSpPr>
          <p:spPr>
            <a:xfrm>
              <a:off x="4419430" y="5242277"/>
              <a:ext cx="2827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oval"/>
              <a:tailEnd len="med" w="med" type="triangle"/>
            </a:ln>
          </p:spPr>
        </p:cxnSp>
        <p:cxnSp>
          <p:nvCxnSpPr>
            <p:cNvPr id="880" name="Google Shape;880;p27"/>
            <p:cNvCxnSpPr/>
            <p:nvPr/>
          </p:nvCxnSpPr>
          <p:spPr>
            <a:xfrm rot="10800000">
              <a:off x="4437114" y="5678037"/>
              <a:ext cx="2822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med" w="med" type="oval"/>
              <a:tailEnd len="med" w="med" type="triangle"/>
            </a:ln>
          </p:spPr>
        </p:cxnSp>
        <p:sp>
          <p:nvSpPr>
            <p:cNvPr id="881" name="Google Shape;881;p27"/>
            <p:cNvSpPr txBox="1"/>
            <p:nvPr/>
          </p:nvSpPr>
          <p:spPr>
            <a:xfrm>
              <a:off x="3192425" y="5903353"/>
              <a:ext cx="5286900" cy="196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800">
                  <a:solidFill>
                    <a:schemeClr val="lt1"/>
                  </a:solidFill>
                </a:rPr>
                <a:t>Phase 3: App/QR 전용 충전 시나리오</a:t>
              </a:r>
              <a:endParaRPr b="1" sz="800">
                <a:solidFill>
                  <a:schemeClr val="lt1"/>
                </a:solidFill>
              </a:endParaRPr>
            </a:p>
          </p:txBody>
        </p:sp>
        <p:sp>
          <p:nvSpPr>
            <p:cNvPr id="882" name="Google Shape;882;p27"/>
            <p:cNvSpPr txBox="1"/>
            <p:nvPr/>
          </p:nvSpPr>
          <p:spPr>
            <a:xfrm>
              <a:off x="3650225" y="10439564"/>
              <a:ext cx="1539900" cy="275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>
                  <a:solidFill>
                    <a:schemeClr val="dk2"/>
                  </a:solidFill>
                  <a:highlight>
                    <a:schemeClr val="lt1"/>
                  </a:highlight>
                </a:rPr>
                <a:t>17. 오프라인 발생 이벤트 내부 메모리 저장 (건수 확인 필요)</a:t>
              </a:r>
              <a:endParaRPr sz="800">
                <a:solidFill>
                  <a:schemeClr val="dk2"/>
                </a:solidFill>
                <a:highlight>
                  <a:schemeClr val="lt1"/>
                </a:highlight>
              </a:endParaRPr>
            </a:p>
          </p:txBody>
        </p:sp>
        <p:sp>
          <p:nvSpPr>
            <p:cNvPr id="883" name="Google Shape;883;p27"/>
            <p:cNvSpPr/>
            <p:nvPr/>
          </p:nvSpPr>
          <p:spPr>
            <a:xfrm>
              <a:off x="4350400" y="4624191"/>
              <a:ext cx="479100" cy="167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700">
                  <a:solidFill>
                    <a:schemeClr val="lt1"/>
                  </a:solidFill>
                </a:rPr>
                <a:t>LOOP</a:t>
              </a:r>
              <a:endParaRPr b="1" sz="700">
                <a:solidFill>
                  <a:schemeClr val="lt1"/>
                </a:solidFill>
              </a:endParaRPr>
            </a:p>
          </p:txBody>
        </p:sp>
        <p:sp>
          <p:nvSpPr>
            <p:cNvPr id="884" name="Google Shape;884;p27"/>
            <p:cNvSpPr txBox="1"/>
            <p:nvPr/>
          </p:nvSpPr>
          <p:spPr>
            <a:xfrm>
              <a:off x="3072650" y="2070249"/>
              <a:ext cx="26985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>
                  <a:solidFill>
                    <a:schemeClr val="dk2"/>
                  </a:solidFill>
                  <a:highlight>
                    <a:schemeClr val="lt1"/>
                  </a:highlight>
                </a:rPr>
                <a:t>3. RFID 리더기 하드웨어 비활성화 (Off)</a:t>
              </a:r>
              <a:endParaRPr sz="800">
                <a:solidFill>
                  <a:schemeClr val="dk2"/>
                </a:solidFill>
                <a:highlight>
                  <a:schemeClr val="lt1"/>
                </a:highlight>
              </a:endParaRPr>
            </a:p>
          </p:txBody>
        </p:sp>
        <p:cxnSp>
          <p:nvCxnSpPr>
            <p:cNvPr id="885" name="Google Shape;885;p27"/>
            <p:cNvCxnSpPr/>
            <p:nvPr/>
          </p:nvCxnSpPr>
          <p:spPr>
            <a:xfrm rot="10800000">
              <a:off x="4436325" y="3616681"/>
              <a:ext cx="2822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med" w="med" type="oval"/>
              <a:tailEnd len="med" w="med" type="triangle"/>
            </a:ln>
          </p:spPr>
        </p:cxnSp>
        <p:sp>
          <p:nvSpPr>
            <p:cNvPr id="886" name="Google Shape;886;p27"/>
            <p:cNvSpPr txBox="1"/>
            <p:nvPr/>
          </p:nvSpPr>
          <p:spPr>
            <a:xfrm>
              <a:off x="4430150" y="3688232"/>
              <a:ext cx="27873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>
                  <a:solidFill>
                    <a:schemeClr val="dk2"/>
                  </a:solidFill>
                </a:rPr>
                <a:t>6. [OCPP] BootNotification &amp; StatusNotification</a:t>
              </a:r>
              <a:endParaRPr sz="800">
                <a:solidFill>
                  <a:schemeClr val="dk2"/>
                </a:solidFill>
              </a:endParaRPr>
            </a:p>
          </p:txBody>
        </p:sp>
        <p:cxnSp>
          <p:nvCxnSpPr>
            <p:cNvPr id="887" name="Google Shape;887;p27"/>
            <p:cNvCxnSpPr/>
            <p:nvPr/>
          </p:nvCxnSpPr>
          <p:spPr>
            <a:xfrm>
              <a:off x="4409355" y="3993257"/>
              <a:ext cx="2827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oval"/>
              <a:tailEnd len="med" w="med" type="triangle"/>
            </a:ln>
          </p:spPr>
        </p:cxnSp>
        <p:sp>
          <p:nvSpPr>
            <p:cNvPr id="888" name="Google Shape;888;p27"/>
            <p:cNvSpPr txBox="1"/>
            <p:nvPr/>
          </p:nvSpPr>
          <p:spPr>
            <a:xfrm>
              <a:off x="4438150" y="4092520"/>
              <a:ext cx="27873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>
                  <a:solidFill>
                    <a:schemeClr val="dk2"/>
                  </a:solidFill>
                </a:rPr>
                <a:t>7. [OCPP] Accepted 응답</a:t>
              </a:r>
              <a:endParaRPr sz="800">
                <a:solidFill>
                  <a:schemeClr val="dk2"/>
                </a:solidFill>
              </a:endParaRPr>
            </a:p>
          </p:txBody>
        </p:sp>
        <p:cxnSp>
          <p:nvCxnSpPr>
            <p:cNvPr id="889" name="Google Shape;889;p27"/>
            <p:cNvCxnSpPr/>
            <p:nvPr/>
          </p:nvCxnSpPr>
          <p:spPr>
            <a:xfrm rot="10800000">
              <a:off x="4436325" y="4417931"/>
              <a:ext cx="2822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med" w="med" type="oval"/>
              <a:tailEnd len="med" w="med" type="triangle"/>
            </a:ln>
          </p:spPr>
        </p:cxnSp>
        <p:sp>
          <p:nvSpPr>
            <p:cNvPr id="890" name="Google Shape;890;p27"/>
            <p:cNvSpPr txBox="1"/>
            <p:nvPr/>
          </p:nvSpPr>
          <p:spPr>
            <a:xfrm>
              <a:off x="3087875" y="6263824"/>
              <a:ext cx="26985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>
                  <a:solidFill>
                    <a:schemeClr val="dk2"/>
                  </a:solidFill>
                  <a:highlight>
                    <a:schemeClr val="lt1"/>
                  </a:highlight>
                </a:rPr>
                <a:t>10. 기기 QR 스캔 및 결제/인증 진행</a:t>
              </a:r>
              <a:endParaRPr sz="800">
                <a:solidFill>
                  <a:schemeClr val="dk2"/>
                </a:solidFill>
                <a:highlight>
                  <a:schemeClr val="lt1"/>
                </a:highlight>
              </a:endParaRPr>
            </a:p>
          </p:txBody>
        </p:sp>
        <p:cxnSp>
          <p:nvCxnSpPr>
            <p:cNvPr id="891" name="Google Shape;891;p27"/>
            <p:cNvCxnSpPr/>
            <p:nvPr/>
          </p:nvCxnSpPr>
          <p:spPr>
            <a:xfrm>
              <a:off x="4418375" y="6624450"/>
              <a:ext cx="2826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oval"/>
              <a:tailEnd len="med" w="med" type="triangle"/>
            </a:ln>
          </p:spPr>
        </p:cxnSp>
        <p:sp>
          <p:nvSpPr>
            <p:cNvPr id="892" name="Google Shape;892;p27"/>
            <p:cNvSpPr txBox="1"/>
            <p:nvPr/>
          </p:nvSpPr>
          <p:spPr>
            <a:xfrm>
              <a:off x="4437400" y="6679130"/>
              <a:ext cx="27873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>
                  <a:solidFill>
                    <a:schemeClr val="dk2"/>
                  </a:solidFill>
                </a:rPr>
                <a:t>11. [OCPP] RemoteStartTransaction (원격 충전 지시)</a:t>
              </a:r>
              <a:endParaRPr sz="800">
                <a:solidFill>
                  <a:schemeClr val="dk2"/>
                </a:solidFill>
              </a:endParaRPr>
            </a:p>
          </p:txBody>
        </p:sp>
        <p:cxnSp>
          <p:nvCxnSpPr>
            <p:cNvPr id="893" name="Google Shape;893;p27"/>
            <p:cNvCxnSpPr/>
            <p:nvPr/>
          </p:nvCxnSpPr>
          <p:spPr>
            <a:xfrm rot="10800000">
              <a:off x="4430825" y="6999456"/>
              <a:ext cx="28389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oval"/>
              <a:tailEnd len="med" w="med" type="triangle"/>
            </a:ln>
          </p:spPr>
        </p:cxnSp>
        <p:sp>
          <p:nvSpPr>
            <p:cNvPr id="894" name="Google Shape;894;p27"/>
            <p:cNvSpPr txBox="1"/>
            <p:nvPr/>
          </p:nvSpPr>
          <p:spPr>
            <a:xfrm>
              <a:off x="4438150" y="7063382"/>
              <a:ext cx="27873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>
                  <a:solidFill>
                    <a:schemeClr val="dk2"/>
                  </a:solidFill>
                </a:rPr>
                <a:t>12. [OCPP] Accepted (LED 점등 / 화면 변경)</a:t>
              </a:r>
              <a:endParaRPr sz="800">
                <a:solidFill>
                  <a:schemeClr val="dk2"/>
                </a:solidFill>
              </a:endParaRPr>
            </a:p>
          </p:txBody>
        </p:sp>
        <p:cxnSp>
          <p:nvCxnSpPr>
            <p:cNvPr id="895" name="Google Shape;895;p27"/>
            <p:cNvCxnSpPr/>
            <p:nvPr/>
          </p:nvCxnSpPr>
          <p:spPr>
            <a:xfrm>
              <a:off x="4417889" y="7388794"/>
              <a:ext cx="2822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med" w="med" type="oval"/>
              <a:tailEnd len="med" w="med" type="triangle"/>
            </a:ln>
          </p:spPr>
        </p:cxnSp>
        <p:sp>
          <p:nvSpPr>
            <p:cNvPr id="896" name="Google Shape;896;p27"/>
            <p:cNvSpPr txBox="1"/>
            <p:nvPr/>
          </p:nvSpPr>
          <p:spPr>
            <a:xfrm>
              <a:off x="3087875" y="7514976"/>
              <a:ext cx="26985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>
                  <a:solidFill>
                    <a:schemeClr val="dk2"/>
                  </a:solidFill>
                  <a:highlight>
                    <a:schemeClr val="lt1"/>
                  </a:highlight>
                </a:rPr>
                <a:t>13. 차량 충전 진행</a:t>
              </a:r>
              <a:endParaRPr sz="800">
                <a:solidFill>
                  <a:schemeClr val="dk2"/>
                </a:solidFill>
                <a:highlight>
                  <a:schemeClr val="lt1"/>
                </a:highlight>
              </a:endParaRPr>
            </a:p>
          </p:txBody>
        </p:sp>
        <p:sp>
          <p:nvSpPr>
            <p:cNvPr id="897" name="Google Shape;897;p27"/>
            <p:cNvSpPr txBox="1"/>
            <p:nvPr/>
          </p:nvSpPr>
          <p:spPr>
            <a:xfrm>
              <a:off x="3192425" y="7926202"/>
              <a:ext cx="5286900" cy="196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800">
                  <a:solidFill>
                    <a:schemeClr val="lt1"/>
                  </a:solidFill>
                </a:rPr>
                <a:t>Phase 4: 예외/장애 시나리오 (Edge Case)</a:t>
              </a:r>
              <a:endParaRPr b="1" sz="800">
                <a:solidFill>
                  <a:schemeClr val="lt1"/>
                </a:solidFill>
              </a:endParaRPr>
            </a:p>
          </p:txBody>
        </p:sp>
        <p:sp>
          <p:nvSpPr>
            <p:cNvPr id="898" name="Google Shape;898;p27"/>
            <p:cNvSpPr/>
            <p:nvPr/>
          </p:nvSpPr>
          <p:spPr>
            <a:xfrm>
              <a:off x="3225550" y="8282975"/>
              <a:ext cx="1136400" cy="167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700">
                  <a:solidFill>
                    <a:schemeClr val="lt1"/>
                  </a:solidFill>
                </a:rPr>
                <a:t>비상 정지 버튼 클릭</a:t>
              </a:r>
              <a:endParaRPr b="1" sz="700">
                <a:solidFill>
                  <a:schemeClr val="lt1"/>
                </a:solidFill>
              </a:endParaRPr>
            </a:p>
          </p:txBody>
        </p:sp>
        <p:sp>
          <p:nvSpPr>
            <p:cNvPr id="899" name="Google Shape;899;p27"/>
            <p:cNvSpPr txBox="1"/>
            <p:nvPr/>
          </p:nvSpPr>
          <p:spPr>
            <a:xfrm>
              <a:off x="3095375" y="8550824"/>
              <a:ext cx="26985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>
                  <a:solidFill>
                    <a:schemeClr val="dk2"/>
                  </a:solidFill>
                  <a:highlight>
                    <a:schemeClr val="lt1"/>
                  </a:highlight>
                </a:rPr>
                <a:t>14. 물리적 비상 장치 스위치 누름</a:t>
              </a:r>
              <a:endParaRPr sz="800">
                <a:solidFill>
                  <a:schemeClr val="dk2"/>
                </a:solidFill>
                <a:highlight>
                  <a:schemeClr val="lt1"/>
                </a:highlight>
              </a:endParaRPr>
            </a:p>
          </p:txBody>
        </p:sp>
        <p:sp>
          <p:nvSpPr>
            <p:cNvPr id="900" name="Google Shape;900;p27"/>
            <p:cNvSpPr txBox="1"/>
            <p:nvPr/>
          </p:nvSpPr>
          <p:spPr>
            <a:xfrm>
              <a:off x="4442250" y="8874143"/>
              <a:ext cx="27873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>
                  <a:solidFill>
                    <a:schemeClr val="dk2"/>
                  </a:solidFill>
                </a:rPr>
                <a:t>15. [OCPP] StatusNotification (EmergencyStop / Faulted)</a:t>
              </a:r>
              <a:endParaRPr sz="800">
                <a:solidFill>
                  <a:schemeClr val="dk2"/>
                </a:solidFill>
              </a:endParaRPr>
            </a:p>
          </p:txBody>
        </p:sp>
        <p:cxnSp>
          <p:nvCxnSpPr>
            <p:cNvPr id="901" name="Google Shape;901;p27"/>
            <p:cNvCxnSpPr/>
            <p:nvPr/>
          </p:nvCxnSpPr>
          <p:spPr>
            <a:xfrm>
              <a:off x="4419430" y="9175452"/>
              <a:ext cx="2827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oval"/>
              <a:tailEnd len="med" w="med" type="triangle"/>
            </a:ln>
          </p:spPr>
        </p:cxnSp>
        <p:cxnSp>
          <p:nvCxnSpPr>
            <p:cNvPr id="902" name="Google Shape;902;p27"/>
            <p:cNvCxnSpPr/>
            <p:nvPr/>
          </p:nvCxnSpPr>
          <p:spPr>
            <a:xfrm rot="10800000">
              <a:off x="4442970" y="9657225"/>
              <a:ext cx="2820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oval"/>
              <a:tailEnd len="med" w="med" type="triangle"/>
            </a:ln>
          </p:spPr>
        </p:cxnSp>
        <p:sp>
          <p:nvSpPr>
            <p:cNvPr id="903" name="Google Shape;903;p27"/>
            <p:cNvSpPr/>
            <p:nvPr/>
          </p:nvSpPr>
          <p:spPr>
            <a:xfrm>
              <a:off x="3225550" y="9860975"/>
              <a:ext cx="1136400" cy="167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700">
                  <a:solidFill>
                    <a:schemeClr val="lt1"/>
                  </a:solidFill>
                </a:rPr>
                <a:t>통신망 일시 단절</a:t>
              </a:r>
              <a:endParaRPr b="1" sz="700">
                <a:solidFill>
                  <a:schemeClr val="lt1"/>
                </a:solidFill>
              </a:endParaRPr>
            </a:p>
          </p:txBody>
        </p:sp>
        <p:sp>
          <p:nvSpPr>
            <p:cNvPr id="904" name="Google Shape;904;p27"/>
            <p:cNvSpPr txBox="1"/>
            <p:nvPr/>
          </p:nvSpPr>
          <p:spPr>
            <a:xfrm>
              <a:off x="4353950" y="10072452"/>
              <a:ext cx="2980200" cy="196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800">
                  <a:solidFill>
                    <a:schemeClr val="lt1"/>
                  </a:solidFill>
                </a:rPr>
                <a:t>통신 단절 감지</a:t>
              </a:r>
              <a:endParaRPr b="1" sz="800">
                <a:solidFill>
                  <a:schemeClr val="lt1"/>
                </a:solidFill>
              </a:endParaRPr>
            </a:p>
          </p:txBody>
        </p:sp>
        <p:sp>
          <p:nvSpPr>
            <p:cNvPr id="905" name="Google Shape;905;p27"/>
            <p:cNvSpPr txBox="1"/>
            <p:nvPr/>
          </p:nvSpPr>
          <p:spPr>
            <a:xfrm>
              <a:off x="4353950" y="10947494"/>
              <a:ext cx="2980200" cy="196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800">
                  <a:solidFill>
                    <a:schemeClr val="lt1"/>
                  </a:solidFill>
                </a:rPr>
                <a:t>네트워크 복수</a:t>
              </a:r>
              <a:endParaRPr b="1" sz="800">
                <a:solidFill>
                  <a:schemeClr val="lt1"/>
                </a:solidFill>
              </a:endParaRPr>
            </a:p>
          </p:txBody>
        </p:sp>
        <p:sp>
          <p:nvSpPr>
            <p:cNvPr id="906" name="Google Shape;906;p27"/>
            <p:cNvSpPr txBox="1"/>
            <p:nvPr/>
          </p:nvSpPr>
          <p:spPr>
            <a:xfrm>
              <a:off x="4402125" y="11268273"/>
              <a:ext cx="28677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>
                  <a:solidFill>
                    <a:schemeClr val="dk2"/>
                  </a:solidFill>
                </a:rPr>
                <a:t>18. [OCPP] 보존된 오프라인 데이터 일괄 업로드 (Store &amp; Forward)</a:t>
              </a:r>
              <a:endParaRPr sz="800">
                <a:solidFill>
                  <a:schemeClr val="dk2"/>
                </a:solidFill>
              </a:endParaRPr>
            </a:p>
          </p:txBody>
        </p:sp>
        <p:cxnSp>
          <p:nvCxnSpPr>
            <p:cNvPr id="907" name="Google Shape;907;p27"/>
            <p:cNvCxnSpPr/>
            <p:nvPr/>
          </p:nvCxnSpPr>
          <p:spPr>
            <a:xfrm>
              <a:off x="4419430" y="11643329"/>
              <a:ext cx="2827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oval"/>
              <a:tailEnd len="med" w="med" type="triangle"/>
            </a:ln>
          </p:spPr>
        </p:cxnSp>
        <p:sp>
          <p:nvSpPr>
            <p:cNvPr id="908" name="Google Shape;908;p27"/>
            <p:cNvSpPr txBox="1"/>
            <p:nvPr/>
          </p:nvSpPr>
          <p:spPr>
            <a:xfrm>
              <a:off x="3095375" y="9300035"/>
              <a:ext cx="26985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>
                  <a:solidFill>
                    <a:schemeClr val="dk2"/>
                  </a:solidFill>
                  <a:highlight>
                    <a:schemeClr val="lt1"/>
                  </a:highlight>
                </a:rPr>
                <a:t>16. 앱 화면 “비상 정지 알림” 팝업</a:t>
              </a:r>
              <a:endParaRPr sz="800">
                <a:solidFill>
                  <a:schemeClr val="dk2"/>
                </a:solidFill>
                <a:highlight>
                  <a:schemeClr val="lt1"/>
                </a:highlight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