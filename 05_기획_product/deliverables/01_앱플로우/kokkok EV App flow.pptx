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747775"/>
          </p15:clr>
        </p15:guide>
        <p15:guide id="2" pos="76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36e81b4b1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36e81b4b1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36e81b4b1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36e81b4b1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36e81b4b1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36e81b4b1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36e81b4b1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36e81b4b1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36e81b4b1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36e81b4b1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36e81b4b1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36e81b4b1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6e81b4b1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36e81b4b1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6e81b4b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36e81b4b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6e81b4b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36e81b4b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36e81b4b1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e36e81b4b1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36e81b4b1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36e81b4b1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36e81b4b1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36e81b4b1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36e81b4b1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36e81b4b1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36e81b4b1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36e81b4b1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36e81b4b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e36e81b4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1pPr>
            <a:lvl2pPr lvl="1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2pPr>
            <a:lvl3pPr lvl="2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3pPr>
            <a:lvl4pPr lvl="3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4pPr>
            <a:lvl5pPr lvl="4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5pPr>
            <a:lvl6pPr lvl="5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6pPr>
            <a:lvl7pPr lvl="6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7pPr>
            <a:lvl8pPr lvl="7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8pPr>
            <a:lvl9pPr lvl="8" algn="ctr">
              <a:spcBef>
                <a:spcPts val="0"/>
              </a:spcBef>
              <a:spcAft>
                <a:spcPts val="0"/>
              </a:spcAft>
              <a:buSzPts val="13867"/>
              <a:buNone/>
              <a:defRPr sz="1386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831200" y="7557667"/>
            <a:ext cx="22721700" cy="2113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831200" y="3073267"/>
            <a:ext cx="106665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5666" lvl="0" marL="4572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2886400" y="3073267"/>
            <a:ext cx="10666500" cy="91104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5666" lvl="0" marL="4572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1pPr>
            <a:lvl2pPr lvl="1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2pPr>
            <a:lvl3pPr lvl="2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3pPr>
            <a:lvl4pPr lvl="3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4pPr>
            <a:lvl5pPr lvl="4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5pPr>
            <a:lvl6pPr lvl="5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6pPr>
            <a:lvl7pPr lvl="6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7pPr>
            <a:lvl8pPr lvl="7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8pPr>
            <a:lvl9pPr lvl="8">
              <a:spcBef>
                <a:spcPts val="0"/>
              </a:spcBef>
              <a:spcAft>
                <a:spcPts val="0"/>
              </a:spcAft>
              <a:buSzPts val="7467"/>
              <a:buNone/>
              <a:defRPr sz="7467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831200" y="1481600"/>
            <a:ext cx="7488000" cy="20151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831200" y="3705600"/>
            <a:ext cx="7488000" cy="84783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07333" y="1200400"/>
            <a:ext cx="16980900" cy="10908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92000" y="-333"/>
            <a:ext cx="12192000" cy="1371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08000" y="3288467"/>
            <a:ext cx="10787100" cy="39528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708000" y="7474867"/>
            <a:ext cx="10787100" cy="32937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3172000" y="1930867"/>
            <a:ext cx="10232100" cy="98535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533400" lvl="0" marL="45720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1200" y="11281533"/>
            <a:ext cx="15996900" cy="1613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831200" y="2949667"/>
            <a:ext cx="22721700" cy="52359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0"/>
              <a:buNone/>
              <a:defRPr sz="3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831200" y="8405933"/>
            <a:ext cx="22721700" cy="34689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ctr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indent="-465666" lvl="1" marL="9144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2pPr>
            <a:lvl3pPr indent="-465666" lvl="2" marL="13716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3pPr>
            <a:lvl4pPr indent="-465666" lvl="3" marL="1828800" algn="ctr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4pPr>
            <a:lvl5pPr indent="-465667" lvl="4" marL="22860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5pPr>
            <a:lvl6pPr indent="-465667" lvl="5" marL="27432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6pPr>
            <a:lvl7pPr indent="-465667" lvl="6" marL="3200400" algn="ctr">
              <a:spcBef>
                <a:spcPts val="0"/>
              </a:spcBef>
              <a:spcAft>
                <a:spcPts val="0"/>
              </a:spcAft>
              <a:buSzPts val="3733"/>
              <a:buChar char="●"/>
              <a:defRPr sz="3733"/>
            </a:lvl7pPr>
            <a:lvl8pPr indent="-465667" lvl="7" marL="3657600" algn="ctr">
              <a:spcBef>
                <a:spcPts val="0"/>
              </a:spcBef>
              <a:spcAft>
                <a:spcPts val="0"/>
              </a:spcAft>
              <a:buSzPts val="3733"/>
              <a:buChar char="○"/>
              <a:defRPr sz="3733"/>
            </a:lvl8pPr>
            <a:lvl9pPr indent="-465667" lvl="8" marL="4114800" algn="ctr">
              <a:spcBef>
                <a:spcPts val="0"/>
              </a:spcBef>
              <a:spcAft>
                <a:spcPts val="0"/>
              </a:spcAft>
              <a:buSzPts val="3733"/>
              <a:buChar char="■"/>
              <a:defRPr sz="3733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>
              <a:buNone/>
              <a:defRPr sz="2667"/>
            </a:lvl1pPr>
            <a:lvl2pPr lvl="1">
              <a:buNone/>
              <a:defRPr sz="2667"/>
            </a:lvl2pPr>
            <a:lvl3pPr lvl="2">
              <a:buNone/>
              <a:defRPr sz="2667"/>
            </a:lvl3pPr>
            <a:lvl4pPr lvl="3">
              <a:buNone/>
              <a:defRPr sz="2667"/>
            </a:lvl4pPr>
            <a:lvl5pPr lvl="4">
              <a:buNone/>
              <a:defRPr sz="2667"/>
            </a:lvl5pPr>
            <a:lvl6pPr lvl="5">
              <a:buNone/>
              <a:defRPr sz="2667"/>
            </a:lvl6pPr>
            <a:lvl7pPr lvl="6">
              <a:buNone/>
              <a:defRPr sz="2667"/>
            </a:lvl7pPr>
            <a:lvl8pPr lvl="7">
              <a:buNone/>
              <a:defRPr sz="2667"/>
            </a:lvl8pPr>
            <a:lvl9pPr lvl="8">
              <a:buNone/>
              <a:defRPr sz="2667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1200" y="1186733"/>
            <a:ext cx="22721700" cy="15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467"/>
              <a:buNone/>
              <a:defRPr sz="7467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1200" y="3073267"/>
            <a:ext cx="22721700" cy="9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Char char="●"/>
              <a:defRPr sz="4800">
                <a:solidFill>
                  <a:schemeClr val="dk2"/>
                </a:solidFill>
              </a:defRPr>
            </a:lvl1pPr>
            <a:lvl2pPr indent="-465666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2pPr>
            <a:lvl3pPr indent="-465666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3pPr>
            <a:lvl4pPr indent="-465666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●"/>
              <a:defRPr sz="3733">
                <a:solidFill>
                  <a:schemeClr val="dk2"/>
                </a:solidFill>
              </a:defRPr>
            </a:lvl4pPr>
            <a:lvl5pPr indent="-46566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5pPr>
            <a:lvl6pPr indent="-46566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6pPr>
            <a:lvl7pPr indent="-46566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●"/>
              <a:defRPr sz="3733">
                <a:solidFill>
                  <a:schemeClr val="dk2"/>
                </a:solidFill>
              </a:defRPr>
            </a:lvl7pPr>
            <a:lvl8pPr indent="-46566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○"/>
              <a:defRPr sz="3733">
                <a:solidFill>
                  <a:schemeClr val="dk2"/>
                </a:solidFill>
              </a:defRPr>
            </a:lvl8pPr>
            <a:lvl9pPr indent="-46566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33"/>
              <a:buChar char="■"/>
              <a:defRPr sz="3733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r">
              <a:buNone/>
              <a:defRPr sz="2667">
                <a:solidFill>
                  <a:schemeClr val="dk2"/>
                </a:solidFill>
              </a:defRPr>
            </a:lvl1pPr>
            <a:lvl2pPr lvl="1" algn="r">
              <a:buNone/>
              <a:defRPr sz="2667">
                <a:solidFill>
                  <a:schemeClr val="dk2"/>
                </a:solidFill>
              </a:defRPr>
            </a:lvl2pPr>
            <a:lvl3pPr lvl="2" algn="r">
              <a:buNone/>
              <a:defRPr sz="2667">
                <a:solidFill>
                  <a:schemeClr val="dk2"/>
                </a:solidFill>
              </a:defRPr>
            </a:lvl3pPr>
            <a:lvl4pPr lvl="3" algn="r">
              <a:buNone/>
              <a:defRPr sz="2667">
                <a:solidFill>
                  <a:schemeClr val="dk2"/>
                </a:solidFill>
              </a:defRPr>
            </a:lvl4pPr>
            <a:lvl5pPr lvl="4" algn="r">
              <a:buNone/>
              <a:defRPr sz="2667">
                <a:solidFill>
                  <a:schemeClr val="dk2"/>
                </a:solidFill>
              </a:defRPr>
            </a:lvl5pPr>
            <a:lvl6pPr lvl="5" algn="r">
              <a:buNone/>
              <a:defRPr sz="2667">
                <a:solidFill>
                  <a:schemeClr val="dk2"/>
                </a:solidFill>
              </a:defRPr>
            </a:lvl6pPr>
            <a:lvl7pPr lvl="6" algn="r">
              <a:buNone/>
              <a:defRPr sz="2667">
                <a:solidFill>
                  <a:schemeClr val="dk2"/>
                </a:solidFill>
              </a:defRPr>
            </a:lvl7pPr>
            <a:lvl8pPr lvl="7" algn="r">
              <a:buNone/>
              <a:defRPr sz="2667">
                <a:solidFill>
                  <a:schemeClr val="dk2"/>
                </a:solidFill>
              </a:defRPr>
            </a:lvl8pPr>
            <a:lvl9pPr lvl="8" algn="r">
              <a:buNone/>
              <a:defRPr sz="2667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figma.com/make/Ddc03alxx6RsmNfjmyeaNQ/EV-Charging-App-UI?t=AjuNalqEvybFseLp-1" TargetMode="External"/><Relationship Id="rId4" Type="http://schemas.openxmlformats.org/officeDocument/2006/relationships/hyperlink" Target="https://www.figma.com/make/Ddc03alxx6RsmNfjmyeaNQ/EV-Charging-App-UI?t=AjuNalqEvybFseLp-1" TargetMode="External"/><Relationship Id="rId5" Type="http://schemas.openxmlformats.org/officeDocument/2006/relationships/hyperlink" Target="https://www.figma.com/make/Ddc03alxx6RsmNfjmyeaNQ/EV-Charging-App-UI?t=AjuNalqEvybFseLp-1" TargetMode="External"/><Relationship Id="rId6" Type="http://schemas.openxmlformats.org/officeDocument/2006/relationships/hyperlink" Target="https://www.figma.com/design/sKnTQsUeRhzXzRfEFRWRgI/Kokkok-EV?node-id=0-1&amp;t=yvb0wLqBDugdD7VD-1" TargetMode="External"/><Relationship Id="rId7" Type="http://schemas.openxmlformats.org/officeDocument/2006/relationships/hyperlink" Target="https://www.figma.com/design/sKnTQsUeRhzXzRfEFRWRgI/Kokkok-EV?node-id=0-1&amp;t=yvb0wLqBDugdD7VD-1" TargetMode="External"/><Relationship Id="rId8" Type="http://schemas.openxmlformats.org/officeDocument/2006/relationships/hyperlink" Target="https://www.figma.com/design/sKnTQsUeRhzXzRfEFRWRgI/Kokkok-EV?node-id=0-1&amp;t=yvb0wLqBDugdD7VD-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831222" y="1985533"/>
            <a:ext cx="22721700" cy="5473500"/>
          </a:xfrm>
          <a:prstGeom prst="rect">
            <a:avLst/>
          </a:prstGeom>
        </p:spPr>
        <p:txBody>
          <a:bodyPr anchorCtr="0" anchor="b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kokkok EV App flow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280350" y="10929950"/>
            <a:ext cx="6119700" cy="1711500"/>
          </a:xfrm>
          <a:prstGeom prst="rect">
            <a:avLst/>
          </a:prstGeom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ko" sz="2400"/>
              <a:t>생성일</a:t>
            </a:r>
            <a:r>
              <a:rPr lang="ko" sz="2400"/>
              <a:t>: </a:t>
            </a:r>
            <a:r>
              <a:rPr lang="ko" sz="2400"/>
              <a:t>2026.05.20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ko" sz="2400"/>
              <a:t>마지막 수정일</a:t>
            </a:r>
            <a:r>
              <a:rPr lang="ko" sz="2400"/>
              <a:t>: </a:t>
            </a:r>
            <a:r>
              <a:rPr lang="ko" sz="2400"/>
              <a:t>2026.05.20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ko" sz="2400"/>
              <a:t>작성자</a:t>
            </a:r>
            <a:r>
              <a:rPr lang="ko" sz="2400"/>
              <a:t>: 마수한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333500" y="1333500"/>
            <a:ext cx="11315700" cy="10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INDEX</a:t>
            </a:r>
            <a:br>
              <a:rPr lang="ko" sz="4000">
                <a:solidFill>
                  <a:schemeClr val="dk2"/>
                </a:solidFill>
              </a:rPr>
            </a:br>
            <a:endParaRPr sz="40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b="1" lang="ko" sz="3600">
                <a:solidFill>
                  <a:schemeClr val="dk2"/>
                </a:solidFill>
              </a:rPr>
              <a:t>App 화면설계서 및 프로토타입 링크</a:t>
            </a:r>
            <a:endParaRPr b="1" sz="3600">
              <a:solidFill>
                <a:schemeClr val="dk2"/>
              </a:solidFill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lang="ko" sz="3600">
                <a:solidFill>
                  <a:schemeClr val="dk2"/>
                </a:solidFill>
              </a:rPr>
              <a:t>App 화면설계서</a:t>
            </a:r>
            <a:endParaRPr sz="3600">
              <a:solidFill>
                <a:schemeClr val="dk2"/>
              </a:solidFill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lang="ko" sz="3600">
                <a:solidFill>
                  <a:schemeClr val="dk2"/>
                </a:solidFill>
              </a:rPr>
              <a:t>프로토타입</a:t>
            </a:r>
            <a:br>
              <a:rPr lang="ko" sz="3600">
                <a:solidFill>
                  <a:schemeClr val="dk2"/>
                </a:solidFill>
              </a:rPr>
            </a:br>
            <a:endParaRPr sz="36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b="1" lang="ko" sz="3600">
                <a:solidFill>
                  <a:schemeClr val="dk2"/>
                </a:solidFill>
              </a:rPr>
              <a:t>kokkok 홈으로 돌아가기</a:t>
            </a:r>
            <a:br>
              <a:rPr b="1" lang="ko" sz="3600">
                <a:solidFill>
                  <a:schemeClr val="dk2"/>
                </a:solidFill>
              </a:rPr>
            </a:br>
            <a:endParaRPr b="1" sz="36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b="1" lang="ko" sz="3600">
                <a:solidFill>
                  <a:schemeClr val="dk2"/>
                </a:solidFill>
              </a:rPr>
              <a:t>충전소 찾기</a:t>
            </a:r>
            <a:br>
              <a:rPr lang="ko" sz="3600">
                <a:solidFill>
                  <a:schemeClr val="dk2"/>
                </a:solidFill>
              </a:rPr>
            </a:br>
            <a:endParaRPr sz="36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b="1" lang="ko" sz="3600">
                <a:solidFill>
                  <a:schemeClr val="dk2"/>
                </a:solidFill>
              </a:rPr>
              <a:t>충전</a:t>
            </a:r>
            <a:endParaRPr b="1" sz="3600">
              <a:solidFill>
                <a:schemeClr val="dk2"/>
              </a:solidFill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lang="ko" sz="3600">
                <a:solidFill>
                  <a:schemeClr val="dk2"/>
                </a:solidFill>
              </a:rPr>
              <a:t>충전 flow 01</a:t>
            </a:r>
            <a:endParaRPr sz="36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2"/>
                </a:solidFill>
              </a:rPr>
              <a:t>충전 flow 01</a:t>
            </a:r>
            <a:endParaRPr sz="3600">
              <a:solidFill>
                <a:schemeClr val="dk2"/>
              </a:solidFill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lang="ko" sz="3600">
                <a:solidFill>
                  <a:schemeClr val="dk2"/>
                </a:solidFill>
              </a:rPr>
              <a:t>충전 flow 02</a:t>
            </a:r>
            <a:endParaRPr sz="36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2"/>
                </a:solidFill>
              </a:rPr>
              <a:t>충전 flow 02</a:t>
            </a:r>
            <a:endParaRPr sz="3600">
              <a:solidFill>
                <a:schemeClr val="dk2"/>
              </a:solidFill>
            </a:endParaRPr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lang="ko" sz="3600">
                <a:solidFill>
                  <a:schemeClr val="dk2"/>
                </a:solidFill>
              </a:rPr>
              <a:t>충전 flow 03</a:t>
            </a:r>
            <a:endParaRPr sz="36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600">
                <a:solidFill>
                  <a:schemeClr val="dk2"/>
                </a:solidFill>
              </a:rPr>
              <a:t>충전 flow 03</a:t>
            </a:r>
            <a:br>
              <a:rPr lang="ko" sz="3600">
                <a:solidFill>
                  <a:schemeClr val="dk2"/>
                </a:solidFill>
              </a:rPr>
            </a:br>
            <a:endParaRPr sz="3600">
              <a:solidFill>
                <a:schemeClr val="dk2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AutoNum type="arabicPeriod"/>
            </a:pPr>
            <a:r>
              <a:rPr b="1" lang="ko" sz="3600">
                <a:solidFill>
                  <a:schemeClr val="dk2"/>
                </a:solidFill>
              </a:rPr>
              <a:t>충전 내역 확인</a:t>
            </a:r>
            <a:endParaRPr b="1"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719533" y="8271325"/>
            <a:ext cx="1286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Figma </a:t>
            </a:r>
            <a:r>
              <a:rPr lang="ko" sz="3000" u="sng">
                <a:solidFill>
                  <a:schemeClr val="hlink"/>
                </a:solidFill>
                <a:hlinkClick r:id="rId4"/>
              </a:rPr>
              <a:t>프로토타입 </a:t>
            </a:r>
            <a:r>
              <a:rPr lang="ko" sz="30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바로가기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719533" y="3222050"/>
            <a:ext cx="1286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u="sng">
                <a:solidFill>
                  <a:schemeClr val="hlink"/>
                </a:solidFill>
              </a:rPr>
              <a:t>FIgma </a:t>
            </a:r>
            <a:r>
              <a:rPr lang="ko" sz="3000" u="sng">
                <a:solidFill>
                  <a:schemeClr val="hlink"/>
                </a:solidFill>
                <a:hlinkClick r:id="rId6"/>
              </a:rPr>
              <a:t>화면설계</a:t>
            </a:r>
            <a:r>
              <a:rPr lang="ko" sz="3000" u="sng">
                <a:solidFill>
                  <a:schemeClr val="hlink"/>
                </a:solidFill>
                <a:hlinkClick r:id="rId7"/>
              </a:rPr>
              <a:t>서 </a:t>
            </a:r>
            <a:r>
              <a:rPr lang="ko" sz="3000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바로가기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1. App </a:t>
            </a:r>
            <a:r>
              <a:rPr b="1" lang="ko" sz="4800">
                <a:solidFill>
                  <a:schemeClr val="dk1"/>
                </a:solidFill>
              </a:rPr>
              <a:t>화면설계서 및 프로토타입 링크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14733" y="2175358"/>
            <a:ext cx="1234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chemeClr val="dk1"/>
                </a:solidFill>
              </a:rPr>
              <a:t>1.1. App 화면설계서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14733" y="7224633"/>
            <a:ext cx="1234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chemeClr val="dk1"/>
                </a:solidFill>
              </a:rPr>
              <a:t>1.2. </a:t>
            </a:r>
            <a:r>
              <a:rPr b="1" lang="ko" sz="3600">
                <a:solidFill>
                  <a:schemeClr val="dk1"/>
                </a:solidFill>
              </a:rPr>
              <a:t>프로토타입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2</a:t>
            </a:r>
            <a:r>
              <a:rPr b="1" lang="ko"/>
              <a:t>. </a:t>
            </a:r>
            <a:r>
              <a:rPr b="1" lang="ko"/>
              <a:t>kokkok 홈으로 돌아가기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2</a:t>
            </a:r>
            <a:r>
              <a:rPr b="1" lang="ko" sz="4800">
                <a:solidFill>
                  <a:schemeClr val="dk1"/>
                </a:solidFill>
              </a:rPr>
              <a:t>. </a:t>
            </a:r>
            <a:r>
              <a:rPr b="1" lang="ko" sz="4800">
                <a:solidFill>
                  <a:schemeClr val="dk1"/>
                </a:solidFill>
              </a:rPr>
              <a:t>kokkok 홈으로 돌아가기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80" name="Google Shape;80;p17" title="EV Charging App UI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13" y="2696766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7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map에서 back </a:t>
            </a:r>
            <a:r>
              <a:rPr b="1" lang="ko" sz="1700">
                <a:solidFill>
                  <a:schemeClr val="dk1"/>
                </a:solidFill>
              </a:rPr>
              <a:t>버튼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858525" y="2138850"/>
            <a:ext cx="3023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kokkok </a:t>
            </a:r>
            <a:r>
              <a:rPr b="1" lang="ko" sz="1700">
                <a:solidFill>
                  <a:schemeClr val="dk1"/>
                </a:solidFill>
              </a:rPr>
              <a:t>홈으로 이동 확인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83" name="Google Shape;83;p17"/>
          <p:cNvCxnSpPr>
            <a:stCxn id="80" idx="3"/>
            <a:endCxn id="84" idx="1"/>
          </p:cNvCxnSpPr>
          <p:nvPr/>
        </p:nvCxnSpPr>
        <p:spPr>
          <a:xfrm>
            <a:off x="3438094" y="5968516"/>
            <a:ext cx="421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85" name="Google Shape;85;p17"/>
          <p:cNvPicPr preferRelativeResize="0"/>
          <p:nvPr/>
        </p:nvPicPr>
        <p:blipFill rotWithShape="1">
          <a:blip r:embed="rId4">
            <a:alphaModFix/>
          </a:blip>
          <a:srcRect b="13557" l="29402" r="28994" t="15577"/>
          <a:stretch/>
        </p:blipFill>
        <p:spPr>
          <a:xfrm>
            <a:off x="562268" y="2820300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sp>
        <p:nvSpPr>
          <p:cNvPr id="84" name="Google Shape;84;p17"/>
          <p:cNvSpPr/>
          <p:nvPr/>
        </p:nvSpPr>
        <p:spPr>
          <a:xfrm>
            <a:off x="3859350" y="2672725"/>
            <a:ext cx="3024000" cy="6591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kokkok 홈 화면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3</a:t>
            </a:r>
            <a:r>
              <a:rPr b="1" lang="ko"/>
              <a:t>. 충전소 찾기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3. </a:t>
            </a:r>
            <a:r>
              <a:rPr b="1" lang="ko" sz="4800">
                <a:solidFill>
                  <a:schemeClr val="dk1"/>
                </a:solidFill>
              </a:rPr>
              <a:t>충전소 찾기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96" name="Google Shape;96;p19" title="EV Charging App UI_filter_connector_ty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9348" y="2672356"/>
            <a:ext cx="3024000" cy="659232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9" title="EV Charging App UI_filter_power_out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4601" y="2672574"/>
            <a:ext cx="3024000" cy="6591884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9" title="EV Charging App UI_filter_charger_statu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49855" y="2672574"/>
            <a:ext cx="3024000" cy="6591884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" name="Google Shape;99;p19" title="EV Charging App UI_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4713" y="2696766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0" name="Google Shape;100;p19" title="EV Charging App UI_filter_don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95109" y="2693146"/>
            <a:ext cx="3024000" cy="655073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" name="Google Shape;101;p19"/>
          <p:cNvSpPr txBox="1"/>
          <p:nvPr/>
        </p:nvSpPr>
        <p:spPr>
          <a:xfrm>
            <a:off x="3945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map에서 </a:t>
            </a:r>
            <a:r>
              <a:rPr b="1" lang="ko" sz="1700">
                <a:solidFill>
                  <a:schemeClr val="dk1"/>
                </a:solidFill>
              </a:rPr>
              <a:t>검색 필터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8346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</a:t>
            </a:r>
            <a:r>
              <a:rPr b="1" lang="ko" sz="1700">
                <a:solidFill>
                  <a:schemeClr val="dk1"/>
                </a:solidFill>
              </a:rPr>
              <a:t>검색 필터별 조건 설정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72747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검색 필터별 조건 설정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071480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검색 필터별 조건 설정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141548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03: 검색 필터 적용 확인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14597825" y="3282325"/>
            <a:ext cx="2068500" cy="26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7" name="Google Shape;107;p19"/>
          <p:cNvCxnSpPr>
            <a:stCxn id="99" idx="3"/>
            <a:endCxn id="96" idx="1"/>
          </p:cNvCxnSpPr>
          <p:nvPr/>
        </p:nvCxnSpPr>
        <p:spPr>
          <a:xfrm>
            <a:off x="3438094" y="5968516"/>
            <a:ext cx="421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9"/>
          <p:cNvCxnSpPr>
            <a:stCxn id="96" idx="3"/>
            <a:endCxn id="97" idx="1"/>
          </p:cNvCxnSpPr>
          <p:nvPr/>
        </p:nvCxnSpPr>
        <p:spPr>
          <a:xfrm>
            <a:off x="6883348" y="5968516"/>
            <a:ext cx="421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9"/>
          <p:cNvCxnSpPr>
            <a:stCxn id="97" idx="3"/>
            <a:endCxn id="98" idx="1"/>
          </p:cNvCxnSpPr>
          <p:nvPr/>
        </p:nvCxnSpPr>
        <p:spPr>
          <a:xfrm>
            <a:off x="10328601" y="5968516"/>
            <a:ext cx="421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9"/>
          <p:cNvCxnSpPr>
            <a:stCxn id="98" idx="3"/>
            <a:endCxn id="100" idx="1"/>
          </p:cNvCxnSpPr>
          <p:nvPr/>
        </p:nvCxnSpPr>
        <p:spPr>
          <a:xfrm>
            <a:off x="13773855" y="5968516"/>
            <a:ext cx="421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111" name="Google Shape;111;p19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741877" y="326852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12" name="Google Shape;112;p19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6006152" y="8671747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13" name="Google Shape;113;p19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9533470" y="8671747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14" name="Google Shape;114;p19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12955495" y="8671747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4</a:t>
            </a:r>
            <a:r>
              <a:rPr b="1" lang="ko"/>
              <a:t>. </a:t>
            </a:r>
            <a:r>
              <a:rPr b="1" lang="ko"/>
              <a:t>충전</a:t>
            </a: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.1. 충전_flow_01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125" name="Google Shape;125;p21" title="EV Charging App UI_deta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7176" y="2635280"/>
            <a:ext cx="3024000" cy="6592320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6" name="Google Shape;126;p21" title="EV Charging App UI_payment_sele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85595" y="2651231"/>
            <a:ext cx="3024000" cy="656041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21" title="EV Charging App UI_qrscan_detect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49497" y="2658447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" name="Google Shape;128;p21" title="EV Charging App UI_qrscan_scann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60260" y="2658447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p21" title="EV Charging App UI_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713" y="2659691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" name="Google Shape;130;p21" title="EV Charging App UI_aoorove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884880" y="2632771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21" title="EV Charging App UI_requesting_aoorov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485238" y="2658447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21"/>
          <p:cNvSpPr txBox="1"/>
          <p:nvPr/>
        </p:nvSpPr>
        <p:spPr>
          <a:xfrm>
            <a:off x="4001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map에서 충전소 확인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3830213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충전소 pin </a:t>
            </a:r>
            <a:r>
              <a:rPr b="1" lang="ko" sz="1700">
                <a:solidFill>
                  <a:schemeClr val="dk1"/>
                </a:solidFill>
              </a:rPr>
              <a:t>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1407150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05</a:t>
            </a:r>
            <a:r>
              <a:rPr b="1" lang="ko" sz="1700">
                <a:solidFill>
                  <a:schemeClr val="dk1"/>
                </a:solidFill>
              </a:rPr>
              <a:t>: 충전소 </a:t>
            </a:r>
            <a:r>
              <a:rPr b="1" lang="ko" sz="1700">
                <a:solidFill>
                  <a:schemeClr val="dk1"/>
                </a:solidFill>
              </a:rPr>
              <a:t>요금 확인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7260263" y="216220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03 </a:t>
            </a:r>
            <a:r>
              <a:rPr b="1" lang="ko" sz="1700">
                <a:solidFill>
                  <a:schemeClr val="dk1"/>
                </a:solidFill>
              </a:rPr>
              <a:t>커넥터 QR scan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10657738" y="216220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04: </a:t>
            </a:r>
            <a:r>
              <a:rPr b="1" lang="ko" sz="1700">
                <a:solidFill>
                  <a:schemeClr val="dk1"/>
                </a:solidFill>
              </a:rPr>
              <a:t>커넥터 QR scan 인식 완료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17485238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06: </a:t>
            </a:r>
            <a:r>
              <a:rPr b="1" lang="ko" sz="1700">
                <a:solidFill>
                  <a:schemeClr val="dk1"/>
                </a:solidFill>
              </a:rPr>
              <a:t>사용자 인증 요청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089900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07: 사용자 인증 </a:t>
            </a:r>
            <a:r>
              <a:rPr b="1" lang="ko" sz="1700">
                <a:solidFill>
                  <a:schemeClr val="dk1"/>
                </a:solidFill>
              </a:rPr>
              <a:t>완료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139" name="Google Shape;139;p21"/>
          <p:cNvCxnSpPr>
            <a:stCxn id="129" idx="3"/>
            <a:endCxn id="125" idx="1"/>
          </p:cNvCxnSpPr>
          <p:nvPr/>
        </p:nvCxnSpPr>
        <p:spPr>
          <a:xfrm>
            <a:off x="3438094" y="5931440"/>
            <a:ext cx="3990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1"/>
          <p:cNvCxnSpPr>
            <a:stCxn id="125" idx="3"/>
            <a:endCxn id="128" idx="1"/>
          </p:cNvCxnSpPr>
          <p:nvPr/>
        </p:nvCxnSpPr>
        <p:spPr>
          <a:xfrm>
            <a:off x="6861176" y="5931440"/>
            <a:ext cx="3990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1"/>
          <p:cNvCxnSpPr>
            <a:stCxn id="128" idx="3"/>
            <a:endCxn id="127" idx="1"/>
          </p:cNvCxnSpPr>
          <p:nvPr/>
        </p:nvCxnSpPr>
        <p:spPr>
          <a:xfrm>
            <a:off x="10284260" y="5931440"/>
            <a:ext cx="3651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1"/>
          <p:cNvCxnSpPr>
            <a:stCxn id="127" idx="3"/>
            <a:endCxn id="126" idx="1"/>
          </p:cNvCxnSpPr>
          <p:nvPr/>
        </p:nvCxnSpPr>
        <p:spPr>
          <a:xfrm>
            <a:off x="13673498" y="5931440"/>
            <a:ext cx="412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1"/>
          <p:cNvCxnSpPr>
            <a:stCxn id="126" idx="3"/>
            <a:endCxn id="131" idx="1"/>
          </p:cNvCxnSpPr>
          <p:nvPr/>
        </p:nvCxnSpPr>
        <p:spPr>
          <a:xfrm>
            <a:off x="17109595" y="5931440"/>
            <a:ext cx="3756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1"/>
          <p:cNvCxnSpPr>
            <a:stCxn id="131" idx="3"/>
            <a:endCxn id="130" idx="1"/>
          </p:cNvCxnSpPr>
          <p:nvPr/>
        </p:nvCxnSpPr>
        <p:spPr>
          <a:xfrm flipH="1" rot="10800000">
            <a:off x="20509239" y="5904440"/>
            <a:ext cx="375600" cy="270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145" name="Google Shape;145;p21"/>
          <p:cNvPicPr preferRelativeResize="0"/>
          <p:nvPr/>
        </p:nvPicPr>
        <p:blipFill rotWithShape="1">
          <a:blip r:embed="rId10">
            <a:alphaModFix/>
          </a:blip>
          <a:srcRect b="13557" l="29402" r="28994" t="15577"/>
          <a:stretch/>
        </p:blipFill>
        <p:spPr>
          <a:xfrm>
            <a:off x="1946852" y="535712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46" name="Google Shape;146;p21"/>
          <p:cNvPicPr preferRelativeResize="0"/>
          <p:nvPr/>
        </p:nvPicPr>
        <p:blipFill rotWithShape="1">
          <a:blip r:embed="rId10">
            <a:alphaModFix/>
          </a:blip>
          <a:srcRect b="13557" l="29402" r="28994" t="15577"/>
          <a:stretch/>
        </p:blipFill>
        <p:spPr>
          <a:xfrm>
            <a:off x="5795577" y="865452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47" name="Google Shape;147;p21"/>
          <p:cNvPicPr preferRelativeResize="0"/>
          <p:nvPr/>
        </p:nvPicPr>
        <p:blipFill rotWithShape="1">
          <a:blip r:embed="rId10">
            <a:alphaModFix/>
          </a:blip>
          <a:srcRect b="13557" l="29402" r="28994" t="15577"/>
          <a:stretch/>
        </p:blipFill>
        <p:spPr>
          <a:xfrm>
            <a:off x="16207502" y="843624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cxnSp>
        <p:nvCxnSpPr>
          <p:cNvPr id="148" name="Google Shape;148;p21"/>
          <p:cNvCxnSpPr/>
          <p:nvPr/>
        </p:nvCxnSpPr>
        <p:spPr>
          <a:xfrm>
            <a:off x="23908262" y="5950155"/>
            <a:ext cx="3981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 title="EV Charging App UI_Tatalpa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306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" name="Google Shape;154;p22" title="EV Charging App UI_charg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35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22" title="EV Charging App UI_charging_comple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3792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22" title="EV Charging App UI_processing_pa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8549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22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.1. 충전_flow_01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08: </a:t>
            </a:r>
            <a:r>
              <a:rPr b="1" lang="ko" sz="1700">
                <a:solidFill>
                  <a:schemeClr val="dk1"/>
                </a:solidFill>
              </a:rPr>
              <a:t>충전중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40275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09: </a:t>
            </a:r>
            <a:r>
              <a:rPr b="1" lang="ko" sz="1700">
                <a:solidFill>
                  <a:schemeClr val="dk1"/>
                </a:solidFill>
              </a:rPr>
              <a:t>충전완료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6060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10</a:t>
            </a:r>
            <a:r>
              <a:rPr b="1" lang="ko" sz="1700">
                <a:solidFill>
                  <a:schemeClr val="dk1"/>
                </a:solidFill>
              </a:rPr>
              <a:t>: </a:t>
            </a:r>
            <a:r>
              <a:rPr b="1" lang="ko" sz="1700">
                <a:solidFill>
                  <a:schemeClr val="dk1"/>
                </a:solidFill>
              </a:rPr>
              <a:t>충전요금 정산 진행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108996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11</a:t>
            </a:r>
            <a:r>
              <a:rPr b="1" lang="ko" sz="1700">
                <a:solidFill>
                  <a:schemeClr val="dk1"/>
                </a:solidFill>
              </a:rPr>
              <a:t>: </a:t>
            </a:r>
            <a:r>
              <a:rPr b="1" lang="ko" sz="1700">
                <a:solidFill>
                  <a:schemeClr val="dk1"/>
                </a:solidFill>
              </a:rPr>
              <a:t>정산 완료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62" name="Google Shape;162;p22" title="EV Charging App UI_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28063" y="2672362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p22"/>
          <p:cNvSpPr txBox="1"/>
          <p:nvPr/>
        </p:nvSpPr>
        <p:spPr>
          <a:xfrm>
            <a:off x="141932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12: map</a:t>
            </a:r>
            <a:r>
              <a:rPr b="1" lang="ko" sz="1700">
                <a:solidFill>
                  <a:schemeClr val="dk1"/>
                </a:solidFill>
              </a:rPr>
              <a:t>으로 이동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164" name="Google Shape;164;p22"/>
          <p:cNvCxnSpPr>
            <a:stCxn id="154" idx="3"/>
            <a:endCxn id="155" idx="1"/>
          </p:cNvCxnSpPr>
          <p:nvPr/>
        </p:nvCxnSpPr>
        <p:spPr>
          <a:xfrm>
            <a:off x="347303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2"/>
          <p:cNvCxnSpPr>
            <a:stCxn id="155" idx="3"/>
            <a:endCxn id="156" idx="1"/>
          </p:cNvCxnSpPr>
          <p:nvPr/>
        </p:nvCxnSpPr>
        <p:spPr>
          <a:xfrm>
            <a:off x="6917792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2"/>
          <p:cNvCxnSpPr>
            <a:stCxn id="156" idx="3"/>
            <a:endCxn id="153" idx="1"/>
          </p:cNvCxnSpPr>
          <p:nvPr/>
        </p:nvCxnSpPr>
        <p:spPr>
          <a:xfrm>
            <a:off x="10362549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2"/>
          <p:cNvCxnSpPr>
            <a:stCxn id="153" idx="3"/>
            <a:endCxn id="162" idx="1"/>
          </p:cNvCxnSpPr>
          <p:nvPr/>
        </p:nvCxnSpPr>
        <p:spPr>
          <a:xfrm>
            <a:off x="1380730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168" name="Google Shape;168;p22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10783302" y="284414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69" name="Google Shape;169;p22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553652" y="85399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sp>
        <p:nvSpPr>
          <p:cNvPr id="170" name="Google Shape;170;p22"/>
          <p:cNvSpPr txBox="1"/>
          <p:nvPr/>
        </p:nvSpPr>
        <p:spPr>
          <a:xfrm>
            <a:off x="483825" y="9968400"/>
            <a:ext cx="2954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충전 종료 조건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사용자 수동 중단</a:t>
            </a:r>
            <a:r>
              <a:rPr lang="ko" sz="1700">
                <a:solidFill>
                  <a:schemeClr val="dk1"/>
                </a:solidFill>
              </a:rPr>
              <a:t>: 사용자가 앱 내 '충전 중지' 버튼을 눌러 임의로 종료한 경우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시스템 자동 완료</a:t>
            </a:r>
            <a:r>
              <a:rPr lang="ko" sz="1700">
                <a:solidFill>
                  <a:schemeClr val="dk1"/>
                </a:solidFill>
              </a:rPr>
              <a:t>: 배터리가 100%에 도달하여 시스템이 안전하게 종료한 경우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.2. 충전_flow_02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176" name="Google Shape;176;p23" title="EV Charging App UI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13" y="2678405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23" title="EV Charging App UI_mun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892" y="2651905"/>
            <a:ext cx="3024000" cy="6596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3"/>
          <p:cNvSpPr txBox="1"/>
          <p:nvPr/>
        </p:nvSpPr>
        <p:spPr>
          <a:xfrm>
            <a:off x="414713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map에서 menu 버튼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3825892" y="2138850"/>
            <a:ext cx="334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슬라이드에서 ‘히스토리’ 선택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80" name="Google Shape;180;p23" title="—Pngtree—hand click cursor icon_21566967.png"/>
          <p:cNvPicPr preferRelativeResize="0"/>
          <p:nvPr/>
        </p:nvPicPr>
        <p:blipFill rotWithShape="1">
          <a:blip r:embed="rId5">
            <a:alphaModFix/>
          </a:blip>
          <a:srcRect b="17875" l="28335" r="28772" t="16744"/>
          <a:stretch/>
        </p:blipFill>
        <p:spPr>
          <a:xfrm>
            <a:off x="8806500" y="4273288"/>
            <a:ext cx="661499" cy="1008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title="EV Charging App UI_qrscan_detecte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49487" y="2677162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2" name="Google Shape;182;p23" title="EV Charging App UI_qrscan_scannin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7689" y="2677162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23"/>
          <p:cNvSpPr txBox="1"/>
          <p:nvPr/>
        </p:nvSpPr>
        <p:spPr>
          <a:xfrm>
            <a:off x="7237689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03: 커넥터 QR scan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10649487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04: 커넥터 QR scan 인식 완료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85" name="Google Shape;185;p23" title="EV Charging App UI_payment_selecti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061285" y="2669945"/>
            <a:ext cx="3024000" cy="656041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23"/>
          <p:cNvSpPr txBox="1"/>
          <p:nvPr/>
        </p:nvSpPr>
        <p:spPr>
          <a:xfrm>
            <a:off x="1406128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05: 충전소 요금 확인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87" name="Google Shape;187;p23" title="EV Charging App UI_aoorove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884880" y="2678405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3" title="EV Charging App UI_requesting_aooroval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473083" y="2677162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3"/>
          <p:cNvSpPr txBox="1"/>
          <p:nvPr/>
        </p:nvSpPr>
        <p:spPr>
          <a:xfrm>
            <a:off x="17473083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06: 사용자 인증 요청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088488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07: 사용자 인증 완료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191" name="Google Shape;191;p23"/>
          <p:cNvCxnSpPr>
            <a:stCxn id="176" idx="3"/>
            <a:endCxn id="177" idx="1"/>
          </p:cNvCxnSpPr>
          <p:nvPr/>
        </p:nvCxnSpPr>
        <p:spPr>
          <a:xfrm>
            <a:off x="3438094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3"/>
          <p:cNvCxnSpPr>
            <a:stCxn id="177" idx="3"/>
            <a:endCxn id="182" idx="1"/>
          </p:cNvCxnSpPr>
          <p:nvPr/>
        </p:nvCxnSpPr>
        <p:spPr>
          <a:xfrm>
            <a:off x="6849892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3"/>
          <p:cNvCxnSpPr>
            <a:stCxn id="182" idx="3"/>
            <a:endCxn id="181" idx="1"/>
          </p:cNvCxnSpPr>
          <p:nvPr/>
        </p:nvCxnSpPr>
        <p:spPr>
          <a:xfrm>
            <a:off x="10261690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3"/>
          <p:cNvCxnSpPr>
            <a:stCxn id="181" idx="3"/>
            <a:endCxn id="185" idx="1"/>
          </p:cNvCxnSpPr>
          <p:nvPr/>
        </p:nvCxnSpPr>
        <p:spPr>
          <a:xfrm>
            <a:off x="13673487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3"/>
          <p:cNvCxnSpPr>
            <a:stCxn id="185" idx="3"/>
            <a:endCxn id="188" idx="1"/>
          </p:cNvCxnSpPr>
          <p:nvPr/>
        </p:nvCxnSpPr>
        <p:spPr>
          <a:xfrm>
            <a:off x="17085285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3"/>
          <p:cNvCxnSpPr>
            <a:stCxn id="188" idx="3"/>
            <a:endCxn id="187" idx="1"/>
          </p:cNvCxnSpPr>
          <p:nvPr/>
        </p:nvCxnSpPr>
        <p:spPr>
          <a:xfrm>
            <a:off x="20497083" y="5950155"/>
            <a:ext cx="387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197" name="Google Shape;197;p23"/>
          <p:cNvPicPr preferRelativeResize="0"/>
          <p:nvPr/>
        </p:nvPicPr>
        <p:blipFill rotWithShape="1">
          <a:blip r:embed="rId11">
            <a:alphaModFix/>
          </a:blip>
          <a:srcRect b="13557" l="29402" r="28994" t="15577"/>
          <a:stretch/>
        </p:blipFill>
        <p:spPr>
          <a:xfrm>
            <a:off x="2774552" y="28211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98" name="Google Shape;198;p23"/>
          <p:cNvPicPr preferRelativeResize="0"/>
          <p:nvPr/>
        </p:nvPicPr>
        <p:blipFill rotWithShape="1">
          <a:blip r:embed="rId11">
            <a:alphaModFix/>
          </a:blip>
          <a:srcRect b="13557" l="29402" r="28994" t="15577"/>
          <a:stretch/>
        </p:blipFill>
        <p:spPr>
          <a:xfrm>
            <a:off x="4951940" y="41200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199" name="Google Shape;199;p23"/>
          <p:cNvPicPr preferRelativeResize="0"/>
          <p:nvPr/>
        </p:nvPicPr>
        <p:blipFill rotWithShape="1">
          <a:blip r:embed="rId11">
            <a:alphaModFix/>
          </a:blip>
          <a:srcRect b="13557" l="29402" r="28994" t="15577"/>
          <a:stretch/>
        </p:blipFill>
        <p:spPr>
          <a:xfrm>
            <a:off x="16127802" y="8523217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cxnSp>
        <p:nvCxnSpPr>
          <p:cNvPr id="200" name="Google Shape;200;p23"/>
          <p:cNvCxnSpPr>
            <a:stCxn id="187" idx="3"/>
          </p:cNvCxnSpPr>
          <p:nvPr/>
        </p:nvCxnSpPr>
        <p:spPr>
          <a:xfrm>
            <a:off x="23908262" y="5950155"/>
            <a:ext cx="3981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4" title="EV Charging App UI_Tatalpa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306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6" name="Google Shape;206;p24" title="EV Charging App UI_charg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35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7" name="Google Shape;207;p24" title="EV Charging App UI_charging_comple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3792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8" name="Google Shape;208;p24" title="EV Charging App UI_processing_pa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8549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24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.2. 충전_flow_02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08: 충전중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40275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09: 충전완료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76060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10: 충전요금 정산 진행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108996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11: 정산 완료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14" name="Google Shape;214;p24" title="EV Charging App UI_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28063" y="2672362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24"/>
          <p:cNvSpPr txBox="1"/>
          <p:nvPr/>
        </p:nvSpPr>
        <p:spPr>
          <a:xfrm>
            <a:off x="141932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12: map으로 이동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216" name="Google Shape;216;p24"/>
          <p:cNvCxnSpPr>
            <a:stCxn id="206" idx="3"/>
            <a:endCxn id="207" idx="1"/>
          </p:cNvCxnSpPr>
          <p:nvPr/>
        </p:nvCxnSpPr>
        <p:spPr>
          <a:xfrm>
            <a:off x="347303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4"/>
          <p:cNvCxnSpPr>
            <a:stCxn id="207" idx="3"/>
            <a:endCxn id="208" idx="1"/>
          </p:cNvCxnSpPr>
          <p:nvPr/>
        </p:nvCxnSpPr>
        <p:spPr>
          <a:xfrm>
            <a:off x="6917792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4"/>
          <p:cNvCxnSpPr>
            <a:stCxn id="208" idx="3"/>
            <a:endCxn id="205" idx="1"/>
          </p:cNvCxnSpPr>
          <p:nvPr/>
        </p:nvCxnSpPr>
        <p:spPr>
          <a:xfrm>
            <a:off x="10362549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4"/>
          <p:cNvCxnSpPr>
            <a:stCxn id="205" idx="3"/>
            <a:endCxn id="214" idx="1"/>
          </p:cNvCxnSpPr>
          <p:nvPr/>
        </p:nvCxnSpPr>
        <p:spPr>
          <a:xfrm>
            <a:off x="1380730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220" name="Google Shape;220;p24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553652" y="85399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221" name="Google Shape;221;p24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10783302" y="284414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cxnSp>
        <p:nvCxnSpPr>
          <p:cNvPr id="222" name="Google Shape;222;p24"/>
          <p:cNvCxnSpPr>
            <a:endCxn id="206" idx="1"/>
          </p:cNvCxnSpPr>
          <p:nvPr/>
        </p:nvCxnSpPr>
        <p:spPr>
          <a:xfrm>
            <a:off x="-3365" y="5944112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4"/>
          <p:cNvSpPr txBox="1"/>
          <p:nvPr/>
        </p:nvSpPr>
        <p:spPr>
          <a:xfrm>
            <a:off x="483825" y="9968400"/>
            <a:ext cx="2954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충전 종료 조건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사용자 수동 중단</a:t>
            </a:r>
            <a:r>
              <a:rPr lang="ko" sz="1700">
                <a:solidFill>
                  <a:schemeClr val="dk1"/>
                </a:solidFill>
              </a:rPr>
              <a:t>: 사용자가 앱 내 '충전 중지' 버튼을 눌러 임의로 종료한 경우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시스템 자동 완료</a:t>
            </a:r>
            <a:r>
              <a:rPr lang="ko" sz="1700">
                <a:solidFill>
                  <a:schemeClr val="dk1"/>
                </a:solidFill>
              </a:rPr>
              <a:t>: 배터리가 100%에 도달하여 시스템이 안전하게 종료한 경우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.3. 충전_flow_03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229" name="Google Shape;229;p25" title="EV Charging App UI_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13" y="2651903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0" name="Google Shape;230;p25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map에서 menu 버튼 선택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31" name="Google Shape;231;p25" title="—Pngtree—hand click cursor icon_21566967.png"/>
          <p:cNvPicPr preferRelativeResize="0"/>
          <p:nvPr/>
        </p:nvPicPr>
        <p:blipFill rotWithShape="1">
          <a:blip r:embed="rId4">
            <a:alphaModFix/>
          </a:blip>
          <a:srcRect b="17875" l="28335" r="28772" t="16744"/>
          <a:stretch/>
        </p:blipFill>
        <p:spPr>
          <a:xfrm>
            <a:off x="8806500" y="4273288"/>
            <a:ext cx="661499" cy="1008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 title="EV Charging App UI_qrscan_detect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969" y="2650659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3" name="Google Shape;233;p25" title="EV Charging App UI_qrscan_scannin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25031" y="2650659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4" name="Google Shape;234;p25"/>
          <p:cNvSpPr txBox="1"/>
          <p:nvPr/>
        </p:nvSpPr>
        <p:spPr>
          <a:xfrm>
            <a:off x="38918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커넥터 QR scan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35" name="Google Shape;235;p25"/>
          <p:cNvSpPr txBox="1"/>
          <p:nvPr/>
        </p:nvSpPr>
        <p:spPr>
          <a:xfrm>
            <a:off x="73735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03: 커넥터 QR scan 인식 완료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36" name="Google Shape;236;p25" title="EV Charging App UI_payment_selecti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46906" y="2643443"/>
            <a:ext cx="3024000" cy="656041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7" name="Google Shape;237;p25"/>
          <p:cNvSpPr txBox="1"/>
          <p:nvPr/>
        </p:nvSpPr>
        <p:spPr>
          <a:xfrm>
            <a:off x="1082050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04: 충전소 요금 확인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38" name="Google Shape;238;p25" title="EV Charging App UI_aooroved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468780" y="2651903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5" title="EV Charging App UI_requesting_aoorov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057843" y="2650659"/>
            <a:ext cx="3024000" cy="6545986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0" name="Google Shape;240;p25"/>
          <p:cNvSpPr txBox="1"/>
          <p:nvPr/>
        </p:nvSpPr>
        <p:spPr>
          <a:xfrm>
            <a:off x="141403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05: 사용자 인증 요청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175035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06: 사용자 인증 완료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242" name="Google Shape;242;p25"/>
          <p:cNvCxnSpPr/>
          <p:nvPr/>
        </p:nvCxnSpPr>
        <p:spPr>
          <a:xfrm>
            <a:off x="3438094" y="5931440"/>
            <a:ext cx="3990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25"/>
          <p:cNvCxnSpPr/>
          <p:nvPr/>
        </p:nvCxnSpPr>
        <p:spPr>
          <a:xfrm>
            <a:off x="6861176" y="5931440"/>
            <a:ext cx="3990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25"/>
          <p:cNvCxnSpPr/>
          <p:nvPr/>
        </p:nvCxnSpPr>
        <p:spPr>
          <a:xfrm>
            <a:off x="10284260" y="5931440"/>
            <a:ext cx="3651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5"/>
          <p:cNvCxnSpPr/>
          <p:nvPr/>
        </p:nvCxnSpPr>
        <p:spPr>
          <a:xfrm>
            <a:off x="13673498" y="5931440"/>
            <a:ext cx="4122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5"/>
          <p:cNvCxnSpPr/>
          <p:nvPr/>
        </p:nvCxnSpPr>
        <p:spPr>
          <a:xfrm>
            <a:off x="17109595" y="5931440"/>
            <a:ext cx="3756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25"/>
          <p:cNvCxnSpPr/>
          <p:nvPr/>
        </p:nvCxnSpPr>
        <p:spPr>
          <a:xfrm flipH="1" rot="10800000">
            <a:off x="20509239" y="5904440"/>
            <a:ext cx="375600" cy="270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248" name="Google Shape;248;p25"/>
          <p:cNvPicPr preferRelativeResize="0"/>
          <p:nvPr/>
        </p:nvPicPr>
        <p:blipFill rotWithShape="1">
          <a:blip r:embed="rId10">
            <a:alphaModFix/>
          </a:blip>
          <a:srcRect b="13557" l="29402" r="28994" t="15577"/>
          <a:stretch/>
        </p:blipFill>
        <p:spPr>
          <a:xfrm>
            <a:off x="2782302" y="859089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249" name="Google Shape;249;p25"/>
          <p:cNvPicPr preferRelativeResize="0"/>
          <p:nvPr/>
        </p:nvPicPr>
        <p:blipFill rotWithShape="1">
          <a:blip r:embed="rId10">
            <a:alphaModFix/>
          </a:blip>
          <a:srcRect b="13557" l="29402" r="28994" t="15577"/>
          <a:stretch/>
        </p:blipFill>
        <p:spPr>
          <a:xfrm>
            <a:off x="12689627" y="859089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title="EV Charging App UI_Tatalpay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3306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p26" title="EV Charging App UI_charg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35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6" name="Google Shape;256;p26" title="EV Charging App UI_charging_comple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3792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7" name="Google Shape;257;p26" title="EV Charging App UI_processing_pa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8549" y="2668596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8" name="Google Shape;258;p26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4</a:t>
            </a:r>
            <a:r>
              <a:rPr b="1" lang="ko" sz="4800">
                <a:solidFill>
                  <a:schemeClr val="dk1"/>
                </a:solidFill>
              </a:rPr>
              <a:t>.3. 충전_flow_03</a:t>
            </a:r>
            <a:endParaRPr b="1" sz="4800">
              <a:solidFill>
                <a:schemeClr val="dk1"/>
              </a:solidFill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07: 충전중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40275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08: 충전완료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76060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09</a:t>
            </a:r>
            <a:r>
              <a:rPr b="1" lang="ko" sz="1700">
                <a:solidFill>
                  <a:schemeClr val="dk1"/>
                </a:solidFill>
              </a:rPr>
              <a:t>: 충전요금 정산 진행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108996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10: 정산 완료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263" name="Google Shape;263;p26" title="EV Charging App UI_map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28063" y="2672362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4" name="Google Shape;264;p26"/>
          <p:cNvSpPr txBox="1"/>
          <p:nvPr/>
        </p:nvSpPr>
        <p:spPr>
          <a:xfrm>
            <a:off x="1419327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11: map으로 이동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265" name="Google Shape;265;p26"/>
          <p:cNvCxnSpPr>
            <a:stCxn id="257" idx="3"/>
            <a:endCxn id="254" idx="1"/>
          </p:cNvCxnSpPr>
          <p:nvPr/>
        </p:nvCxnSpPr>
        <p:spPr>
          <a:xfrm>
            <a:off x="10362549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6"/>
          <p:cNvCxnSpPr>
            <a:stCxn id="254" idx="3"/>
            <a:endCxn id="263" idx="1"/>
          </p:cNvCxnSpPr>
          <p:nvPr/>
        </p:nvCxnSpPr>
        <p:spPr>
          <a:xfrm>
            <a:off x="1380730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6"/>
          <p:cNvCxnSpPr>
            <a:stCxn id="256" idx="3"/>
            <a:endCxn id="257" idx="1"/>
          </p:cNvCxnSpPr>
          <p:nvPr/>
        </p:nvCxnSpPr>
        <p:spPr>
          <a:xfrm>
            <a:off x="6917792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6"/>
          <p:cNvCxnSpPr>
            <a:stCxn id="255" idx="3"/>
            <a:endCxn id="256" idx="1"/>
          </p:cNvCxnSpPr>
          <p:nvPr/>
        </p:nvCxnSpPr>
        <p:spPr>
          <a:xfrm>
            <a:off x="3473036" y="5944112"/>
            <a:ext cx="4209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6"/>
          <p:cNvCxnSpPr/>
          <p:nvPr/>
        </p:nvCxnSpPr>
        <p:spPr>
          <a:xfrm>
            <a:off x="-3300" y="5944100"/>
            <a:ext cx="4524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270" name="Google Shape;270;p26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553652" y="85399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271" name="Google Shape;271;p26"/>
          <p:cNvPicPr preferRelativeResize="0"/>
          <p:nvPr/>
        </p:nvPicPr>
        <p:blipFill rotWithShape="1">
          <a:blip r:embed="rId8">
            <a:alphaModFix/>
          </a:blip>
          <a:srcRect b="13557" l="29402" r="28994" t="15577"/>
          <a:stretch/>
        </p:blipFill>
        <p:spPr>
          <a:xfrm>
            <a:off x="10783302" y="2844141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sp>
        <p:nvSpPr>
          <p:cNvPr id="272" name="Google Shape;272;p26"/>
          <p:cNvSpPr txBox="1"/>
          <p:nvPr/>
        </p:nvSpPr>
        <p:spPr>
          <a:xfrm>
            <a:off x="483825" y="9968400"/>
            <a:ext cx="2954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충전 종료 조건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사용자 수동 중단</a:t>
            </a:r>
            <a:r>
              <a:rPr lang="ko" sz="1700">
                <a:solidFill>
                  <a:schemeClr val="dk1"/>
                </a:solidFill>
              </a:rPr>
              <a:t>: 사용자가 앱 내 '충전 중지' 버튼을 눌러 임의로 종료한 경우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b="1" lang="ko" sz="1700">
                <a:solidFill>
                  <a:schemeClr val="dk1"/>
                </a:solidFill>
              </a:rPr>
              <a:t>시스템 자동 완료</a:t>
            </a:r>
            <a:r>
              <a:rPr lang="ko" sz="1700">
                <a:solidFill>
                  <a:schemeClr val="dk1"/>
                </a:solidFill>
              </a:rPr>
              <a:t>: 배터리가 100%에 도달하여 시스템이 안전하게 종료한 경우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831200" y="5735600"/>
            <a:ext cx="22721700" cy="2244900"/>
          </a:xfrm>
          <a:prstGeom prst="rect">
            <a:avLst/>
          </a:prstGeom>
        </p:spPr>
        <p:txBody>
          <a:bodyPr anchorCtr="0" anchor="ctr" bIns="243800" lIns="243800" spcFirstLastPara="1" rIns="243800" wrap="square" tIns="2438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5</a:t>
            </a:r>
            <a:r>
              <a:rPr b="1" lang="ko"/>
              <a:t>. 충전 </a:t>
            </a:r>
            <a:r>
              <a:rPr b="1" lang="ko"/>
              <a:t>내역 확인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/>
        </p:nvSpPr>
        <p:spPr>
          <a:xfrm>
            <a:off x="414733" y="468933"/>
            <a:ext cx="123447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800">
                <a:solidFill>
                  <a:schemeClr val="dk1"/>
                </a:solidFill>
              </a:rPr>
              <a:t>5</a:t>
            </a:r>
            <a:r>
              <a:rPr b="1" lang="ko" sz="4800">
                <a:solidFill>
                  <a:schemeClr val="dk1"/>
                </a:solidFill>
              </a:rPr>
              <a:t>. </a:t>
            </a:r>
            <a:r>
              <a:rPr b="1" lang="ko" sz="4800">
                <a:solidFill>
                  <a:schemeClr val="dk1"/>
                </a:solidFill>
              </a:rPr>
              <a:t>충전 내역 확인</a:t>
            </a:r>
            <a:endParaRPr b="1" sz="4800">
              <a:solidFill>
                <a:schemeClr val="dk1"/>
              </a:solidFill>
            </a:endParaRPr>
          </a:p>
        </p:txBody>
      </p:sp>
      <p:pic>
        <p:nvPicPr>
          <p:cNvPr id="283" name="Google Shape;283;p28" title="EV Charging App UI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480" y="2695630"/>
            <a:ext cx="3024000" cy="65461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4" name="Google Shape;284;p28" title="EV Charging App UI_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713" y="2696980"/>
            <a:ext cx="3023382" cy="6543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5" name="Google Shape;285;p28" title="EV Charging App UI_munu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9287" y="2670480"/>
            <a:ext cx="3024000" cy="6596499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6" name="Google Shape;286;p28" title="EV Charging App UI_Tatalpaym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899673" y="2693214"/>
            <a:ext cx="3024000" cy="6551031"/>
          </a:xfrm>
          <a:prstGeom prst="rect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7" name="Google Shape;287;p28"/>
          <p:cNvSpPr txBox="1"/>
          <p:nvPr/>
        </p:nvSpPr>
        <p:spPr>
          <a:xfrm>
            <a:off x="483825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01: map</a:t>
            </a:r>
            <a:r>
              <a:rPr b="1" lang="ko" sz="1700">
                <a:solidFill>
                  <a:schemeClr val="dk1"/>
                </a:solidFill>
              </a:rPr>
              <a:t>에서 menu 버튼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3939650" y="2138850"/>
            <a:ext cx="334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02: </a:t>
            </a:r>
            <a:r>
              <a:rPr b="1" lang="ko" sz="1700">
                <a:solidFill>
                  <a:schemeClr val="dk1"/>
                </a:solidFill>
              </a:rPr>
              <a:t>슬라이드에서 ‘히스토리’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7465200" y="2138850"/>
            <a:ext cx="3344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03: </a:t>
            </a:r>
            <a:r>
              <a:rPr b="1" lang="ko" sz="1700">
                <a:solidFill>
                  <a:schemeClr val="dk1"/>
                </a:solidFill>
              </a:rPr>
              <a:t>내역 목록에서 특정 내역 선택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10902850" y="2138850"/>
            <a:ext cx="295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</a:rPr>
              <a:t>04: </a:t>
            </a:r>
            <a:r>
              <a:rPr b="1" lang="ko" sz="1700">
                <a:solidFill>
                  <a:schemeClr val="dk1"/>
                </a:solidFill>
              </a:rPr>
              <a:t>해당 내역의 상세 내용 확인</a:t>
            </a:r>
            <a:endParaRPr b="1" sz="1700">
              <a:solidFill>
                <a:schemeClr val="dk1"/>
              </a:solidFill>
            </a:endParaRPr>
          </a:p>
        </p:txBody>
      </p:sp>
      <p:cxnSp>
        <p:nvCxnSpPr>
          <p:cNvPr id="291" name="Google Shape;291;p28"/>
          <p:cNvCxnSpPr>
            <a:stCxn id="284" idx="3"/>
            <a:endCxn id="285" idx="1"/>
          </p:cNvCxnSpPr>
          <p:nvPr/>
        </p:nvCxnSpPr>
        <p:spPr>
          <a:xfrm>
            <a:off x="3438094" y="5968730"/>
            <a:ext cx="4713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28"/>
          <p:cNvCxnSpPr>
            <a:stCxn id="285" idx="3"/>
            <a:endCxn id="283" idx="1"/>
          </p:cNvCxnSpPr>
          <p:nvPr/>
        </p:nvCxnSpPr>
        <p:spPr>
          <a:xfrm>
            <a:off x="6933287" y="5968730"/>
            <a:ext cx="4713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28"/>
          <p:cNvCxnSpPr>
            <a:stCxn id="283" idx="3"/>
            <a:endCxn id="286" idx="1"/>
          </p:cNvCxnSpPr>
          <p:nvPr/>
        </p:nvCxnSpPr>
        <p:spPr>
          <a:xfrm>
            <a:off x="10428480" y="5968730"/>
            <a:ext cx="471300" cy="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동양인의 피부색으로 색상을 변경." id="294" name="Google Shape;294;p28"/>
          <p:cNvPicPr preferRelativeResize="0"/>
          <p:nvPr/>
        </p:nvPicPr>
        <p:blipFill rotWithShape="1">
          <a:blip r:embed="rId7">
            <a:alphaModFix/>
          </a:blip>
          <a:srcRect b="13557" l="29402" r="28994" t="15577"/>
          <a:stretch/>
        </p:blipFill>
        <p:spPr>
          <a:xfrm>
            <a:off x="2774552" y="2821142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295" name="Google Shape;295;p28"/>
          <p:cNvPicPr preferRelativeResize="0"/>
          <p:nvPr/>
        </p:nvPicPr>
        <p:blipFill rotWithShape="1">
          <a:blip r:embed="rId7">
            <a:alphaModFix/>
          </a:blip>
          <a:srcRect b="13557" l="29402" r="28994" t="15577"/>
          <a:stretch/>
        </p:blipFill>
        <p:spPr>
          <a:xfrm>
            <a:off x="4951940" y="4626058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  <p:pic>
        <p:nvPicPr>
          <p:cNvPr descr="동양인의 피부색으로 색상을 변경." id="296" name="Google Shape;296;p28"/>
          <p:cNvPicPr preferRelativeResize="0"/>
          <p:nvPr/>
        </p:nvPicPr>
        <p:blipFill rotWithShape="1">
          <a:blip r:embed="rId7">
            <a:alphaModFix/>
          </a:blip>
          <a:srcRect b="13557" l="29402" r="28994" t="15577"/>
          <a:stretch/>
        </p:blipFill>
        <p:spPr>
          <a:xfrm>
            <a:off x="8751302" y="3962783"/>
            <a:ext cx="771910" cy="1314825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143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